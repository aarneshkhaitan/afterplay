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117eeee7f0394fcc" /><Relationship Type="http://schemas.openxmlformats.org/officeDocument/2006/relationships/extended-properties" Target="/docProps/app.xml" Id="R4d2963885a8d4751" /><Relationship Type="http://schemas.openxmlformats.org/officeDocument/2006/relationships/officeDocument" Target="/ppt/presentation.xml" Id="Rc0418c9207b2416a" /></Relationships>
</file>

<file path=ppt/presentation.xml><?xml version="1.0" encoding="utf-8"?>
<p:presentation xmlns:p="http://schemas.openxmlformats.org/presentationml/2006/main">
  <p:sldMasterIdLst>
    <p:sldMasterId xmlns:r="http://schemas.openxmlformats.org/officeDocument/2006/relationships" id="2147483648" r:id="R2e0376b9b1d84be4"/>
  </p:sldMasterIdLst>
  <p:notesMasterIdLst>
    <p:notesMasterId xmlns:r="http://schemas.openxmlformats.org/officeDocument/2006/relationships" r:id="R7d58a25de23d4c43"/>
  </p:notesMasterIdLst>
  <p:sldIdLst>
    <p:sldId xmlns:r="http://schemas.openxmlformats.org/officeDocument/2006/relationships" id="256" r:id="R7c5920904fac48c0"/>
    <p:sldId xmlns:r="http://schemas.openxmlformats.org/officeDocument/2006/relationships" id="257" r:id="R4a06f6743b254b77"/>
    <p:sldId xmlns:r="http://schemas.openxmlformats.org/officeDocument/2006/relationships" id="258" r:id="Rd3d3280279884356"/>
    <p:sldId xmlns:r="http://schemas.openxmlformats.org/officeDocument/2006/relationships" id="259" r:id="R85936c5ef21e415f"/>
    <p:sldId xmlns:r="http://schemas.openxmlformats.org/officeDocument/2006/relationships" id="260" r:id="Rc8bd8e3b6cdc4334"/>
    <p:sldId xmlns:r="http://schemas.openxmlformats.org/officeDocument/2006/relationships" id="261" r:id="Rd227e0164344430a"/>
    <p:sldId xmlns:r="http://schemas.openxmlformats.org/officeDocument/2006/relationships" id="262" r:id="Ra74ceacb324240c8"/>
    <p:sldId xmlns:r="http://schemas.openxmlformats.org/officeDocument/2006/relationships" id="263" r:id="Rb05126dc3f64409a"/>
    <p:sldId xmlns:r="http://schemas.openxmlformats.org/officeDocument/2006/relationships" id="264" r:id="R196d2262757f4798"/>
    <p:sldId xmlns:r="http://schemas.openxmlformats.org/officeDocument/2006/relationships" id="265" r:id="Rf3b085c743534b68"/>
    <p:sldId xmlns:r="http://schemas.openxmlformats.org/officeDocument/2006/relationships" id="266" r:id="Ra5ec8ab046c0482c"/>
    <p:sldId xmlns:r="http://schemas.openxmlformats.org/officeDocument/2006/relationships" id="267" r:id="R627d98673b1d4097"/>
    <p:sldId xmlns:r="http://schemas.openxmlformats.org/officeDocument/2006/relationships" id="268" r:id="Ra14303470b35489f"/>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054acae324dc4d6d" /><Relationship Type="http://schemas.openxmlformats.org/officeDocument/2006/relationships/slideMaster" Target="/ppt/slideMasters/slideMaster1.xml" Id="R2e0376b9b1d84be4" /><Relationship Type="http://schemas.openxmlformats.org/officeDocument/2006/relationships/notesMaster" Target="/ppt/notesMasters/notesMaster1.xml" Id="R7d58a25de23d4c43" /><Relationship Type="http://schemas.openxmlformats.org/officeDocument/2006/relationships/presProps" Target="/ppt/presProps.xml" Id="R925dc733c2ec44d0" /><Relationship Type="http://schemas.openxmlformats.org/officeDocument/2006/relationships/tableStyles" Target="/ppt/tableStyles.xml" Id="Rc48dd3a30a904108" /><Relationship Type="http://schemas.openxmlformats.org/officeDocument/2006/relationships/slide" Target="/ppt/slides/slide1.xml" Id="R7c5920904fac48c0" /><Relationship Type="http://schemas.openxmlformats.org/officeDocument/2006/relationships/slide" Target="/ppt/slides/slide2.xml" Id="R4a06f6743b254b77" /><Relationship Type="http://schemas.openxmlformats.org/officeDocument/2006/relationships/slide" Target="/ppt/slides/slide3.xml" Id="Rd3d3280279884356" /><Relationship Type="http://schemas.openxmlformats.org/officeDocument/2006/relationships/slide" Target="/ppt/slides/slide4.xml" Id="R85936c5ef21e415f" /><Relationship Type="http://schemas.openxmlformats.org/officeDocument/2006/relationships/slide" Target="/ppt/slides/slide5.xml" Id="Rc8bd8e3b6cdc4334" /><Relationship Type="http://schemas.openxmlformats.org/officeDocument/2006/relationships/slide" Target="/ppt/slides/slide6.xml" Id="Rd227e0164344430a" /><Relationship Type="http://schemas.openxmlformats.org/officeDocument/2006/relationships/slide" Target="/ppt/slides/slide7.xml" Id="Ra74ceacb324240c8" /><Relationship Type="http://schemas.openxmlformats.org/officeDocument/2006/relationships/slide" Target="/ppt/slides/slide8.xml" Id="Rb05126dc3f64409a" /><Relationship Type="http://schemas.openxmlformats.org/officeDocument/2006/relationships/slide" Target="/ppt/slides/slide9.xml" Id="R196d2262757f4798" /><Relationship Type="http://schemas.openxmlformats.org/officeDocument/2006/relationships/slide" Target="/ppt/slides/slide10.xml" Id="Rf3b085c743534b68" /><Relationship Type="http://schemas.openxmlformats.org/officeDocument/2006/relationships/slide" Target="/ppt/slides/slide11.xml" Id="Ra5ec8ab046c0482c" /><Relationship Type="http://schemas.openxmlformats.org/officeDocument/2006/relationships/slide" Target="/ppt/slides/slide12.xml" Id="R627d98673b1d4097" /><Relationship Type="http://schemas.openxmlformats.org/officeDocument/2006/relationships/slide" Target="/ppt/slides/slide13.xml" Id="Ra14303470b35489f"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e5f5d0ae15434a48"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c882c5336d144594" /><Relationship Type="http://schemas.openxmlformats.org/officeDocument/2006/relationships/notesMaster" Target="/ppt/notesMasters/notesMaster1.xml" Id="R5838d1231c27453c" /></Relationships>
</file>

<file path=ppt/notesSlides/_rels/notesSlide2.xml.rels>&#65279;<?xml version="1.0" encoding="utf-8"?><Relationships xmlns="http://schemas.openxmlformats.org/package/2006/relationships"><Relationship Type="http://schemas.openxmlformats.org/officeDocument/2006/relationships/slide" Target="/ppt/slides/slide2.xml" Id="Ra2230124122a4aef" /><Relationship Type="http://schemas.openxmlformats.org/officeDocument/2006/relationships/notesMaster" Target="/ppt/notesMasters/notesMaster1.xml" Id="R833f59419dec40e0" /></Relationships>
</file>

<file path=ppt/notesSlides/_rels/notesSlide3.xml.rels>&#65279;<?xml version="1.0" encoding="utf-8"?><Relationships xmlns="http://schemas.openxmlformats.org/package/2006/relationships"><Relationship Type="http://schemas.openxmlformats.org/officeDocument/2006/relationships/slide" Target="/ppt/slides/slide3.xml" Id="R0a82884c8cb84a28" /><Relationship Type="http://schemas.openxmlformats.org/officeDocument/2006/relationships/notesMaster" Target="/ppt/notesMasters/notesMaster1.xml" Id="R7cf966f6079247ac" /></Relationships>
</file>

<file path=ppt/notesSlides/_rels/notesSlide4.xml.rels>&#65279;<?xml version="1.0" encoding="utf-8"?><Relationships xmlns="http://schemas.openxmlformats.org/package/2006/relationships"><Relationship Type="http://schemas.openxmlformats.org/officeDocument/2006/relationships/slide" Target="/ppt/slides/slide4.xml" Id="R38e7c1ccabe745d8" /><Relationship Type="http://schemas.openxmlformats.org/officeDocument/2006/relationships/notesMaster" Target="/ppt/notesMasters/notesMaster1.xml" Id="R51e371832e6d4d2c" /></Relationships>
</file>

<file path=ppt/notesSlides/_rels/notesSlide5.xml.rels>&#65279;<?xml version="1.0" encoding="utf-8"?><Relationships xmlns="http://schemas.openxmlformats.org/package/2006/relationships"><Relationship Type="http://schemas.openxmlformats.org/officeDocument/2006/relationships/slide" Target="/ppt/slides/slide5.xml" Id="Rc23903341f66452e" /><Relationship Type="http://schemas.openxmlformats.org/officeDocument/2006/relationships/notesMaster" Target="/ppt/notesMasters/notesMaster1.xml" Id="R45d156c0ad604ecb" /></Relationships>
</file>

<file path=ppt/notesSlides/_rels/notesSlide6.xml.rels>&#65279;<?xml version="1.0" encoding="utf-8"?><Relationships xmlns="http://schemas.openxmlformats.org/package/2006/relationships"><Relationship Type="http://schemas.openxmlformats.org/officeDocument/2006/relationships/slide" Target="/ppt/slides/slide6.xml" Id="Radc8fc4734134870" /><Relationship Type="http://schemas.openxmlformats.org/officeDocument/2006/relationships/notesMaster" Target="/ppt/notesMasters/notesMaster1.xml" Id="Ra88c719202c64093" /></Relationships>
</file>

<file path=ppt/notesSlides/_rels/notesSlide7.xml.rels>&#65279;<?xml version="1.0" encoding="utf-8"?><Relationships xmlns="http://schemas.openxmlformats.org/package/2006/relationships"><Relationship Type="http://schemas.openxmlformats.org/officeDocument/2006/relationships/slide" Target="/ppt/slides/slide7.xml" Id="R598a5bc0569b4bd4" /><Relationship Type="http://schemas.openxmlformats.org/officeDocument/2006/relationships/notesMaster" Target="/ppt/notesMasters/notesMaster1.xml" Id="R8b404d1a2c784020" /></Relationships>
</file>

<file path=ppt/notesSlides/_rels/notesSlide8.xml.rels>&#65279;<?xml version="1.0" encoding="utf-8"?><Relationships xmlns="http://schemas.openxmlformats.org/package/2006/relationships"><Relationship Type="http://schemas.openxmlformats.org/officeDocument/2006/relationships/slide" Target="/ppt/slides/slide8.xml" Id="R212a3f13ff184222" /><Relationship Type="http://schemas.openxmlformats.org/officeDocument/2006/relationships/notesMaster" Target="/ppt/notesMasters/notesMaster1.xml" Id="Rad51e06660d7418f" /></Relationships>
</file>

<file path=ppt/notesSlides/_rels/notesSlide9.xml.rels>&#65279;<?xml version="1.0" encoding="utf-8"?><Relationships xmlns="http://schemas.openxmlformats.org/package/2006/relationships"><Relationship Type="http://schemas.openxmlformats.org/officeDocument/2006/relationships/slide" Target="/ppt/slides/slide9.xml" Id="R878dceb90d44476a" /><Relationship Type="http://schemas.openxmlformats.org/officeDocument/2006/relationships/notesMaster" Target="/ppt/notesMasters/notesMaster1.xml" Id="R9d4cb05bef094d96"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f90a1ec574fe4596" /><Relationship Type="http://schemas.openxmlformats.org/officeDocument/2006/relationships/notesMaster" Target="/ppt/notesMasters/notesMaster1.xml" Id="Ra8b3708f43b049ab"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32fe9b682f4948e8" /><Relationship Type="http://schemas.openxmlformats.org/officeDocument/2006/relationships/notesMaster" Target="/ppt/notesMasters/notesMaster1.xml" Id="Rf47c9a24faf54a06"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d4c5ff159fb54719" /><Relationship Type="http://schemas.openxmlformats.org/officeDocument/2006/relationships/notesMaster" Target="/ppt/notesMasters/notesMaster1.xml" Id="Rae810f3fa93b4fa4"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918d5655fd124b11" /><Relationship Type="http://schemas.openxmlformats.org/officeDocument/2006/relationships/notesMaster" Target="/ppt/notesMasters/notesMaster1.xml" Id="Rfc066e0cc66e4fb6"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Afterplay helps gaming creators learn what makes viewers come back. It keeps a record of the channel, plans one clear test at a time, and uses the result to choose what happens next.</a:t>
            </a:r>
          </a:p>
          <a:p xmlns:a="http://schemas.openxmlformats.org/drawingml/2006/main">
            <a:r>
              <a:t/>
            </a:r>
          </a:p>
          <a:p xmlns:a="http://schemas.openxmlformats.org/drawingml/2006/main">
            <a:r>
              <a:t>[Sources]</a:t>
            </a:r>
          </a:p>
          <a:p xmlns:a="http://schemas.openxmlformats.org/drawingml/2006/main">
            <a:r>
              <a:t>- Project screenshot: deck/assets/screens/v1-latest/hq.png, origin/v1 commit 27f5cd1.</a:t>
            </a:r>
          </a:p>
          <a:p xmlns:a="http://schemas.openxmlformats.org/drawingml/2006/main">
            <a:r>
              <a:t>- Project README and product loop on origin/v1 commit 27f5cd1.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creator can see every clip and chart and still lack a clear next move. The useful clues are split across footage, chat, comments, and analytics, so the next stream often depends on memory and guesswork.</a:t>
            </a:r>
          </a:p>
          <a:p xmlns:a="http://schemas.openxmlformats.org/drawingml/2006/main">
            <a:r>
              <a:t/>
            </a:r>
          </a:p>
          <a:p xmlns:a="http://schemas.openxmlformats.org/drawingml/2006/main">
            <a:r>
              <a:t>[Sources]</a:t>
            </a:r>
          </a:p>
          <a:p xmlns:a="http://schemas.openxmlformats.org/drawingml/2006/main">
            <a:r>
              <a:t>- Project problem framing and diagnosis loop: README.md on origin/v1 commit 27f5cd1.</a:t>
            </a:r>
          </a:p>
          <a:p xmlns:a="http://schemas.openxmlformats.org/drawingml/2006/main">
            <a:r>
              <a:t>- Project Memory and experiment domain code on origin/v1 commit 27f5cd1.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Content supply is enormous, loyal audiences are hard to build, and creator revenue is already a large market. YouTube says viewers who return regularly are more likely to be recommended more videos from that channel. That is the behavior Afterplay targets.</a:t>
            </a:r>
          </a:p>
          <a:p xmlns:a="http://schemas.openxmlformats.org/drawingml/2006/main">
            <a:r>
              <a:t/>
            </a:r>
          </a:p>
          <a:p xmlns:a="http://schemas.openxmlformats.org/drawingml/2006/main">
            <a:r>
              <a:t>[Sources]</a:t>
            </a:r>
          </a:p>
          <a:p xmlns:a="http://schemas.openxmlformats.org/drawingml/2006/main">
            <a:r>
              <a:t>- YouTube Blog, 1 Dec 2022: https://blog.youtube/culture-and-trends/youtube-podcast-launch-like-and-describe/</a:t>
            </a:r>
          </a:p>
          <a:p xmlns:a="http://schemas.openxmlformats.org/drawingml/2006/main">
            <a:r>
              <a:t>- YouTube Help, current page: https://support.google.com/youtube/answer/10246996?hl=en</a:t>
            </a:r>
          </a:p>
          <a:p xmlns:a="http://schemas.openxmlformats.org/drawingml/2006/main">
            <a:r>
              <a:t>- IAB 2025 Creator Economy Ad Spend &amp; Strategy Report: https://www.iab.com/insights/2025-creator-economy-ad-spend-strategy-report/</a:t>
            </a:r>
          </a:p>
          <a:p xmlns:a="http://schemas.openxmlformats.org/drawingml/2006/main">
            <a:r>
              <a:t>- Goldman Sachs Research, 19 Apr 2023: https://www.goldmansachs.com/insights/articles/the-creator-economy-could-approach-half-a-trillion-dollars-by-2027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primary user is a growing gaming creator who streams regularly without a full strategy team. Editors and managers need the same evidence and approval state. Creator programs benefit from a repeatable process across several channels.</a:t>
            </a:r>
          </a:p>
          <a:p xmlns:a="http://schemas.openxmlformats.org/drawingml/2006/main">
            <a:r>
              <a:t/>
            </a:r>
          </a:p>
          <a:p xmlns:a="http://schemas.openxmlformats.org/drawingml/2006/main">
            <a:r>
              <a:t>[Sources]</a:t>
            </a:r>
          </a:p>
          <a:p xmlns:a="http://schemas.openxmlformats.org/drawingml/2006/main">
            <a:r>
              <a:t>- Target-user and workspace contract: docs/product/PRODUCT.md on origin/v1 commit 27f5cd1.</a:t>
            </a:r>
          </a:p>
          <a:p xmlns:a="http://schemas.openxmlformats.org/drawingml/2006/main">
            <a:r>
              <a:t>- Reusable multi-account shell: README.md and src/domain/creators.ts on origin/v1 commit 27f5cd1.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product finds a useful signal in the current stream and channel history. It turns that signal into one test for the creator to approve. After the test, it saves the result and recommends the next move.</a:t>
            </a:r>
          </a:p>
          <a:p xmlns:a="http://schemas.openxmlformats.org/drawingml/2006/main">
            <a:r>
              <a:t/>
            </a:r>
          </a:p>
          <a:p xmlns:a="http://schemas.openxmlformats.org/drawingml/2006/main">
            <a:r>
              <a:t>[Sources]</a:t>
            </a:r>
          </a:p>
          <a:p xmlns:a="http://schemas.openxmlformats.org/drawingml/2006/main">
            <a:r>
              <a:t>- Project loop and product behavior: README.md and src/domain on origin/v1 commit 27f5cd1.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V1 starts a real clipper job from the browser, reports its actual stages, and sends the output to Studio. The creator sees the clips, evidence, and copy before approving the current revision. Nothing is posted at this step.</a:t>
            </a:r>
          </a:p>
          <a:p xmlns:a="http://schemas.openxmlformats.org/drawingml/2006/main">
            <a:r>
              <a:t/>
            </a:r>
          </a:p>
          <a:p xmlns:a="http://schemas.openxmlformats.org/drawingml/2006/main">
            <a:r>
              <a:t>[Sources]</a:t>
            </a:r>
          </a:p>
          <a:p xmlns:a="http://schemas.openxmlformats.org/drawingml/2006/main">
            <a:r>
              <a:t>- Project screenshots: deck/assets/screens/v1-latest/ingest.png and studio.png.</a:t>
            </a:r>
          </a:p>
          <a:p xmlns:a="http://schemas.openxmlformats.org/drawingml/2006/main">
            <a:r>
              <a:t>- V1 commits 21eca20, 5563d23, and 27f5cd1.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AI performs the semantic judgment that fixed analytics cannot: it connects meaning across streams, forms a falsifiable hypothesis, prepares creator-specific work, and interprets results in context. Code owns identity, validation, revisions, approval, action dispatch, and receipts.</a:t>
            </a:r>
          </a:p>
          <a:p xmlns:a="http://schemas.openxmlformats.org/drawingml/2006/main">
            <a:r>
              <a:t/>
            </a:r>
          </a:p>
          <a:p xmlns:a="http://schemas.openxmlformats.org/drawingml/2006/main">
            <a:r>
              <a:t>[Sources]</a:t>
            </a:r>
          </a:p>
          <a:p xmlns:a="http://schemas.openxmlformats.org/drawingml/2006/main">
            <a:r>
              <a:t>- AI responsibilities and boundaries: docs/AI.md on origin/v1 commit 27f5cd1.</a:t>
            </a:r>
          </a:p>
          <a:p xmlns:a="http://schemas.openxmlformats.org/drawingml/2006/main">
            <a:r>
              <a:t>- Two-stage director decision: docs/decisions/0003-two-stage-director-not-agent-theatre.md on origin/v1 commit 27f5cd1.</a:t>
            </a:r>
          </a:p>
          <a:p xmlns:a="http://schemas.openxmlformats.org/drawingml/2006/main">
            <a:r>
              <a:t>- Implemented strategy adapter: src/ai/strategy.ts on origin/v1 commit 27f5cd1.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Afterplay keeps the specific facts a creator would otherwise have to remember. V1 stores channel threads, exposes the selected creator across the workspace, and can scan adjacent channels without substituting a fake report when live data is unavailable.</a:t>
            </a:r>
          </a:p>
          <a:p xmlns:a="http://schemas.openxmlformats.org/drawingml/2006/main">
            <a:r>
              <a:t/>
            </a:r>
          </a:p>
          <a:p xmlns:a="http://schemas.openxmlformats.org/drawingml/2006/main">
            <a:r>
              <a:t>[Sources]</a:t>
            </a:r>
          </a:p>
          <a:p xmlns:a="http://schemas.openxmlformats.org/drawingml/2006/main">
            <a:r>
              <a:t>- Project screenshot: deck/assets/screens/v1-latest/intel.png, origin/v1 commit 27f5cd1.</a:t>
            </a:r>
          </a:p>
          <a:p xmlns:a="http://schemas.openxmlformats.org/drawingml/2006/main">
            <a:r>
              <a:t>- Competitive-intelligence implementation: src/domain/intel and docs/intel/INTELLIGENCE.md on origin/v1.</a:t>
            </a:r>
          </a:p>
          <a:p xmlns:a="http://schemas.openxmlformats.org/drawingml/2006/main">
            <a:r>
              <a:t>- Creator memory selection: src/domain/creators.ts and src/app/memory/page.tsx on origin/v1.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V1 is one Next.js 16 application with framework-light TypeScript domain modules. Optional live planning uses the OpenAI Responses API with strict Structured Outputs, store false, and Zod validation. The separate Python clipper uses transcripts, creator memory, callback scoring, ffmpeg rendering, and quality checks. Demo state is seeded in process and distribution is simulated for a reliable judge run.</a:t>
            </a:r>
          </a:p>
          <a:p xmlns:a="http://schemas.openxmlformats.org/drawingml/2006/main">
            <a:r>
              <a:t/>
            </a:r>
          </a:p>
          <a:p xmlns:a="http://schemas.openxmlformats.org/drawingml/2006/main">
            <a:r>
              <a:t>[Sources]</a:t>
            </a:r>
          </a:p>
          <a:p xmlns:a="http://schemas.openxmlformats.org/drawingml/2006/main">
            <a:r>
              <a:t>- Runtime dependencies: package.json on origin/v1 commit 27f5cd1.</a:t>
            </a:r>
          </a:p>
          <a:p xmlns:a="http://schemas.openxmlformats.org/drawingml/2006/main">
            <a:r>
              <a:t>- Architecture and trade-offs: docs/architecture/ARCHITECTURE.md on origin/v1 commit 27f5cd1.</a:t>
            </a:r>
          </a:p>
          <a:p xmlns:a="http://schemas.openxmlformats.org/drawingml/2006/main">
            <a:r>
              <a:t>- Model configuration and validation: docs/AI.md on origin/v1 commit 27f5cd1.</a:t>
            </a:r>
          </a:p>
          <a:p xmlns:a="http://schemas.openxmlformats.org/drawingml/2006/main">
            <a:r>
              <a:t>- Media pipeline: services/video-clipper on origin/v1 commit 27f5cd1.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Riff is the live extension of Afterplay. The creator sets the personality, intensity, and experiment. Riff listens for the approved trigger and can surface chat setups or recurring bits during the stream.</a:t>
            </a:r>
          </a:p>
          <a:p xmlns:a="http://schemas.openxmlformats.org/drawingml/2006/main">
            <a:r>
              <a:t/>
            </a:r>
          </a:p>
          <a:p xmlns:a="http://schemas.openxmlformats.org/drawingml/2006/main">
            <a:r>
              <a:t>[Sources]</a:t>
            </a:r>
          </a:p>
          <a:p xmlns:a="http://schemas.openxmlformats.org/drawingml/2006/main">
            <a:r>
              <a:t>- Project screenshot: deck/assets/screens/riff/live.png from the local Riff live prototype.</a:t>
            </a:r>
          </a:p>
          <a:p xmlns:a="http://schemas.openxmlformats.org/drawingml/2006/main">
            <a:r>
              <a:t>- Local implementation: src/app/live/page.tsx and src/components/riff-live-console.tsx.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expected impact is less planning guesswork, more disciplined experiments, and a clearer path to a returning audience. We will measure time to decision, experiment cadence, returning behavior, and whether recommendations remain traceable to evidence. The prototype does not claim these outcomes have already been achieved.</a:t>
            </a:r>
          </a:p>
          <a:p xmlns:a="http://schemas.openxmlformats.org/drawingml/2006/main">
            <a:r>
              <a:t/>
            </a:r>
          </a:p>
          <a:p xmlns:a="http://schemas.openxmlformats.org/drawingml/2006/main">
            <a:r>
              <a:t>[Sources]</a:t>
            </a:r>
          </a:p>
          <a:p xmlns:a="http://schemas.openxmlformats.org/drawingml/2006/main">
            <a:r>
              <a:t>- Expected outcomes and truth boundary: README.md and docs/product/PRODUCT.md on origin/v1 commit 27f5cd1.</a:t>
            </a:r>
          </a:p>
          <a:p xmlns:a="http://schemas.openxmlformats.org/drawingml/2006/main">
            <a:r>
              <a:t>- YouTube returning-viewer definition and guidance: https://support.google.com/youtube/answer/10246996?hl=en</a:t>
            </a:r>
          </a:p>
          <a:p xmlns:a="http://schemas.openxmlformats.org/drawingml/2006/main">
            <a:r>
              <a:t>- Public measurement seams: docs/testing/TEST-SEAMS.md on origin/v1 commit 27f5cd1.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prototype already covers the full offline job. The next work is durability and platform connection. Riff follows once the creator can trust the stored history and approval rules.</a:t>
            </a:r>
          </a:p>
          <a:p xmlns:a="http://schemas.openxmlformats.org/drawingml/2006/main">
            <a:r>
              <a:t/>
            </a:r>
          </a:p>
          <a:p xmlns:a="http://schemas.openxmlformats.org/drawingml/2006/main">
            <a:r>
              <a:t>[Sources]</a:t>
            </a:r>
          </a:p>
          <a:p xmlns:a="http://schemas.openxmlformats.org/drawingml/2006/main">
            <a:r>
              <a:t>- Current-state evidence: origin/v1 commit 27f5cd1 and local Riff prototype.</a:t>
            </a:r>
          </a:p>
          <a:p xmlns:a="http://schemas.openxmlformats.org/drawingml/2006/main">
            <a:r>
              <a:t>- Roadmap language is the project team's forward plan; no external source.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Afterplay's promise is straightforward: remember the channel, run one approved test, and use the result to choose the next move.</a:t>
            </a:r>
          </a:p>
          <a:p xmlns:a="http://schemas.openxmlformats.org/drawingml/2006/main">
            <a:r>
              <a:t/>
            </a:r>
          </a:p>
          <a:p xmlns:a="http://schemas.openxmlformats.org/drawingml/2006/main">
            <a:r>
              <a:t>[Sources]</a:t>
            </a:r>
          </a:p>
          <a:p xmlns:a="http://schemas.openxmlformats.org/drawingml/2006/main">
            <a:r>
              <a:t>- Project positioning and implementation evidence from origin/v1 commit 27f5cd1 and the local Riff prototype.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8e0fd9fcae1f4b66"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70ceb503cc5d468d" /><Relationship Type="http://schemas.openxmlformats.org/officeDocument/2006/relationships/slideLayout" Target="/ppt/slideLayouts/slideLayout1.xml" Id="R22b9ae8073b649fd"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22b9ae8073b649fd"/>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934a5322c4c14ccb" /><Relationship Type="http://schemas.openxmlformats.org/officeDocument/2006/relationships/image" Target="/ppt/media/image.png" Id="R7e92784f077e4206" /><Relationship Type="http://schemas.openxmlformats.org/officeDocument/2006/relationships/notesSlide" Target="/ppt/notesSlides/notesSlide1.xml" Id="R14669556401a4343"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f163e1f0fff540b5" /><Relationship Type="http://schemas.openxmlformats.org/officeDocument/2006/relationships/notesSlide" Target="/ppt/notesSlides/notesSlide2.xml" Id="R9fe27f426e244ec8"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dfd7f1b60df340da" /><Relationship Type="http://schemas.openxmlformats.org/officeDocument/2006/relationships/notesSlide" Target="/ppt/notesSlides/notesSlide3.xml" Id="R5f5fee70de0f4e6a"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f06b447355c54cc3" /><Relationship Type="http://schemas.openxmlformats.org/officeDocument/2006/relationships/notesSlide" Target="/ppt/notesSlides/notesSlide4.xml" Id="R6751c42547b94f65"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32bbcef8e3214ee3" /><Relationship Type="http://schemas.openxmlformats.org/officeDocument/2006/relationships/notesSlide" Target="/ppt/notesSlides/notesSlide5.xml" Id="Rb670aa12bed542fd"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52b69b025b4e4186" /><Relationship Type="http://schemas.openxmlformats.org/officeDocument/2006/relationships/image" Target="/ppt/media/image2.png" Id="Rf6c2414391bb4a55" /><Relationship Type="http://schemas.openxmlformats.org/officeDocument/2006/relationships/image" Target="/ppt/media/image3.png" Id="R3947424e9241422d" /><Relationship Type="http://schemas.openxmlformats.org/officeDocument/2006/relationships/notesSlide" Target="/ppt/notesSlides/notesSlide6.xml" Id="R0f41cd8947a14720"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2ba4beb4d1204bc0" /><Relationship Type="http://schemas.openxmlformats.org/officeDocument/2006/relationships/notesSlide" Target="/ppt/notesSlides/notesSlide7.xml" Id="R18cb33082c9b4826"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a9d3637cc4804159" /><Relationship Type="http://schemas.openxmlformats.org/officeDocument/2006/relationships/image" Target="/ppt/media/image4.png" Id="R54992a7b04e74bd3" /><Relationship Type="http://schemas.openxmlformats.org/officeDocument/2006/relationships/notesSlide" Target="/ppt/notesSlides/notesSlide8.xml" Id="R57f0df5c257b49a4"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158bec9c015a47ed" /><Relationship Type="http://schemas.openxmlformats.org/officeDocument/2006/relationships/notesSlide" Target="/ppt/notesSlides/notesSlide9.xml" Id="Re6f3b7ab03dc4e9c"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a09582097d8a4934" /><Relationship Type="http://schemas.openxmlformats.org/officeDocument/2006/relationships/image" Target="/ppt/media/image5.png" Id="R22dad5a015c2438e" /><Relationship Type="http://schemas.openxmlformats.org/officeDocument/2006/relationships/notesSlide" Target="/ppt/notesSlides/notesSlide10.xml" Id="Ra40fbdd0bd8a42fc"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c2aae752a4684977" /><Relationship Type="http://schemas.openxmlformats.org/officeDocument/2006/relationships/notesSlide" Target="/ppt/notesSlides/notesSlide11.xml" Id="R5ebd5fc3464c48eb"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89e8a4badf43467c" /><Relationship Type="http://schemas.openxmlformats.org/officeDocument/2006/relationships/notesSlide" Target="/ppt/notesSlides/notesSlide12.xml" Id="R39b5d15b80c04b00"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77bc6d4a909946d8" /><Relationship Type="http://schemas.openxmlformats.org/officeDocument/2006/relationships/notesSlide" Target="/ppt/notesSlides/notesSlide13.xml" Id="Rd297c3f7ee314eb4"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Google-Shape-532-p58-2">
            <a:extLst xmlns:a="http://schemas.openxmlformats.org/drawingml/2006/main">
              <a:ext uri="{FF2B5EF4-FFF2-40B4-BE49-F238E27FC236}">
                <a16:creationId xmlns:a16="http://schemas.microsoft.com/office/drawing/2014/main" id="{F3726127-45F2-4BFF-98E4-A25417BC8286}"/>
              </a:ext>
            </a:extLst>
          </p:cNvPr>
          <p:cNvSpPr>
            <a:spLocks xmlns:a="http://schemas.openxmlformats.org/drawingml/2006/main" noGrp="1"/>
          </p:cNvSpPr>
          <p:nvPr/>
        </p:nvSpPr>
        <p:spPr>
          <a:xfrm xmlns:a="http://schemas.openxmlformats.org/drawingml/2006/main">
            <a:off x="11279315" y="6279261"/>
            <a:ext cx="518922" cy="241268"/>
          </a:xfrm>
          <a:prstGeom xmlns:a="http://schemas.openxmlformats.org/drawingml/2006/main" prst="rect">
            <a:avLst/>
          </a:prstGeom>
        </p:spPr>
        <p:txBody>
          <a:bodyPr xmlns:a="http://schemas.openxmlformats.org/drawingml/2006/main" wrap="square" lIns="0" tIns="0" rIns="0" bIns="0" anchor="b">
            <a:noAutofit/>
          </a:bodyPr>
          <a:lstStyle xmlns:a="http://schemas.openxmlformats.org/drawingml/2006/main"/>
          <a:p xmlns:a="http://schemas.openxmlformats.org/drawingml/2006/main">
            <a:pPr algn="r">
              <a:lnSpc>
                <a:spcPct val="108000"/>
              </a:lnSpc>
              <a:spcBef>
                <a:spcPts val="0"/>
              </a:spcBef>
              <a:spcAft>
                <a:spcPts val="0"/>
              </a:spcAft>
              <a:buNone/>
              <a:defRPr sz="1000">
                <a:solidFill>
                  <a:srgbClr val="000000"/>
                </a:solidFill>
                <a:latin typeface="Helvetica Neue"/>
                <a:ea typeface="Helvetica Neue"/>
                <a:cs typeface="Helvetica Neue"/>
              </a:defRPr>
            </a:pPr>
            <a:r>
              <a:rPr sz="1050" b="0">
                <a:solidFill>
                  <a:srgbClr val="5C6368"/>
                </a:solidFill>
                <a:latin typeface="Helvetica Neue"/>
                <a:ea typeface="Helvetica Neue"/>
                <a:cs typeface="Helvetica Neue"/>
              </a:rPr>
              <a:t>01</a:t>
            </a:r>
          </a:p>
        </p:txBody>
      </p:sp>
      <p:sp>
        <p:nvSpPr>
          <p:cNvPr id="2" name="Google-Shape-533-p58-3">
            <a:extLst xmlns:a="http://schemas.openxmlformats.org/drawingml/2006/main">
              <a:ext uri="{FF2B5EF4-FFF2-40B4-BE49-F238E27FC236}">
                <a16:creationId xmlns:a16="http://schemas.microsoft.com/office/drawing/2014/main" id="{E9C86832-51A6-4618-B46F-DC4507B66D90}"/>
              </a:ext>
            </a:extLst>
          </p:cNvPr>
          <p:cNvSpPr>
            <a:spLocks xmlns:a="http://schemas.openxmlformats.org/drawingml/2006/main" noGrp="1"/>
          </p:cNvSpPr>
          <p:nvPr/>
        </p:nvSpPr>
        <p:spPr>
          <a:xfrm xmlns:a="http://schemas.openxmlformats.org/drawingml/2006/main">
            <a:off x="393668" y="344043"/>
            <a:ext cx="11404568" cy="1047464"/>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spcBef>
                <a:spcPts val="0"/>
              </a:spcBef>
              <a:spcAft>
                <a:spcPts val="0"/>
              </a:spcAft>
              <a:buNone/>
              <a:defRPr sz="2900">
                <a:solidFill>
                  <a:srgbClr val="000000"/>
                </a:solidFill>
                <a:latin typeface="Helvetica Neue"/>
                <a:ea typeface="Helvetica Neue"/>
                <a:cs typeface="Helvetica Neue"/>
              </a:defRPr>
            </a:pPr>
            <a:r>
              <a:rPr sz="1500" b="1">
                <a:solidFill>
                  <a:srgbClr val="B53E31"/>
                </a:solidFill>
                <a:latin typeface="Helvetica Neue"/>
                <a:ea typeface="Helvetica Neue"/>
                <a:cs typeface="Helvetica Neue"/>
              </a:rPr>
              <a:t>GARENA AI BUILD CHALLENGE · 2026</a:t>
            </a:r>
          </a:p>
        </p:txBody>
      </p:sp>
      <p:sp>
        <p:nvSpPr>
          <p:cNvPr id="3" name="Picture-3-4-backing">
            <a:extLst xmlns:a="http://schemas.openxmlformats.org/drawingml/2006/main">
              <a:ext uri="{FF2B5EF4-FFF2-40B4-BE49-F238E27FC236}">
                <a16:creationId xmlns:a16="http://schemas.microsoft.com/office/drawing/2014/main" id="{EB8548ED-7C1C-4F06-B974-C2693D6ECABC}"/>
              </a:ext>
            </a:extLst>
          </p:cNvPr>
          <p:cNvSpPr>
            <a:spLocks xmlns:a="http://schemas.openxmlformats.org/drawingml/2006/main" noGrp="1"/>
          </p:cNvSpPr>
          <p:nvPr/>
        </p:nvSpPr>
        <p:spPr>
          <a:xfrm xmlns:a="http://schemas.openxmlformats.org/drawingml/2006/main">
            <a:off x="6269069" y="396431"/>
            <a:ext cx="5539740" cy="5602034"/>
          </a:xfrm>
          <a:prstGeom xmlns:a="http://schemas.openxmlformats.org/drawingml/2006/main" prst="roundRect">
            <a:avLst>
              <a:gd name="adj" fmla="val 1376"/>
            </a:avLst>
          </a:prstGeom>
          <a:solidFill xmlns:a="http://schemas.openxmlformats.org/drawingml/2006/main">
            <a:srgbClr val="EAF5FB"/>
          </a:solidFill>
          <a:ln xmlns:a="http://schemas.openxmlformats.org/drawingml/2006/main" w="9525">
            <a:solidFill>
              <a:srgbClr val="B8BCC4"/>
            </a:solidFill>
            <a:prstDash val="solid"/>
          </a:ln>
        </p:spPr>
      </p:sp>
      <p:sp>
        <p:nvSpPr>
          <p:cNvPr id="5" name="Google-Shape-534-p58-5">
            <a:extLst xmlns:a="http://schemas.openxmlformats.org/drawingml/2006/main">
              <a:ext uri="{FF2B5EF4-FFF2-40B4-BE49-F238E27FC236}">
                <a16:creationId xmlns:a16="http://schemas.microsoft.com/office/drawing/2014/main" id="{59118DD6-B88B-4C0D-A7B7-014E7F9CB7BC}"/>
              </a:ext>
            </a:extLst>
          </p:cNvPr>
          <p:cNvSpPr>
            <a:spLocks xmlns:a="http://schemas.openxmlformats.org/drawingml/2006/main" noGrp="1"/>
          </p:cNvSpPr>
          <p:nvPr/>
        </p:nvSpPr>
        <p:spPr>
          <a:xfrm xmlns:a="http://schemas.openxmlformats.org/drawingml/2006/main">
            <a:off x="393668" y="2031968"/>
            <a:ext cx="5537168" cy="396240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0000"/>
              </a:lnSpc>
              <a:spcBef>
                <a:spcPts val="0"/>
              </a:spcBef>
              <a:spcAft>
                <a:spcPts val="1800"/>
              </a:spcAft>
              <a:buNone/>
              <a:defRPr sz="2400">
                <a:solidFill>
                  <a:srgbClr val="000000"/>
                </a:solidFill>
                <a:latin typeface="Helvetica Neue"/>
                <a:ea typeface="Helvetica Neue"/>
                <a:cs typeface="Helvetica Neue"/>
              </a:defRPr>
            </a:pPr>
            <a:r>
              <a:rPr sz="5700" b="1">
                <a:solidFill>
                  <a:srgbClr val="0B0D0E"/>
                </a:solidFill>
                <a:latin typeface="Helvetica Neue"/>
                <a:ea typeface="Helvetica Neue"/>
                <a:cs typeface="Helvetica Neue"/>
              </a:rPr>
              <a:t>Afterplay</a:t>
            </a:r>
          </a:p>
          <a:p xmlns:a="http://schemas.openxmlformats.org/drawingml/2006/main">
            <a:pPr algn="l">
              <a:lnSpc>
                <a:spcPct val="112000"/>
              </a:lnSpc>
              <a:spcBef>
                <a:spcPts val="0"/>
              </a:spcBef>
              <a:spcAft>
                <a:spcPts val="0"/>
              </a:spcAft>
              <a:buNone/>
              <a:defRPr sz="2400">
                <a:solidFill>
                  <a:srgbClr val="000000"/>
                </a:solidFill>
                <a:latin typeface="Helvetica Neue"/>
                <a:ea typeface="Helvetica Neue"/>
                <a:cs typeface="Helvetica Neue"/>
              </a:defRPr>
            </a:pPr>
            <a:r>
              <a:rPr sz="2100" b="0">
                <a:solidFill>
                  <a:srgbClr val="5C6368"/>
                </a:solidFill>
                <a:latin typeface="Helvetica Neue"/>
                <a:ea typeface="Helvetica Neue"/>
                <a:cs typeface="Helvetica Neue"/>
              </a:rPr>
              <a:t>Afterplay remembers what made viewers come back, then plans one clear test for the next stream.</a:t>
            </a:r>
          </a:p>
        </p:txBody>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7e92784f077e4206"/>
          <a:srcRect xmlns:a="http://schemas.openxmlformats.org/drawingml/2006/main" l="10548" t="0" r="10548" b="0"/>
          <a:stretch xmlns:a="http://schemas.openxmlformats.org/drawingml/2006/main">
            <a:fillRect l="0" t="0" r="0" b="0"/>
          </a:stretch>
        </p:blipFill>
        <p:spPr>
          <a:xfrm xmlns:a="http://schemas.openxmlformats.org/drawingml/2006/main">
            <a:off x="6269069" y="396431"/>
            <a:ext cx="5539740" cy="5602034"/>
          </a:xfrm>
          <a:prstGeom xmlns:a="http://schemas.openxmlformats.org/drawingml/2006/main" prst="roundRect">
            <a:avLst>
              <a:gd name="adj" fmla="val 2063"/>
            </a:avLst>
          </a:prstGeom>
        </p:spPr>
      </p:pic>
      <p:sp>
        <p:nvSpPr>
          <p:cNvPr id="7" name="cover-built-label">
            <a:extLst xmlns:a="http://schemas.openxmlformats.org/drawingml/2006/main">
              <a:ext uri="{FF2B5EF4-FFF2-40B4-BE49-F238E27FC236}">
                <a16:creationId xmlns:a16="http://schemas.microsoft.com/office/drawing/2014/main" id="{22EA5084-C7D3-40FD-8C8E-519D48BA6F20}"/>
              </a:ext>
            </a:extLst>
          </p:cNvPr>
          <p:cNvSpPr>
            <a:spLocks xmlns:a="http://schemas.openxmlformats.org/drawingml/2006/main" noGrp="1"/>
          </p:cNvSpPr>
          <p:nvPr/>
        </p:nvSpPr>
        <p:spPr>
          <a:xfrm xmlns:a="http://schemas.openxmlformats.org/drawingml/2006/main">
            <a:off x="393668" y="5429250"/>
            <a:ext cx="5143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350" b="1">
                <a:solidFill>
                  <a:srgbClr val="B53E31"/>
                </a:solidFill>
              </a:defRPr>
            </a:pPr>
            <a:r>
              <a:rPr sz="1350" b="1">
                <a:solidFill>
                  <a:srgbClr val="B53E31"/>
                </a:solidFill>
              </a:rPr>
              <a:t>REMEMBER  ·  TEST  ·  LEARN</a:t>
            </a:r>
          </a:p>
        </p:txBody>
      </p:sp>
    </p:spTree>
    <p:extLst>
      <p:ext uri="{BB962C8B-B14F-4D97-AF65-F5344CB8AC3E}">
        <p14:creationId xmlns:p14="http://schemas.microsoft.com/office/powerpoint/2010/main" val="1557911234"/>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Google-Shape-532-p58-2">
            <a:extLst xmlns:a="http://schemas.openxmlformats.org/drawingml/2006/main">
              <a:ext uri="{FF2B5EF4-FFF2-40B4-BE49-F238E27FC236}">
                <a16:creationId xmlns:a16="http://schemas.microsoft.com/office/drawing/2014/main" id="{5CA5E1C6-45C1-4C4F-ACDD-8D33259BD592}"/>
              </a:ext>
            </a:extLst>
          </p:cNvPr>
          <p:cNvSpPr>
            <a:spLocks xmlns:a="http://schemas.openxmlformats.org/drawingml/2006/main" noGrp="1"/>
          </p:cNvSpPr>
          <p:nvPr/>
        </p:nvSpPr>
        <p:spPr>
          <a:xfrm xmlns:a="http://schemas.openxmlformats.org/drawingml/2006/main">
            <a:off x="11279315" y="6279261"/>
            <a:ext cx="518922" cy="241268"/>
          </a:xfrm>
          <a:prstGeom xmlns:a="http://schemas.openxmlformats.org/drawingml/2006/main" prst="rect">
            <a:avLst/>
          </a:prstGeom>
        </p:spPr>
        <p:txBody>
          <a:bodyPr xmlns:a="http://schemas.openxmlformats.org/drawingml/2006/main" wrap="square" lIns="0" tIns="0" rIns="0" bIns="0" anchor="b">
            <a:noAutofit/>
          </a:bodyPr>
          <a:lstStyle xmlns:a="http://schemas.openxmlformats.org/drawingml/2006/main"/>
          <a:p xmlns:a="http://schemas.openxmlformats.org/drawingml/2006/main">
            <a:pPr algn="r">
              <a:lnSpc>
                <a:spcPct val="108000"/>
              </a:lnSpc>
              <a:spcBef>
                <a:spcPts val="0"/>
              </a:spcBef>
              <a:spcAft>
                <a:spcPts val="0"/>
              </a:spcAft>
              <a:buNone/>
              <a:defRPr sz="1000">
                <a:solidFill>
                  <a:srgbClr val="000000"/>
                </a:solidFill>
                <a:latin typeface="Helvetica Neue"/>
                <a:ea typeface="Helvetica Neue"/>
                <a:cs typeface="Helvetica Neue"/>
              </a:defRPr>
            </a:pPr>
            <a:r>
              <a:rPr sz="1050" b="0">
                <a:solidFill>
                  <a:srgbClr val="5C6368"/>
                </a:solidFill>
                <a:latin typeface="Helvetica Neue"/>
                <a:ea typeface="Helvetica Neue"/>
                <a:cs typeface="Helvetica Neue"/>
              </a:rPr>
              <a:t>02</a:t>
            </a:r>
          </a:p>
        </p:txBody>
      </p:sp>
      <p:sp>
        <p:nvSpPr>
          <p:cNvPr id="2" name="Google-Shape-533-p58-3">
            <a:extLst xmlns:a="http://schemas.openxmlformats.org/drawingml/2006/main">
              <a:ext uri="{FF2B5EF4-FFF2-40B4-BE49-F238E27FC236}">
                <a16:creationId xmlns:a16="http://schemas.microsoft.com/office/drawing/2014/main" id="{ABDB364F-694B-48DD-B88A-431B9AF6F30D}"/>
              </a:ext>
            </a:extLst>
          </p:cNvPr>
          <p:cNvSpPr>
            <a:spLocks xmlns:a="http://schemas.openxmlformats.org/drawingml/2006/main" noGrp="1"/>
          </p:cNvSpPr>
          <p:nvPr/>
        </p:nvSpPr>
        <p:spPr>
          <a:xfrm xmlns:a="http://schemas.openxmlformats.org/drawingml/2006/main">
            <a:off x="393668" y="344043"/>
            <a:ext cx="11404568" cy="1047464"/>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6000"/>
              </a:lnSpc>
              <a:spcBef>
                <a:spcPts val="0"/>
              </a:spcBef>
              <a:spcAft>
                <a:spcPts val="0"/>
              </a:spcAft>
              <a:buNone/>
              <a:defRPr sz="2900">
                <a:solidFill>
                  <a:srgbClr val="000000"/>
                </a:solidFill>
                <a:latin typeface="Helvetica Neue"/>
                <a:ea typeface="Helvetica Neue"/>
                <a:cs typeface="Helvetica Neue"/>
              </a:defRPr>
            </a:pPr>
            <a:r>
              <a:rPr sz="3600" b="1">
                <a:solidFill>
                  <a:srgbClr val="0B0D0E"/>
                </a:solidFill>
                <a:latin typeface="Helvetica Neue"/>
                <a:ea typeface="Helvetica Neue"/>
                <a:cs typeface="Helvetica Neue"/>
              </a:rPr>
              <a:t>Creators can see what happened. They still have to guess what to do next.</a:t>
            </a:r>
          </a:p>
        </p:txBody>
      </p:sp>
      <p:sp>
        <p:nvSpPr>
          <p:cNvPr id="3" name="Google-Shape-534-p58-4">
            <a:extLst xmlns:a="http://schemas.openxmlformats.org/drawingml/2006/main">
              <a:ext uri="{FF2B5EF4-FFF2-40B4-BE49-F238E27FC236}">
                <a16:creationId xmlns:a16="http://schemas.microsoft.com/office/drawing/2014/main" id="{FCC22929-6F3A-4706-A409-A3D570C82AAD}"/>
              </a:ext>
            </a:extLst>
          </p:cNvPr>
          <p:cNvSpPr>
            <a:spLocks xmlns:a="http://schemas.openxmlformats.org/drawingml/2006/main" noGrp="1"/>
          </p:cNvSpPr>
          <p:nvPr/>
        </p:nvSpPr>
        <p:spPr>
          <a:xfrm xmlns:a="http://schemas.openxmlformats.org/drawingml/2006/main">
            <a:off x="393668" y="2031968"/>
            <a:ext cx="5537168" cy="3534823"/>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spcBef>
                <a:spcPts val="0"/>
              </a:spcBef>
              <a:spcAft>
                <a:spcPts val="1200"/>
              </a:spcAft>
              <a:buNone/>
              <a:defRPr sz="2400">
                <a:solidFill>
                  <a:srgbClr val="000000"/>
                </a:solidFill>
                <a:latin typeface="Helvetica Neue"/>
                <a:ea typeface="Helvetica Neue"/>
                <a:cs typeface="Helvetica Neue"/>
              </a:defRPr>
            </a:pPr>
            <a:r>
              <a:rPr sz="2400" b="1">
                <a:solidFill>
                  <a:srgbClr val="0B0D0E"/>
                </a:solidFill>
                <a:latin typeface="Helvetica Neue"/>
                <a:ea typeface="Helvetica Neue"/>
                <a:cs typeface="Helvetica Neue"/>
              </a:rPr>
              <a:t>What the tools show</a:t>
            </a:r>
          </a:p>
          <a:p xmlns:a="http://schemas.openxmlformats.org/drawingml/2006/main">
            <a:pPr algn="l">
              <a:lnSpc>
                <a:spcPct val="116000"/>
              </a:lnSpc>
              <a:spcBef>
                <a:spcPts val="0"/>
              </a:spcBef>
              <a:spcAft>
                <a:spcPts val="0"/>
              </a:spcAft>
              <a:buNone/>
              <a:defRPr sz="2400">
                <a:solidFill>
                  <a:srgbClr val="000000"/>
                </a:solidFill>
                <a:latin typeface="Helvetica Neue"/>
                <a:ea typeface="Helvetica Neue"/>
                <a:cs typeface="Helvetica Neue"/>
              </a:defRPr>
            </a:pPr>
            <a:r>
              <a:rPr sz="1650" b="0">
                <a:solidFill>
                  <a:srgbClr val="5C6368"/>
                </a:solidFill>
                <a:latin typeface="Helvetica Neue"/>
                <a:ea typeface="Helvetica Neue"/>
                <a:cs typeface="Helvetica Neue"/>
              </a:rPr>
              <a:t>A replay, clips, comments, and charts. Each lives in a different place.</a:t>
            </a:r>
          </a:p>
        </p:txBody>
      </p:sp>
      <p:sp>
        <p:nvSpPr>
          <p:cNvPr id="4" name="Content-Placeholder-3-5">
            <a:extLst xmlns:a="http://schemas.openxmlformats.org/drawingml/2006/main">
              <a:ext uri="{FF2B5EF4-FFF2-40B4-BE49-F238E27FC236}">
                <a16:creationId xmlns:a16="http://schemas.microsoft.com/office/drawing/2014/main" id="{3966253E-1328-413F-8DF2-40AADC61AD98}"/>
              </a:ext>
            </a:extLst>
          </p:cNvPr>
          <p:cNvSpPr>
            <a:spLocks xmlns:a="http://schemas.openxmlformats.org/drawingml/2006/main" noGrp="1"/>
          </p:cNvSpPr>
          <p:nvPr/>
        </p:nvSpPr>
        <p:spPr>
          <a:xfrm xmlns:a="http://schemas.openxmlformats.org/drawingml/2006/main">
            <a:off x="6256592" y="2031968"/>
            <a:ext cx="5537168" cy="3534823"/>
          </a:xfrm>
          <a:prstGeom xmlns:a="http://schemas.openxmlformats.org/drawingml/2006/main" prst="rect">
            <a:avLst/>
          </a:prstGeom>
        </p:spPr>
        <p:txBody>
          <a:bodyPr xmlns:a="http://schemas.openxmlformats.org/drawingml/2006/main" lIns="0" tIns="0" rIns="0" bIns="0">
            <a:normAutofit fontScale="100000"/>
          </a:bodyPr>
          <a:lstStyle xmlns:a="http://schemas.openxmlformats.org/drawingml/2006/main"/>
          <a:p xmlns:a="http://schemas.openxmlformats.org/drawingml/2006/main">
            <a:pPr algn="l">
              <a:lnSpc>
                <a:spcPct val="108000"/>
              </a:lnSpc>
              <a:spcBef>
                <a:spcPts val="0"/>
              </a:spcBef>
              <a:spcAft>
                <a:spcPts val="1200"/>
              </a:spcAft>
              <a:buNone/>
              <a:defRPr sz="2400">
                <a:solidFill>
                  <a:srgbClr val="000000"/>
                </a:solidFill>
                <a:latin typeface="Helvetica Neue"/>
                <a:ea typeface="Helvetica Neue"/>
                <a:cs typeface="Helvetica Neue"/>
              </a:defRPr>
            </a:pPr>
            <a:r>
              <a:rPr sz="2400" b="1">
                <a:solidFill>
                  <a:srgbClr val="0B0D0E"/>
                </a:solidFill>
                <a:latin typeface="Helvetica Neue"/>
                <a:ea typeface="Helvetica Neue"/>
                <a:cs typeface="Helvetica Neue"/>
              </a:rPr>
              <a:t>What the next stream needs</a:t>
            </a:r>
          </a:p>
          <a:p xmlns:a="http://schemas.openxmlformats.org/drawingml/2006/main">
            <a:pPr algn="l">
              <a:lnSpc>
                <a:spcPct val="116000"/>
              </a:lnSpc>
              <a:spcBef>
                <a:spcPts val="0"/>
              </a:spcBef>
              <a:spcAft>
                <a:spcPts val="0"/>
              </a:spcAft>
              <a:buNone/>
              <a:defRPr sz="2400">
                <a:solidFill>
                  <a:srgbClr val="000000"/>
                </a:solidFill>
                <a:latin typeface="Helvetica Neue"/>
                <a:ea typeface="Helvetica Neue"/>
                <a:cs typeface="Helvetica Neue"/>
              </a:defRPr>
            </a:pPr>
            <a:r>
              <a:rPr sz="1650" b="0">
                <a:solidFill>
                  <a:srgbClr val="5C6368"/>
                </a:solidFill>
                <a:latin typeface="Helvetica Neue"/>
                <a:ea typeface="Helvetica Neue"/>
                <a:cs typeface="Helvetica Neue"/>
              </a:rPr>
              <a:t>Why did viewers care? What should carry into the next stream? Which idea is worth testing?</a:t>
            </a:r>
          </a:p>
        </p:txBody>
      </p:sp>
      <p:sp>
        <p:nvSpPr>
          <p:cNvPr id="5" name="afterplay-accent-rule">
            <a:extLst xmlns:a="http://schemas.openxmlformats.org/drawingml/2006/main">
              <a:ext uri="{FF2B5EF4-FFF2-40B4-BE49-F238E27FC236}">
                <a16:creationId xmlns:a16="http://schemas.microsoft.com/office/drawing/2014/main" id="{50637DAD-718E-4CBD-AA1E-AC6E8864DA13}"/>
              </a:ext>
            </a:extLst>
          </p:cNvPr>
          <p:cNvSpPr>
            <a:spLocks xmlns:a="http://schemas.openxmlformats.org/drawingml/2006/main" noGrp="1"/>
          </p:cNvSpPr>
          <p:nvPr/>
        </p:nvSpPr>
        <p:spPr>
          <a:xfrm xmlns:a="http://schemas.openxmlformats.org/drawingml/2006/main">
            <a:off x="393668" y="1457325"/>
            <a:ext cx="876300" cy="57150"/>
          </a:xfrm>
          <a:prstGeom xmlns:a="http://schemas.openxmlformats.org/drawingml/2006/main" prst="rect">
            <a:avLst/>
          </a:prstGeom>
          <a:solidFill xmlns:a="http://schemas.openxmlformats.org/drawingml/2006/main">
            <a:srgbClr val="FF6B57"/>
          </a:solidFill>
          <a:ln xmlns:a="http://schemas.openxmlformats.org/drawingml/2006/main" w="0">
            <a:solidFill>
              <a:srgbClr val="FF6B57"/>
            </a:solidFill>
            <a:prstDash val="solid"/>
          </a:ln>
        </p:spPr>
      </p:sp>
      <p:sp>
        <p:nvSpPr>
          <p:cNvPr id="6" name="afterplay-coral-mark">
            <a:extLst xmlns:a="http://schemas.openxmlformats.org/drawingml/2006/main">
              <a:ext uri="{FF2B5EF4-FFF2-40B4-BE49-F238E27FC236}">
                <a16:creationId xmlns:a16="http://schemas.microsoft.com/office/drawing/2014/main" id="{BB07B68C-3CB7-40C2-8BD9-5F2D0E68447A}"/>
              </a:ext>
            </a:extLst>
          </p:cNvPr>
          <p:cNvSpPr>
            <a:spLocks xmlns:a="http://schemas.openxmlformats.org/drawingml/2006/main" noGrp="1"/>
          </p:cNvSpPr>
          <p:nvPr/>
        </p:nvSpPr>
        <p:spPr>
          <a:xfrm xmlns:a="http://schemas.openxmlformats.org/drawingml/2006/main">
            <a:off x="393668" y="6343650"/>
            <a:ext cx="95250" cy="95250"/>
          </a:xfrm>
          <a:prstGeom xmlns:a="http://schemas.openxmlformats.org/drawingml/2006/main" prst="rect">
            <a:avLst/>
          </a:prstGeom>
          <a:solidFill xmlns:a="http://schemas.openxmlformats.org/drawingml/2006/main">
            <a:srgbClr val="FF6B57"/>
          </a:solidFill>
          <a:ln xmlns:a="http://schemas.openxmlformats.org/drawingml/2006/main" w="0">
            <a:solidFill>
              <a:srgbClr val="FF6B57"/>
            </a:solidFill>
            <a:prstDash val="solid"/>
          </a:ln>
        </p:spPr>
      </p:sp>
      <p:sp>
        <p:nvSpPr>
          <p:cNvPr id="7" name="afterplay-wordmark">
            <a:extLst xmlns:a="http://schemas.openxmlformats.org/drawingml/2006/main">
              <a:ext uri="{FF2B5EF4-FFF2-40B4-BE49-F238E27FC236}">
                <a16:creationId xmlns:a16="http://schemas.microsoft.com/office/drawing/2014/main" id="{39DB7E0B-704A-4773-9B48-99FF679EB839}"/>
              </a:ext>
            </a:extLst>
          </p:cNvPr>
          <p:cNvSpPr>
            <a:spLocks xmlns:a="http://schemas.openxmlformats.org/drawingml/2006/main" noGrp="1"/>
          </p:cNvSpPr>
          <p:nvPr/>
        </p:nvSpPr>
        <p:spPr>
          <a:xfrm xmlns:a="http://schemas.openxmlformats.org/drawingml/2006/main">
            <a:off x="552450" y="6267450"/>
            <a:ext cx="114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050" b="1">
                <a:solidFill>
                  <a:srgbClr val="5C6368"/>
                </a:solidFill>
              </a:defRPr>
            </a:pPr>
            <a:r>
              <a:rPr sz="1050" b="1">
                <a:solidFill>
                  <a:srgbClr val="5C6368"/>
                </a:solidFill>
              </a:rPr>
              <a:t>AFTERPLAY</a:t>
            </a:r>
          </a:p>
        </p:txBody>
      </p:sp>
    </p:spTree>
    <p:extLst>
      <p:ext uri="{BB962C8B-B14F-4D97-AF65-F5344CB8AC3E}">
        <p14:creationId xmlns:p14="http://schemas.microsoft.com/office/powerpoint/2010/main" val="841915387"/>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Slide-Number-Placeholder-1-2">
            <a:extLst xmlns:a="http://schemas.openxmlformats.org/drawingml/2006/main">
              <a:ext uri="{FF2B5EF4-FFF2-40B4-BE49-F238E27FC236}">
                <a16:creationId xmlns:a16="http://schemas.microsoft.com/office/drawing/2014/main" id="{C9FAFABC-943F-477E-A996-3D3884AF87C8}"/>
              </a:ext>
            </a:extLst>
          </p:cNvPr>
          <p:cNvSpPr>
            <a:spLocks xmlns:a="http://schemas.openxmlformats.org/drawingml/2006/main" noGrp="1"/>
          </p:cNvSpPr>
          <p:nvPr/>
        </p:nvSpPr>
        <p:spPr>
          <a:xfrm xmlns:a="http://schemas.openxmlformats.org/drawingml/2006/main">
            <a:off x="11279219" y="6278594"/>
            <a:ext cx="519113" cy="241268"/>
          </a:xfrm>
          <a:prstGeom xmlns:a="http://schemas.openxmlformats.org/drawingml/2006/main" prst="rect">
            <a:avLst/>
          </a:prstGeom>
        </p:spPr>
        <p:txBody>
          <a:bodyPr xmlns:a="http://schemas.openxmlformats.org/drawingml/2006/main" lIns="0" tIns="0" rIns="0" bIns="0" anchor="b"/>
          <a:lstStyle xmlns:a="http://schemas.openxmlformats.org/drawingml/2006/main"/>
          <a:p xmlns:a="http://schemas.openxmlformats.org/drawingml/2006/main">
            <a:pPr algn="r">
              <a:lnSpc>
                <a:spcPct val="108000"/>
              </a:lnSpc>
              <a:spcBef>
                <a:spcPts val="0"/>
              </a:spcBef>
              <a:spcAft>
                <a:spcPts val="0"/>
              </a:spcAft>
              <a:buNone/>
              <a:defRPr sz="1000">
                <a:solidFill>
                  <a:srgbClr val="000000"/>
                </a:solidFill>
                <a:latin typeface="Helvetica Neue"/>
                <a:ea typeface="Helvetica Neue"/>
                <a:cs typeface="Helvetica Neue"/>
              </a:defRPr>
            </a:pPr>
            <a:r>
              <a:rPr sz="1050" b="0">
                <a:solidFill>
                  <a:srgbClr val="5C6368"/>
                </a:solidFill>
                <a:latin typeface="Helvetica Neue"/>
                <a:ea typeface="Helvetica Neue"/>
                <a:cs typeface="Helvetica Neue"/>
              </a:rPr>
              <a:t>03</a:t>
            </a:r>
          </a:p>
        </p:txBody>
      </p:sp>
      <p:sp>
        <p:nvSpPr>
          <p:cNvPr id="2" name="Title-2-3">
            <a:extLst xmlns:a="http://schemas.openxmlformats.org/drawingml/2006/main">
              <a:ext uri="{FF2B5EF4-FFF2-40B4-BE49-F238E27FC236}">
                <a16:creationId xmlns:a16="http://schemas.microsoft.com/office/drawing/2014/main" id="{05919C4F-A438-420F-BF33-8F76E7234839}"/>
              </a:ext>
            </a:extLst>
          </p:cNvPr>
          <p:cNvSpPr>
            <a:spLocks xmlns:a="http://schemas.openxmlformats.org/drawingml/2006/main" noGrp="1"/>
          </p:cNvSpPr>
          <p:nvPr/>
        </p:nvSpPr>
        <p:spPr>
          <a:xfrm xmlns:a="http://schemas.openxmlformats.org/drawingml/2006/main">
            <a:off x="393668" y="344043"/>
            <a:ext cx="11404568" cy="1047464"/>
          </a:xfrm>
          <a:prstGeom xmlns:a="http://schemas.openxmlformats.org/drawingml/2006/main" prst="rect">
            <a:avLst/>
          </a:prstGeom>
        </p:spPr>
        <p:txBody>
          <a:bodyPr xmlns:a="http://schemas.openxmlformats.org/drawingml/2006/main" lIns="0" tIns="0" rIns="0" bIns="0" anchor="t">
            <a:normAutofit fontScale="99437"/>
          </a:bodyPr>
          <a:lstStyle xmlns:a="http://schemas.openxmlformats.org/drawingml/2006/main"/>
          <a:p xmlns:a="http://schemas.openxmlformats.org/drawingml/2006/main">
            <a:pPr algn="l">
              <a:lnSpc>
                <a:spcPct val="96000"/>
              </a:lnSpc>
              <a:spcBef>
                <a:spcPts val="0"/>
              </a:spcBef>
              <a:spcAft>
                <a:spcPts val="0"/>
              </a:spcAft>
              <a:buNone/>
              <a:defRPr sz="2900">
                <a:solidFill>
                  <a:srgbClr val="000000"/>
                </a:solidFill>
                <a:latin typeface="Helvetica Neue"/>
                <a:ea typeface="Helvetica Neue"/>
                <a:cs typeface="Helvetica Neue"/>
              </a:defRPr>
            </a:pPr>
            <a:r>
              <a:rPr sz="3600" b="1">
                <a:solidFill>
                  <a:srgbClr val="0B0D0E"/>
                </a:solidFill>
                <a:latin typeface="Helvetica Neue"/>
                <a:ea typeface="Helvetica Neue"/>
                <a:cs typeface="Helvetica Neue"/>
              </a:rPr>
              <a:t>The creator market is large. Attention and loyalty are scarce.</a:t>
            </a:r>
          </a:p>
        </p:txBody>
      </p:sp>
      <p:sp>
        <p:nvSpPr>
          <p:cNvPr id="3" name="Content-Placeholder-9-4">
            <a:extLst xmlns:a="http://schemas.openxmlformats.org/drawingml/2006/main">
              <a:ext uri="{FF2B5EF4-FFF2-40B4-BE49-F238E27FC236}">
                <a16:creationId xmlns:a16="http://schemas.microsoft.com/office/drawing/2014/main" id="{901617FF-52A9-452F-9AD2-067D3DC92279}"/>
              </a:ext>
            </a:extLst>
          </p:cNvPr>
          <p:cNvSpPr>
            <a:spLocks xmlns:a="http://schemas.openxmlformats.org/drawingml/2006/main" noGrp="1"/>
          </p:cNvSpPr>
          <p:nvPr/>
        </p:nvSpPr>
        <p:spPr>
          <a:xfrm xmlns:a="http://schemas.openxmlformats.org/drawingml/2006/main">
            <a:off x="393668" y="2031968"/>
            <a:ext cx="5537168" cy="1643063"/>
          </a:xfrm>
          <a:prstGeom xmlns:a="http://schemas.openxmlformats.org/drawingml/2006/main" prst="rect">
            <a:avLst/>
          </a:prstGeom>
        </p:spPr>
        <p:txBody>
          <a:bodyPr xmlns:a="http://schemas.openxmlformats.org/drawingml/2006/main" lIns="91440" tIns="45720" rIns="91440" bIns="45720"/>
          <a:lstStyle xmlns:a="http://schemas.openxmlformats.org/drawingml/2006/main"/>
          <a:p xmlns:a="http://schemas.openxmlformats.org/drawingml/2006/main">
            <a:pPr algn="l">
              <a:lnSpc>
                <a:spcPct val="108000"/>
              </a:lnSpc>
              <a:spcBef>
                <a:spcPts val="0"/>
              </a:spcBef>
              <a:spcAft>
                <a:spcPts val="800"/>
              </a:spcAft>
              <a:buNone/>
              <a:defRPr sz="2400">
                <a:solidFill>
                  <a:srgbClr val="000000"/>
                </a:solidFill>
                <a:latin typeface="Helvetica Neue"/>
                <a:ea typeface="Helvetica Neue"/>
                <a:cs typeface="Helvetica Neue"/>
              </a:defRPr>
            </a:pPr>
            <a:r>
              <a:rPr sz="3000" b="1">
                <a:solidFill>
                  <a:srgbClr val="B53E31"/>
                </a:solidFill>
                <a:latin typeface="Helvetica Neue"/>
                <a:ea typeface="Helvetica Neue"/>
                <a:cs typeface="Helvetica Neue"/>
              </a:rPr>
              <a:t>500 hrs/min</a:t>
            </a:r>
          </a:p>
          <a:p xmlns:a="http://schemas.openxmlformats.org/drawingml/2006/main">
            <a:pPr algn="l">
              <a:lnSpc>
                <a:spcPct val="108000"/>
              </a:lnSpc>
              <a:spcBef>
                <a:spcPts val="0"/>
              </a:spcBef>
              <a:spcAft>
                <a:spcPts val="0"/>
              </a:spcAft>
              <a:buNone/>
              <a:defRPr sz="2400">
                <a:solidFill>
                  <a:srgbClr val="000000"/>
                </a:solidFill>
                <a:latin typeface="Helvetica Neue"/>
                <a:ea typeface="Helvetica Neue"/>
                <a:cs typeface="Helvetica Neue"/>
              </a:defRPr>
            </a:pPr>
            <a:r>
              <a:rPr sz="1650" b="0">
                <a:solidFill>
                  <a:srgbClr val="5C6368"/>
                </a:solidFill>
                <a:latin typeface="Helvetica Neue"/>
                <a:ea typeface="Helvetica Neue"/>
                <a:cs typeface="Helvetica Neue"/>
              </a:rPr>
              <a:t>of new video is uploaded to YouTube.</a:t>
            </a:r>
          </a:p>
        </p:txBody>
      </p:sp>
      <p:sp>
        <p:nvSpPr>
          <p:cNvPr id="4" name="Content-Placeholder-10-5">
            <a:extLst xmlns:a="http://schemas.openxmlformats.org/drawingml/2006/main">
              <a:ext uri="{FF2B5EF4-FFF2-40B4-BE49-F238E27FC236}">
                <a16:creationId xmlns:a16="http://schemas.microsoft.com/office/drawing/2014/main" id="{F8330DD6-4095-43BD-B226-BA142E323CF6}"/>
              </a:ext>
            </a:extLst>
          </p:cNvPr>
          <p:cNvSpPr>
            <a:spLocks xmlns:a="http://schemas.openxmlformats.org/drawingml/2006/main" noGrp="1"/>
          </p:cNvSpPr>
          <p:nvPr/>
        </p:nvSpPr>
        <p:spPr>
          <a:xfrm xmlns:a="http://schemas.openxmlformats.org/drawingml/2006/main">
            <a:off x="6256592" y="2031968"/>
            <a:ext cx="5537168" cy="1643063"/>
          </a:xfrm>
          <a:prstGeom xmlns:a="http://schemas.openxmlformats.org/drawingml/2006/main" prst="rect">
            <a:avLst/>
          </a:prstGeom>
        </p:spPr>
        <p:txBody>
          <a:bodyPr xmlns:a="http://schemas.openxmlformats.org/drawingml/2006/main" lIns="91440" tIns="45720" rIns="91440" bIns="45720"/>
          <a:lstStyle xmlns:a="http://schemas.openxmlformats.org/drawingml/2006/main"/>
          <a:p xmlns:a="http://schemas.openxmlformats.org/drawingml/2006/main">
            <a:pPr algn="l">
              <a:lnSpc>
                <a:spcPct val="108000"/>
              </a:lnSpc>
              <a:spcBef>
                <a:spcPts val="0"/>
              </a:spcBef>
              <a:spcAft>
                <a:spcPts val="800"/>
              </a:spcAft>
              <a:buNone/>
              <a:defRPr sz="2400">
                <a:solidFill>
                  <a:srgbClr val="000000"/>
                </a:solidFill>
                <a:latin typeface="Helvetica Neue"/>
                <a:ea typeface="Helvetica Neue"/>
                <a:cs typeface="Helvetica Neue"/>
              </a:defRPr>
            </a:pPr>
            <a:r>
              <a:rPr sz="3000" b="1">
                <a:solidFill>
                  <a:srgbClr val="B53E31"/>
                </a:solidFill>
                <a:latin typeface="Helvetica Neue"/>
                <a:ea typeface="Helvetica Neue"/>
                <a:cs typeface="Helvetica Neue"/>
              </a:rPr>
              <a:t>&lt;1%</a:t>
            </a:r>
          </a:p>
          <a:p xmlns:a="http://schemas.openxmlformats.org/drawingml/2006/main">
            <a:pPr algn="l">
              <a:lnSpc>
                <a:spcPct val="108000"/>
              </a:lnSpc>
              <a:spcBef>
                <a:spcPts val="0"/>
              </a:spcBef>
              <a:spcAft>
                <a:spcPts val="0"/>
              </a:spcAft>
              <a:buNone/>
              <a:defRPr sz="2400">
                <a:solidFill>
                  <a:srgbClr val="000000"/>
                </a:solidFill>
                <a:latin typeface="Helvetica Neue"/>
                <a:ea typeface="Helvetica Neue"/>
                <a:cs typeface="Helvetica Neue"/>
              </a:defRPr>
            </a:pPr>
            <a:r>
              <a:rPr sz="1650" b="0">
                <a:solidFill>
                  <a:srgbClr val="5C6368"/>
                </a:solidFill>
                <a:latin typeface="Helvetica Neue"/>
                <a:ea typeface="Helvetica Neue"/>
                <a:cs typeface="Helvetica Neue"/>
              </a:rPr>
              <a:t>regular viewers can make up less than 1% of viewers on newer or Shorts-heavy channels.</a:t>
            </a:r>
          </a:p>
        </p:txBody>
      </p:sp>
      <p:sp>
        <p:nvSpPr>
          <p:cNvPr id="5" name="Content-Placeholder-9-6">
            <a:extLst xmlns:a="http://schemas.openxmlformats.org/drawingml/2006/main">
              <a:ext uri="{FF2B5EF4-FFF2-40B4-BE49-F238E27FC236}">
                <a16:creationId xmlns:a16="http://schemas.microsoft.com/office/drawing/2014/main" id="{C07AC2BC-FFBD-47D7-9832-35CC252450D1}"/>
              </a:ext>
            </a:extLst>
          </p:cNvPr>
          <p:cNvSpPr>
            <a:spLocks xmlns:a="http://schemas.openxmlformats.org/drawingml/2006/main" noGrp="1"/>
          </p:cNvSpPr>
          <p:nvPr/>
        </p:nvSpPr>
        <p:spPr>
          <a:xfrm xmlns:a="http://schemas.openxmlformats.org/drawingml/2006/main">
            <a:off x="393668" y="4016978"/>
            <a:ext cx="5537168" cy="1643158"/>
          </a:xfrm>
          <a:prstGeom xmlns:a="http://schemas.openxmlformats.org/drawingml/2006/main" prst="rect">
            <a:avLst/>
          </a:prstGeom>
        </p:spPr>
        <p:txBody>
          <a:bodyPr xmlns:a="http://schemas.openxmlformats.org/drawingml/2006/main" lIns="0" tIns="0" rIns="0" bIns="0">
            <a:normAutofit fontScale="100000"/>
          </a:bodyPr>
          <a:lstStyle xmlns:a="http://schemas.openxmlformats.org/drawingml/2006/main"/>
          <a:p xmlns:a="http://schemas.openxmlformats.org/drawingml/2006/main">
            <a:pPr algn="l">
              <a:lnSpc>
                <a:spcPct val="108000"/>
              </a:lnSpc>
              <a:spcBef>
                <a:spcPts val="0"/>
              </a:spcBef>
              <a:spcAft>
                <a:spcPts val="800"/>
              </a:spcAft>
              <a:buNone/>
              <a:defRPr sz="2400">
                <a:solidFill>
                  <a:srgbClr val="000000"/>
                </a:solidFill>
                <a:latin typeface="Helvetica Neue"/>
                <a:ea typeface="Helvetica Neue"/>
                <a:cs typeface="Helvetica Neue"/>
              </a:defRPr>
            </a:pPr>
            <a:r>
              <a:rPr sz="3000" b="1">
                <a:solidFill>
                  <a:srgbClr val="B53E31"/>
                </a:solidFill>
                <a:latin typeface="Helvetica Neue"/>
                <a:ea typeface="Helvetica Neue"/>
                <a:cs typeface="Helvetica Neue"/>
              </a:rPr>
              <a:t>$44B</a:t>
            </a:r>
          </a:p>
          <a:p xmlns:a="http://schemas.openxmlformats.org/drawingml/2006/main">
            <a:pPr algn="l">
              <a:lnSpc>
                <a:spcPct val="108000"/>
              </a:lnSpc>
              <a:spcBef>
                <a:spcPts val="0"/>
              </a:spcBef>
              <a:spcAft>
                <a:spcPts val="0"/>
              </a:spcAft>
              <a:buNone/>
              <a:defRPr sz="2400">
                <a:solidFill>
                  <a:srgbClr val="000000"/>
                </a:solidFill>
                <a:latin typeface="Helvetica Neue"/>
                <a:ea typeface="Helvetica Neue"/>
                <a:cs typeface="Helvetica Neue"/>
              </a:defRPr>
            </a:pPr>
            <a:r>
              <a:rPr sz="1650" b="0">
                <a:solidFill>
                  <a:srgbClr val="5C6368"/>
                </a:solidFill>
                <a:latin typeface="Helvetica Neue"/>
                <a:ea typeface="Helvetica Neue"/>
                <a:cs typeface="Helvetica Neue"/>
              </a:rPr>
              <a:t>projected U.S. creator ad spend in 2026.</a:t>
            </a:r>
          </a:p>
        </p:txBody>
      </p:sp>
      <p:sp>
        <p:nvSpPr>
          <p:cNvPr id="6" name="Content-Placeholder-10-7">
            <a:extLst xmlns:a="http://schemas.openxmlformats.org/drawingml/2006/main">
              <a:ext uri="{FF2B5EF4-FFF2-40B4-BE49-F238E27FC236}">
                <a16:creationId xmlns:a16="http://schemas.microsoft.com/office/drawing/2014/main" id="{1DD80551-BCA1-45EA-8BB5-1AA1E7704E9A}"/>
              </a:ext>
            </a:extLst>
          </p:cNvPr>
          <p:cNvSpPr>
            <a:spLocks xmlns:a="http://schemas.openxmlformats.org/drawingml/2006/main" noGrp="1"/>
          </p:cNvSpPr>
          <p:nvPr/>
        </p:nvSpPr>
        <p:spPr>
          <a:xfrm xmlns:a="http://schemas.openxmlformats.org/drawingml/2006/main">
            <a:off x="6256592" y="4016978"/>
            <a:ext cx="5537168" cy="1643158"/>
          </a:xfrm>
          <a:prstGeom xmlns:a="http://schemas.openxmlformats.org/drawingml/2006/main" prst="rect">
            <a:avLst/>
          </a:prstGeom>
        </p:spPr>
        <p:txBody>
          <a:bodyPr xmlns:a="http://schemas.openxmlformats.org/drawingml/2006/main" lIns="0" tIns="0" rIns="0" bIns="0">
            <a:normAutofit fontScale="100000"/>
          </a:bodyPr>
          <a:lstStyle xmlns:a="http://schemas.openxmlformats.org/drawingml/2006/main"/>
          <a:p xmlns:a="http://schemas.openxmlformats.org/drawingml/2006/main">
            <a:pPr algn="l">
              <a:lnSpc>
                <a:spcPct val="108000"/>
              </a:lnSpc>
              <a:spcBef>
                <a:spcPts val="0"/>
              </a:spcBef>
              <a:spcAft>
                <a:spcPts val="800"/>
              </a:spcAft>
              <a:buNone/>
              <a:defRPr sz="2400">
                <a:solidFill>
                  <a:srgbClr val="000000"/>
                </a:solidFill>
                <a:latin typeface="Helvetica Neue"/>
                <a:ea typeface="Helvetica Neue"/>
                <a:cs typeface="Helvetica Neue"/>
              </a:defRPr>
            </a:pPr>
            <a:r>
              <a:rPr sz="3000" b="1">
                <a:solidFill>
                  <a:srgbClr val="B53E31"/>
                </a:solidFill>
                <a:latin typeface="Helvetica Neue"/>
                <a:ea typeface="Helvetica Neue"/>
                <a:cs typeface="Helvetica Neue"/>
              </a:rPr>
              <a:t>~4%</a:t>
            </a:r>
          </a:p>
          <a:p xmlns:a="http://schemas.openxmlformats.org/drawingml/2006/main">
            <a:pPr algn="l">
              <a:lnSpc>
                <a:spcPct val="108000"/>
              </a:lnSpc>
              <a:spcBef>
                <a:spcPts val="0"/>
              </a:spcBef>
              <a:spcAft>
                <a:spcPts val="0"/>
              </a:spcAft>
              <a:buNone/>
              <a:defRPr sz="2400">
                <a:solidFill>
                  <a:srgbClr val="000000"/>
                </a:solidFill>
                <a:latin typeface="Helvetica Neue"/>
                <a:ea typeface="Helvetica Neue"/>
                <a:cs typeface="Helvetica Neue"/>
              </a:defRPr>
            </a:pPr>
            <a:r>
              <a:rPr sz="1650" b="0">
                <a:solidFill>
                  <a:srgbClr val="5C6368"/>
                </a:solidFill>
                <a:latin typeface="Helvetica Neue"/>
                <a:ea typeface="Helvetica Neue"/>
                <a:cs typeface="Helvetica Neue"/>
              </a:rPr>
              <a:t>of global creators earn more than $100,000 a year.</a:t>
            </a:r>
          </a:p>
        </p:txBody>
      </p:sp>
      <p:sp>
        <p:nvSpPr>
          <p:cNvPr id="7" name="afterplay-accent-rule">
            <a:extLst xmlns:a="http://schemas.openxmlformats.org/drawingml/2006/main">
              <a:ext uri="{FF2B5EF4-FFF2-40B4-BE49-F238E27FC236}">
                <a16:creationId xmlns:a16="http://schemas.microsoft.com/office/drawing/2014/main" id="{7F54DEF8-5AB4-49AB-A22C-23A7EFD45B3D}"/>
              </a:ext>
            </a:extLst>
          </p:cNvPr>
          <p:cNvSpPr>
            <a:spLocks xmlns:a="http://schemas.openxmlformats.org/drawingml/2006/main" noGrp="1"/>
          </p:cNvSpPr>
          <p:nvPr/>
        </p:nvSpPr>
        <p:spPr>
          <a:xfrm xmlns:a="http://schemas.openxmlformats.org/drawingml/2006/main">
            <a:off x="393668" y="1457325"/>
            <a:ext cx="876300" cy="57150"/>
          </a:xfrm>
          <a:prstGeom xmlns:a="http://schemas.openxmlformats.org/drawingml/2006/main" prst="rect">
            <a:avLst/>
          </a:prstGeom>
          <a:solidFill xmlns:a="http://schemas.openxmlformats.org/drawingml/2006/main">
            <a:srgbClr val="FF6B57"/>
          </a:solidFill>
          <a:ln xmlns:a="http://schemas.openxmlformats.org/drawingml/2006/main" w="0">
            <a:solidFill>
              <a:srgbClr val="FF6B57"/>
            </a:solidFill>
            <a:prstDash val="solid"/>
          </a:ln>
        </p:spPr>
      </p:sp>
      <p:sp>
        <p:nvSpPr>
          <p:cNvPr id="8" name="evidence-source-footer">
            <a:extLst xmlns:a="http://schemas.openxmlformats.org/drawingml/2006/main">
              <a:ext uri="{FF2B5EF4-FFF2-40B4-BE49-F238E27FC236}">
                <a16:creationId xmlns:a16="http://schemas.microsoft.com/office/drawing/2014/main" id="{D4349321-A81B-46BD-98A0-BD863A2E060D}"/>
              </a:ext>
            </a:extLst>
          </p:cNvPr>
          <p:cNvSpPr>
            <a:spLocks xmlns:a="http://schemas.openxmlformats.org/drawingml/2006/main" noGrp="1"/>
          </p:cNvSpPr>
          <p:nvPr/>
        </p:nvSpPr>
        <p:spPr>
          <a:xfrm xmlns:a="http://schemas.openxmlformats.org/drawingml/2006/main">
            <a:off x="393668" y="5867400"/>
            <a:ext cx="10001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975" b="0">
                <a:solidFill>
                  <a:srgbClr val="5C6368"/>
                </a:solidFill>
              </a:defRPr>
            </a:pPr>
            <a:r>
              <a:rPr sz="975" b="0">
                <a:solidFill>
                  <a:srgbClr val="5C6368"/>
                </a:solidFill>
              </a:rPr>
              <a:t>Sources: YouTube Blog and Help · IAB 2025 Creator Economy Report · Goldman Sachs Research</a:t>
            </a:r>
          </a:p>
        </p:txBody>
      </p:sp>
      <p:sp>
        <p:nvSpPr>
          <p:cNvPr id="9" name="afterplay-coral-mark">
            <a:extLst xmlns:a="http://schemas.openxmlformats.org/drawingml/2006/main">
              <a:ext uri="{FF2B5EF4-FFF2-40B4-BE49-F238E27FC236}">
                <a16:creationId xmlns:a16="http://schemas.microsoft.com/office/drawing/2014/main" id="{3CA96C7C-586F-41F8-994C-E50FC6E00FC5}"/>
              </a:ext>
            </a:extLst>
          </p:cNvPr>
          <p:cNvSpPr>
            <a:spLocks xmlns:a="http://schemas.openxmlformats.org/drawingml/2006/main" noGrp="1"/>
          </p:cNvSpPr>
          <p:nvPr/>
        </p:nvSpPr>
        <p:spPr>
          <a:xfrm xmlns:a="http://schemas.openxmlformats.org/drawingml/2006/main">
            <a:off x="393668" y="6343650"/>
            <a:ext cx="95250" cy="95250"/>
          </a:xfrm>
          <a:prstGeom xmlns:a="http://schemas.openxmlformats.org/drawingml/2006/main" prst="rect">
            <a:avLst/>
          </a:prstGeom>
          <a:solidFill xmlns:a="http://schemas.openxmlformats.org/drawingml/2006/main">
            <a:srgbClr val="FF6B57"/>
          </a:solidFill>
          <a:ln xmlns:a="http://schemas.openxmlformats.org/drawingml/2006/main" w="0">
            <a:solidFill>
              <a:srgbClr val="FF6B57"/>
            </a:solidFill>
            <a:prstDash val="solid"/>
          </a:ln>
        </p:spPr>
      </p:sp>
      <p:sp>
        <p:nvSpPr>
          <p:cNvPr id="10" name="afterplay-wordmark">
            <a:extLst xmlns:a="http://schemas.openxmlformats.org/drawingml/2006/main">
              <a:ext uri="{FF2B5EF4-FFF2-40B4-BE49-F238E27FC236}">
                <a16:creationId xmlns:a16="http://schemas.microsoft.com/office/drawing/2014/main" id="{444F8E6D-195D-4AAB-BCBC-24E36E038D54}"/>
              </a:ext>
            </a:extLst>
          </p:cNvPr>
          <p:cNvSpPr>
            <a:spLocks xmlns:a="http://schemas.openxmlformats.org/drawingml/2006/main" noGrp="1"/>
          </p:cNvSpPr>
          <p:nvPr/>
        </p:nvSpPr>
        <p:spPr>
          <a:xfrm xmlns:a="http://schemas.openxmlformats.org/drawingml/2006/main">
            <a:off x="552450" y="6267450"/>
            <a:ext cx="114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050" b="1">
                <a:solidFill>
                  <a:srgbClr val="5C6368"/>
                </a:solidFill>
              </a:defRPr>
            </a:pPr>
            <a:r>
              <a:rPr sz="1050" b="1">
                <a:solidFill>
                  <a:srgbClr val="5C6368"/>
                </a:solidFill>
              </a:rPr>
              <a:t>AFTERPLAY</a:t>
            </a:r>
          </a:p>
        </p:txBody>
      </p:sp>
    </p:spTree>
    <p:extLst>
      <p:ext uri="{BB962C8B-B14F-4D97-AF65-F5344CB8AC3E}">
        <p14:creationId xmlns:p14="http://schemas.microsoft.com/office/powerpoint/2010/main" val="1027383463"/>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Rounded-Rectangle-5-1">
            <a:extLst xmlns:a="http://schemas.openxmlformats.org/drawingml/2006/main">
              <a:ext uri="{FF2B5EF4-FFF2-40B4-BE49-F238E27FC236}">
                <a16:creationId xmlns:a16="http://schemas.microsoft.com/office/drawing/2014/main" id="{AA68F9BF-4237-46D4-8389-4CC4050A2A72}"/>
              </a:ext>
            </a:extLst>
          </p:cNvPr>
          <p:cNvSpPr>
            <a:spLocks xmlns:a="http://schemas.openxmlformats.org/drawingml/2006/main" noGrp="1"/>
          </p:cNvSpPr>
          <p:nvPr/>
        </p:nvSpPr>
        <p:spPr>
          <a:xfrm xmlns:a="http://schemas.openxmlformats.org/drawingml/2006/main">
            <a:off x="393668" y="3022568"/>
            <a:ext cx="3568732" cy="2971800"/>
          </a:xfrm>
          <a:prstGeom xmlns:a="http://schemas.openxmlformats.org/drawingml/2006/main" prst="roundRect">
            <a:avLst>
              <a:gd name="adj" fmla="val 2564"/>
            </a:avLst>
          </a:prstGeom>
          <a:solidFill xmlns:a="http://schemas.openxmlformats.org/drawingml/2006/main">
            <a:srgbClr val="F2F2F2"/>
          </a:solidFill>
        </p:spPr>
      </p:sp>
      <p:sp>
        <p:nvSpPr>
          <p:cNvPr id="2" name="Rounded-Rectangle-6-2">
            <a:extLst xmlns:a="http://schemas.openxmlformats.org/drawingml/2006/main">
              <a:ext uri="{FF2B5EF4-FFF2-40B4-BE49-F238E27FC236}">
                <a16:creationId xmlns:a16="http://schemas.microsoft.com/office/drawing/2014/main" id="{97DBD756-1D66-4354-8D60-CD84A31A8702}"/>
              </a:ext>
            </a:extLst>
          </p:cNvPr>
          <p:cNvSpPr>
            <a:spLocks xmlns:a="http://schemas.openxmlformats.org/drawingml/2006/main" noGrp="1"/>
          </p:cNvSpPr>
          <p:nvPr/>
        </p:nvSpPr>
        <p:spPr>
          <a:xfrm xmlns:a="http://schemas.openxmlformats.org/drawingml/2006/main">
            <a:off x="4311682" y="3022568"/>
            <a:ext cx="3568732" cy="2971800"/>
          </a:xfrm>
          <a:prstGeom xmlns:a="http://schemas.openxmlformats.org/drawingml/2006/main" prst="roundRect">
            <a:avLst>
              <a:gd name="adj" fmla="val 2564"/>
            </a:avLst>
          </a:prstGeom>
          <a:solidFill xmlns:a="http://schemas.openxmlformats.org/drawingml/2006/main">
            <a:srgbClr val="F2F2F2"/>
          </a:solidFill>
        </p:spPr>
      </p:sp>
      <p:sp>
        <p:nvSpPr>
          <p:cNvPr id="3" name="Rounded-Rectangle-7-3">
            <a:extLst xmlns:a="http://schemas.openxmlformats.org/drawingml/2006/main">
              <a:ext uri="{FF2B5EF4-FFF2-40B4-BE49-F238E27FC236}">
                <a16:creationId xmlns:a16="http://schemas.microsoft.com/office/drawing/2014/main" id="{4A09EAD6-8143-4335-A9E3-9887EC080E64}"/>
              </a:ext>
            </a:extLst>
          </p:cNvPr>
          <p:cNvSpPr>
            <a:spLocks xmlns:a="http://schemas.openxmlformats.org/drawingml/2006/main" noGrp="1"/>
          </p:cNvSpPr>
          <p:nvPr/>
        </p:nvSpPr>
        <p:spPr>
          <a:xfrm xmlns:a="http://schemas.openxmlformats.org/drawingml/2006/main">
            <a:off x="8232267" y="3022568"/>
            <a:ext cx="3568732" cy="2971800"/>
          </a:xfrm>
          <a:prstGeom xmlns:a="http://schemas.openxmlformats.org/drawingml/2006/main" prst="roundRect">
            <a:avLst>
              <a:gd name="adj" fmla="val 2564"/>
            </a:avLst>
          </a:prstGeom>
          <a:solidFill xmlns:a="http://schemas.openxmlformats.org/drawingml/2006/main">
            <a:srgbClr val="F2F2F2"/>
          </a:solidFill>
        </p:spPr>
      </p:sp>
      <p:sp>
        <p:nvSpPr>
          <p:cNvPr id="4" name="Slide-Number-Placeholder-1-4">
            <a:extLst xmlns:a="http://schemas.openxmlformats.org/drawingml/2006/main">
              <a:ext uri="{FF2B5EF4-FFF2-40B4-BE49-F238E27FC236}">
                <a16:creationId xmlns:a16="http://schemas.microsoft.com/office/drawing/2014/main" id="{17ECB0BA-4BB9-480E-8491-FA778352ED55}"/>
              </a:ext>
            </a:extLst>
          </p:cNvPr>
          <p:cNvSpPr>
            <a:spLocks xmlns:a="http://schemas.openxmlformats.org/drawingml/2006/main" noGrp="1"/>
          </p:cNvSpPr>
          <p:nvPr/>
        </p:nvSpPr>
        <p:spPr>
          <a:xfrm xmlns:a="http://schemas.openxmlformats.org/drawingml/2006/main">
            <a:off x="11279315" y="6279261"/>
            <a:ext cx="518922" cy="241268"/>
          </a:xfrm>
          <a:prstGeom xmlns:a="http://schemas.openxmlformats.org/drawingml/2006/main" prst="rect">
            <a:avLst/>
          </a:prstGeom>
        </p:spPr>
        <p:txBody>
          <a:bodyPr xmlns:a="http://schemas.openxmlformats.org/drawingml/2006/main" lIns="0" tIns="0" rIns="0" bIns="0" anchor="b"/>
          <a:lstStyle xmlns:a="http://schemas.openxmlformats.org/drawingml/2006/main"/>
          <a:p xmlns:a="http://schemas.openxmlformats.org/drawingml/2006/main">
            <a:pPr algn="r">
              <a:lnSpc>
                <a:spcPct val="108000"/>
              </a:lnSpc>
              <a:spcBef>
                <a:spcPts val="0"/>
              </a:spcBef>
              <a:spcAft>
                <a:spcPts val="0"/>
              </a:spcAft>
              <a:buNone/>
              <a:defRPr sz="1000">
                <a:solidFill>
                  <a:srgbClr val="000000"/>
                </a:solidFill>
                <a:latin typeface="Helvetica Neue"/>
                <a:ea typeface="Helvetica Neue"/>
                <a:cs typeface="Helvetica Neue"/>
              </a:defRPr>
            </a:pPr>
            <a:r>
              <a:rPr sz="1050" b="0">
                <a:solidFill>
                  <a:srgbClr val="5C6368"/>
                </a:solidFill>
                <a:latin typeface="Helvetica Neue"/>
                <a:ea typeface="Helvetica Neue"/>
                <a:cs typeface="Helvetica Neue"/>
              </a:rPr>
              <a:t>04</a:t>
            </a:r>
          </a:p>
        </p:txBody>
      </p:sp>
      <p:sp>
        <p:nvSpPr>
          <p:cNvPr id="5" name="Title-2-5">
            <a:extLst xmlns:a="http://schemas.openxmlformats.org/drawingml/2006/main">
              <a:ext uri="{FF2B5EF4-FFF2-40B4-BE49-F238E27FC236}">
                <a16:creationId xmlns:a16="http://schemas.microsoft.com/office/drawing/2014/main" id="{599F0DD2-1B4A-4B29-9EF9-A60B5AB82257}"/>
              </a:ext>
            </a:extLst>
          </p:cNvPr>
          <p:cNvSpPr>
            <a:spLocks xmlns:a="http://schemas.openxmlformats.org/drawingml/2006/main" noGrp="1"/>
          </p:cNvSpPr>
          <p:nvPr/>
        </p:nvSpPr>
        <p:spPr>
          <a:xfrm xmlns:a="http://schemas.openxmlformats.org/drawingml/2006/main">
            <a:off x="393668" y="344043"/>
            <a:ext cx="11404568" cy="1047464"/>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96000"/>
              </a:lnSpc>
              <a:spcBef>
                <a:spcPts val="0"/>
              </a:spcBef>
              <a:spcAft>
                <a:spcPts val="0"/>
              </a:spcAft>
              <a:buNone/>
              <a:defRPr sz="2900">
                <a:solidFill>
                  <a:srgbClr val="000000"/>
                </a:solidFill>
                <a:latin typeface="Helvetica Neue"/>
                <a:ea typeface="Helvetica Neue"/>
                <a:cs typeface="Helvetica Neue"/>
              </a:defRPr>
            </a:pPr>
            <a:r>
              <a:rPr sz="3600" b="1">
                <a:solidFill>
                  <a:srgbClr val="0B0D0E"/>
                </a:solidFill>
                <a:latin typeface="Helvetica Neue"/>
                <a:ea typeface="Helvetica Neue"/>
                <a:cs typeface="Helvetica Neue"/>
              </a:rPr>
              <a:t>Afterplay is built for growing gaming creators.</a:t>
            </a:r>
          </a:p>
        </p:txBody>
      </p:sp>
      <p:sp>
        <p:nvSpPr>
          <p:cNvPr id="6" name="Content-Placeholder-9-6">
            <a:extLst xmlns:a="http://schemas.openxmlformats.org/drawingml/2006/main">
              <a:ext uri="{FF2B5EF4-FFF2-40B4-BE49-F238E27FC236}">
                <a16:creationId xmlns:a16="http://schemas.microsoft.com/office/drawing/2014/main" id="{5AEBE563-FDA7-4F5B-BC71-EBFA2B2A5638}"/>
              </a:ext>
            </a:extLst>
          </p:cNvPr>
          <p:cNvSpPr>
            <a:spLocks xmlns:a="http://schemas.openxmlformats.org/drawingml/2006/main" noGrp="1"/>
          </p:cNvSpPr>
          <p:nvPr/>
        </p:nvSpPr>
        <p:spPr>
          <a:xfrm xmlns:a="http://schemas.openxmlformats.org/drawingml/2006/main">
            <a:off x="702374" y="4900613"/>
            <a:ext cx="2949607" cy="819150"/>
          </a:xfrm>
          <a:prstGeom xmlns:a="http://schemas.openxmlformats.org/drawingml/2006/main" prst="rect">
            <a:avLst/>
          </a:prstGeom>
        </p:spPr>
        <p:txBody>
          <a:bodyPr xmlns:a="http://schemas.openxmlformats.org/drawingml/2006/main" lIns="91440" tIns="45720" rIns="91440" bIns="45720">
            <a:normAutofit fontScale="100000"/>
          </a:bodyPr>
          <a:lstStyle xmlns:a="http://schemas.openxmlformats.org/drawingml/2006/main"/>
          <a:p xmlns:a="http://schemas.openxmlformats.org/drawingml/2006/main">
            <a:pPr algn="l">
              <a:lnSpc>
                <a:spcPct val="108000"/>
              </a:lnSpc>
              <a:spcBef>
                <a:spcPts val="0"/>
              </a:spcBef>
              <a:spcAft>
                <a:spcPts val="0"/>
              </a:spcAft>
              <a:buNone/>
              <a:defRPr sz="2400">
                <a:solidFill>
                  <a:srgbClr val="000000"/>
                </a:solidFill>
                <a:latin typeface="Helvetica Neue"/>
                <a:ea typeface="Helvetica Neue"/>
                <a:cs typeface="Helvetica Neue"/>
              </a:defRPr>
            </a:pPr>
            <a:r>
              <a:rPr sz="1650" b="0">
                <a:solidFill>
                  <a:srgbClr val="5C6368"/>
                </a:solidFill>
                <a:latin typeface="Helvetica Neue"/>
                <a:ea typeface="Helvetica Neue"/>
                <a:cs typeface="Helvetica Neue"/>
              </a:rPr>
              <a:t>needs a clear next move after each stream</a:t>
            </a:r>
          </a:p>
        </p:txBody>
      </p:sp>
      <p:sp>
        <p:nvSpPr>
          <p:cNvPr id="7" name="Content-Placeholder-10-7">
            <a:extLst xmlns:a="http://schemas.openxmlformats.org/drawingml/2006/main">
              <a:ext uri="{FF2B5EF4-FFF2-40B4-BE49-F238E27FC236}">
                <a16:creationId xmlns:a16="http://schemas.microsoft.com/office/drawing/2014/main" id="{296EFDC8-1D25-4A23-9559-A273DF5D48CD}"/>
              </a:ext>
            </a:extLst>
          </p:cNvPr>
          <p:cNvSpPr>
            <a:spLocks xmlns:a="http://schemas.openxmlformats.org/drawingml/2006/main" noGrp="1"/>
          </p:cNvSpPr>
          <p:nvPr/>
        </p:nvSpPr>
        <p:spPr>
          <a:xfrm xmlns:a="http://schemas.openxmlformats.org/drawingml/2006/main">
            <a:off x="8541830" y="4900613"/>
            <a:ext cx="2949607" cy="819150"/>
          </a:xfrm>
          <a:prstGeom xmlns:a="http://schemas.openxmlformats.org/drawingml/2006/main" prst="rect">
            <a:avLst/>
          </a:prstGeom>
        </p:spPr>
        <p:txBody>
          <a:bodyPr xmlns:a="http://schemas.openxmlformats.org/drawingml/2006/main" lIns="91440" tIns="45720" rIns="91440" bIns="45720">
            <a:normAutofit fontScale="100000"/>
          </a:bodyPr>
          <a:lstStyle xmlns:a="http://schemas.openxmlformats.org/drawingml/2006/main"/>
          <a:p xmlns:a="http://schemas.openxmlformats.org/drawingml/2006/main">
            <a:pPr algn="l">
              <a:lnSpc>
                <a:spcPct val="108000"/>
              </a:lnSpc>
              <a:spcBef>
                <a:spcPts val="0"/>
              </a:spcBef>
              <a:spcAft>
                <a:spcPts val="0"/>
              </a:spcAft>
              <a:buNone/>
              <a:defRPr sz="2400">
                <a:solidFill>
                  <a:srgbClr val="000000"/>
                </a:solidFill>
                <a:latin typeface="Helvetica Neue"/>
                <a:ea typeface="Helvetica Neue"/>
                <a:cs typeface="Helvetica Neue"/>
              </a:defRPr>
            </a:pPr>
            <a:r>
              <a:rPr sz="1650" b="0">
                <a:solidFill>
                  <a:srgbClr val="5C6368"/>
                </a:solidFill>
                <a:latin typeface="Helvetica Neue"/>
                <a:ea typeface="Helvetica Neue"/>
                <a:cs typeface="Helvetica Neue"/>
              </a:rPr>
              <a:t>supports many creators with one repeatable process</a:t>
            </a:r>
          </a:p>
        </p:txBody>
      </p:sp>
      <p:sp>
        <p:nvSpPr>
          <p:cNvPr id="8" name="Content-Placeholder-11-8">
            <a:extLst xmlns:a="http://schemas.openxmlformats.org/drawingml/2006/main">
              <a:ext uri="{FF2B5EF4-FFF2-40B4-BE49-F238E27FC236}">
                <a16:creationId xmlns:a16="http://schemas.microsoft.com/office/drawing/2014/main" id="{A1847440-4384-4ED5-A53D-86D7ECD01A37}"/>
              </a:ext>
            </a:extLst>
          </p:cNvPr>
          <p:cNvSpPr>
            <a:spLocks xmlns:a="http://schemas.openxmlformats.org/drawingml/2006/main" noGrp="1"/>
          </p:cNvSpPr>
          <p:nvPr/>
        </p:nvSpPr>
        <p:spPr>
          <a:xfrm xmlns:a="http://schemas.openxmlformats.org/drawingml/2006/main">
            <a:off x="4621244" y="4900613"/>
            <a:ext cx="2949607" cy="819150"/>
          </a:xfrm>
          <a:prstGeom xmlns:a="http://schemas.openxmlformats.org/drawingml/2006/main" prst="rect">
            <a:avLst/>
          </a:prstGeom>
        </p:spPr>
        <p:txBody>
          <a:bodyPr xmlns:a="http://schemas.openxmlformats.org/drawingml/2006/main" lIns="91440" tIns="45720" rIns="91440" bIns="45720">
            <a:normAutofit fontScale="100000"/>
          </a:bodyPr>
          <a:lstStyle xmlns:a="http://schemas.openxmlformats.org/drawingml/2006/main"/>
          <a:p xmlns:a="http://schemas.openxmlformats.org/drawingml/2006/main">
            <a:pPr algn="l">
              <a:lnSpc>
                <a:spcPct val="108000"/>
              </a:lnSpc>
              <a:spcBef>
                <a:spcPts val="0"/>
              </a:spcBef>
              <a:spcAft>
                <a:spcPts val="0"/>
              </a:spcAft>
              <a:buNone/>
              <a:defRPr sz="2400">
                <a:solidFill>
                  <a:srgbClr val="000000"/>
                </a:solidFill>
                <a:latin typeface="Helvetica Neue"/>
                <a:ea typeface="Helvetica Neue"/>
                <a:cs typeface="Helvetica Neue"/>
              </a:defRPr>
            </a:pPr>
            <a:r>
              <a:rPr sz="1650" b="0">
                <a:solidFill>
                  <a:srgbClr val="5C6368"/>
                </a:solidFill>
                <a:latin typeface="Helvetica Neue"/>
                <a:ea typeface="Helvetica Neue"/>
                <a:cs typeface="Helvetica Neue"/>
              </a:rPr>
              <a:t>reviews evidence, clips, copy, and approvals</a:t>
            </a:r>
          </a:p>
        </p:txBody>
      </p:sp>
      <p:sp>
        <p:nvSpPr>
          <p:cNvPr id="9" name="Content-Placeholder-9-9">
            <a:extLst xmlns:a="http://schemas.openxmlformats.org/drawingml/2006/main">
              <a:ext uri="{FF2B5EF4-FFF2-40B4-BE49-F238E27FC236}">
                <a16:creationId xmlns:a16="http://schemas.microsoft.com/office/drawing/2014/main" id="{AE14C4A8-2EDE-4434-B9ED-78930904CB39}"/>
              </a:ext>
            </a:extLst>
          </p:cNvPr>
          <p:cNvSpPr>
            <a:spLocks xmlns:a="http://schemas.openxmlformats.org/drawingml/2006/main" noGrp="1"/>
          </p:cNvSpPr>
          <p:nvPr/>
        </p:nvSpPr>
        <p:spPr>
          <a:xfrm xmlns:a="http://schemas.openxmlformats.org/drawingml/2006/main">
            <a:off x="702374" y="3429000"/>
            <a:ext cx="2940082" cy="1359313"/>
          </a:xfrm>
          <a:prstGeom xmlns:a="http://schemas.openxmlformats.org/drawingml/2006/main" prst="rect">
            <a:avLst/>
          </a:prstGeom>
        </p:spPr>
        <p:txBody>
          <a:bodyPr xmlns:a="http://schemas.openxmlformats.org/drawingml/2006/main" lIns="0" tIns="0" rIns="0" bIns="0" anchor="b">
            <a:normAutofit fontScale="100000"/>
          </a:bodyPr>
          <a:lstStyle xmlns:a="http://schemas.openxmlformats.org/drawingml/2006/main"/>
          <a:p xmlns:a="http://schemas.openxmlformats.org/drawingml/2006/main">
            <a:pPr algn="l">
              <a:lnSpc>
                <a:spcPct val="108000"/>
              </a:lnSpc>
              <a:spcBef>
                <a:spcPts val="0"/>
              </a:spcBef>
              <a:spcAft>
                <a:spcPts val="0"/>
              </a:spcAft>
              <a:buNone/>
              <a:defRPr sz="2400">
                <a:solidFill>
                  <a:srgbClr val="000000"/>
                </a:solidFill>
                <a:latin typeface="Helvetica Neue"/>
                <a:ea typeface="Helvetica Neue"/>
                <a:cs typeface="Helvetica Neue"/>
              </a:defRPr>
            </a:pPr>
            <a:r>
              <a:rPr sz="4050" b="1">
                <a:solidFill>
                  <a:srgbClr val="0B0D0E"/>
                </a:solidFill>
                <a:latin typeface="Helvetica Neue"/>
                <a:ea typeface="Helvetica Neue"/>
                <a:cs typeface="Helvetica Neue"/>
              </a:rPr>
              <a:t>CREATOR</a:t>
            </a:r>
          </a:p>
        </p:txBody>
      </p:sp>
      <p:sp>
        <p:nvSpPr>
          <p:cNvPr id="10" name="Content-Placeholder-9-10">
            <a:extLst xmlns:a="http://schemas.openxmlformats.org/drawingml/2006/main">
              <a:ext uri="{FF2B5EF4-FFF2-40B4-BE49-F238E27FC236}">
                <a16:creationId xmlns:a16="http://schemas.microsoft.com/office/drawing/2014/main" id="{3654227F-1285-464B-B8B3-EBD210AD121E}"/>
              </a:ext>
            </a:extLst>
          </p:cNvPr>
          <p:cNvSpPr>
            <a:spLocks xmlns:a="http://schemas.openxmlformats.org/drawingml/2006/main" noGrp="1"/>
          </p:cNvSpPr>
          <p:nvPr/>
        </p:nvSpPr>
        <p:spPr>
          <a:xfrm xmlns:a="http://schemas.openxmlformats.org/drawingml/2006/main">
            <a:off x="4612958" y="3429000"/>
            <a:ext cx="2940082" cy="1359313"/>
          </a:xfrm>
          <a:prstGeom xmlns:a="http://schemas.openxmlformats.org/drawingml/2006/main" prst="rect">
            <a:avLst/>
          </a:prstGeom>
        </p:spPr>
        <p:txBody>
          <a:bodyPr xmlns:a="http://schemas.openxmlformats.org/drawingml/2006/main" lIns="0" tIns="0" rIns="0" bIns="0" anchor="b">
            <a:normAutofit fontScale="100000"/>
          </a:bodyPr>
          <a:lstStyle xmlns:a="http://schemas.openxmlformats.org/drawingml/2006/main"/>
          <a:p xmlns:a="http://schemas.openxmlformats.org/drawingml/2006/main">
            <a:pPr algn="l">
              <a:lnSpc>
                <a:spcPct val="108000"/>
              </a:lnSpc>
              <a:spcBef>
                <a:spcPts val="0"/>
              </a:spcBef>
              <a:spcAft>
                <a:spcPts val="0"/>
              </a:spcAft>
              <a:buNone/>
              <a:defRPr sz="2400">
                <a:solidFill>
                  <a:srgbClr val="000000"/>
                </a:solidFill>
                <a:latin typeface="Helvetica Neue"/>
                <a:ea typeface="Helvetica Neue"/>
                <a:cs typeface="Helvetica Neue"/>
              </a:defRPr>
            </a:pPr>
            <a:r>
              <a:rPr sz="4050" b="1">
                <a:solidFill>
                  <a:srgbClr val="0B0D0E"/>
                </a:solidFill>
                <a:latin typeface="Helvetica Neue"/>
                <a:ea typeface="Helvetica Neue"/>
                <a:cs typeface="Helvetica Neue"/>
              </a:rPr>
              <a:t>TEAM</a:t>
            </a:r>
          </a:p>
        </p:txBody>
      </p:sp>
      <p:sp>
        <p:nvSpPr>
          <p:cNvPr id="11" name="Content-Placeholder-9-11">
            <a:extLst xmlns:a="http://schemas.openxmlformats.org/drawingml/2006/main">
              <a:ext uri="{FF2B5EF4-FFF2-40B4-BE49-F238E27FC236}">
                <a16:creationId xmlns:a16="http://schemas.microsoft.com/office/drawing/2014/main" id="{A82545B2-5A98-41D5-932C-6AE74A6BFBE4}"/>
              </a:ext>
            </a:extLst>
          </p:cNvPr>
          <p:cNvSpPr>
            <a:spLocks xmlns:a="http://schemas.openxmlformats.org/drawingml/2006/main" noGrp="1"/>
          </p:cNvSpPr>
          <p:nvPr/>
        </p:nvSpPr>
        <p:spPr>
          <a:xfrm xmlns:a="http://schemas.openxmlformats.org/drawingml/2006/main">
            <a:off x="8562404" y="3429000"/>
            <a:ext cx="2940082" cy="1359313"/>
          </a:xfrm>
          <a:prstGeom xmlns:a="http://schemas.openxmlformats.org/drawingml/2006/main" prst="rect">
            <a:avLst/>
          </a:prstGeom>
        </p:spPr>
        <p:txBody>
          <a:bodyPr xmlns:a="http://schemas.openxmlformats.org/drawingml/2006/main" lIns="0" tIns="0" rIns="0" bIns="0" anchor="b">
            <a:normAutofit fontScale="100000"/>
          </a:bodyPr>
          <a:lstStyle xmlns:a="http://schemas.openxmlformats.org/drawingml/2006/main"/>
          <a:p xmlns:a="http://schemas.openxmlformats.org/drawingml/2006/main">
            <a:pPr algn="l">
              <a:lnSpc>
                <a:spcPct val="108000"/>
              </a:lnSpc>
              <a:spcBef>
                <a:spcPts val="0"/>
              </a:spcBef>
              <a:spcAft>
                <a:spcPts val="0"/>
              </a:spcAft>
              <a:buNone/>
              <a:defRPr sz="2400">
                <a:solidFill>
                  <a:srgbClr val="000000"/>
                </a:solidFill>
                <a:latin typeface="Helvetica Neue"/>
                <a:ea typeface="Helvetica Neue"/>
                <a:cs typeface="Helvetica Neue"/>
              </a:defRPr>
            </a:pPr>
            <a:r>
              <a:rPr sz="4050" b="1">
                <a:solidFill>
                  <a:srgbClr val="0B0D0E"/>
                </a:solidFill>
                <a:latin typeface="Helvetica Neue"/>
                <a:ea typeface="Helvetica Neue"/>
                <a:cs typeface="Helvetica Neue"/>
              </a:rPr>
              <a:t>PROGRAM</a:t>
            </a:r>
          </a:p>
        </p:txBody>
      </p:sp>
      <p:sp>
        <p:nvSpPr>
          <p:cNvPr id="12" name="Content-Placeholder-15-12">
            <a:extLst xmlns:a="http://schemas.openxmlformats.org/drawingml/2006/main">
              <a:ext uri="{FF2B5EF4-FFF2-40B4-BE49-F238E27FC236}">
                <a16:creationId xmlns:a16="http://schemas.microsoft.com/office/drawing/2014/main" id="{D37A0754-301F-4798-A972-EB4A1987DF75}"/>
              </a:ext>
            </a:extLst>
          </p:cNvPr>
          <p:cNvSpPr>
            <a:spLocks xmlns:a="http://schemas.openxmlformats.org/drawingml/2006/main" noGrp="1"/>
          </p:cNvSpPr>
          <p:nvPr/>
        </p:nvSpPr>
        <p:spPr>
          <a:xfrm xmlns:a="http://schemas.openxmlformats.org/drawingml/2006/main">
            <a:off x="393668" y="1138333"/>
            <a:ext cx="11404568" cy="1599438"/>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lnSpc>
                <a:spcPct val="108000"/>
              </a:lnSpc>
              <a:spcBef>
                <a:spcPts val="0"/>
              </a:spcBef>
              <a:spcAft>
                <a:spcPts val="700"/>
              </a:spcAft>
              <a:buNone/>
              <a:defRPr sz="1600">
                <a:solidFill>
                  <a:srgbClr val="000000"/>
                </a:solidFill>
                <a:latin typeface="Helvetica Neue"/>
                <a:ea typeface="Helvetica Neue"/>
                <a:cs typeface="Helvetica Neue"/>
              </a:defRPr>
            </a:pPr>
            <a:r>
              <a:rPr sz="1350" b="1">
                <a:solidFill>
                  <a:srgbClr val="B53E31"/>
                </a:solidFill>
                <a:latin typeface="Helvetica Neue"/>
                <a:ea typeface="Helvetica Neue"/>
                <a:cs typeface="Helvetica Neue"/>
              </a:rPr>
              <a:t>WHO USES AFTERPLAY</a:t>
            </a:r>
          </a:p>
          <a:p xmlns:a="http://schemas.openxmlformats.org/drawingml/2006/main">
            <a:pPr algn="l">
              <a:lnSpc>
                <a:spcPct val="112000"/>
              </a:lnSpc>
              <a:spcBef>
                <a:spcPts val="0"/>
              </a:spcBef>
              <a:spcAft>
                <a:spcPts val="0"/>
              </a:spcAft>
              <a:buNone/>
              <a:defRPr sz="1600">
                <a:solidFill>
                  <a:srgbClr val="000000"/>
                </a:solidFill>
                <a:latin typeface="Helvetica Neue"/>
                <a:ea typeface="Helvetica Neue"/>
                <a:cs typeface="Helvetica Neue"/>
              </a:defRPr>
            </a:pPr>
            <a:r>
              <a:rPr sz="1650" b="0">
                <a:solidFill>
                  <a:srgbClr val="5C6368"/>
                </a:solidFill>
                <a:latin typeface="Helvetica Neue"/>
                <a:ea typeface="Helvetica Neue"/>
                <a:cs typeface="Helvetica Neue"/>
              </a:rPr>
              <a:t>The primary user streams often but lacks a strategy team. Editors, managers, and creator programs share the same evidence and approval record.</a:t>
            </a:r>
          </a:p>
        </p:txBody>
      </p:sp>
      <p:sp>
        <p:nvSpPr>
          <p:cNvPr id="13" name="afterplay-accent-rule">
            <a:extLst xmlns:a="http://schemas.openxmlformats.org/drawingml/2006/main">
              <a:ext uri="{FF2B5EF4-FFF2-40B4-BE49-F238E27FC236}">
                <a16:creationId xmlns:a16="http://schemas.microsoft.com/office/drawing/2014/main" id="{CEFCC173-2583-4381-A34C-B8FD6B8E3047}"/>
              </a:ext>
            </a:extLst>
          </p:cNvPr>
          <p:cNvSpPr>
            <a:spLocks xmlns:a="http://schemas.openxmlformats.org/drawingml/2006/main" noGrp="1"/>
          </p:cNvSpPr>
          <p:nvPr/>
        </p:nvSpPr>
        <p:spPr>
          <a:xfrm xmlns:a="http://schemas.openxmlformats.org/drawingml/2006/main">
            <a:off x="393668" y="1457325"/>
            <a:ext cx="876300" cy="57150"/>
          </a:xfrm>
          <a:prstGeom xmlns:a="http://schemas.openxmlformats.org/drawingml/2006/main" prst="rect">
            <a:avLst/>
          </a:prstGeom>
          <a:solidFill xmlns:a="http://schemas.openxmlformats.org/drawingml/2006/main">
            <a:srgbClr val="FF6B57"/>
          </a:solidFill>
          <a:ln xmlns:a="http://schemas.openxmlformats.org/drawingml/2006/main" w="0">
            <a:solidFill>
              <a:srgbClr val="FF6B57"/>
            </a:solidFill>
            <a:prstDash val="solid"/>
          </a:ln>
        </p:spPr>
      </p:sp>
      <p:sp>
        <p:nvSpPr>
          <p:cNvPr id="14" name="afterplay-coral-mark">
            <a:extLst xmlns:a="http://schemas.openxmlformats.org/drawingml/2006/main">
              <a:ext uri="{FF2B5EF4-FFF2-40B4-BE49-F238E27FC236}">
                <a16:creationId xmlns:a16="http://schemas.microsoft.com/office/drawing/2014/main" id="{50DFE4E9-DBF4-4B71-A0AB-79268158C543}"/>
              </a:ext>
            </a:extLst>
          </p:cNvPr>
          <p:cNvSpPr>
            <a:spLocks xmlns:a="http://schemas.openxmlformats.org/drawingml/2006/main" noGrp="1"/>
          </p:cNvSpPr>
          <p:nvPr/>
        </p:nvSpPr>
        <p:spPr>
          <a:xfrm xmlns:a="http://schemas.openxmlformats.org/drawingml/2006/main">
            <a:off x="393668" y="6343650"/>
            <a:ext cx="95250" cy="95250"/>
          </a:xfrm>
          <a:prstGeom xmlns:a="http://schemas.openxmlformats.org/drawingml/2006/main" prst="rect">
            <a:avLst/>
          </a:prstGeom>
          <a:solidFill xmlns:a="http://schemas.openxmlformats.org/drawingml/2006/main">
            <a:srgbClr val="FF6B57"/>
          </a:solidFill>
          <a:ln xmlns:a="http://schemas.openxmlformats.org/drawingml/2006/main" w="0">
            <a:solidFill>
              <a:srgbClr val="FF6B57"/>
            </a:solidFill>
            <a:prstDash val="solid"/>
          </a:ln>
        </p:spPr>
      </p:sp>
      <p:sp>
        <p:nvSpPr>
          <p:cNvPr id="15" name="afterplay-wordmark">
            <a:extLst xmlns:a="http://schemas.openxmlformats.org/drawingml/2006/main">
              <a:ext uri="{FF2B5EF4-FFF2-40B4-BE49-F238E27FC236}">
                <a16:creationId xmlns:a16="http://schemas.microsoft.com/office/drawing/2014/main" id="{98F870DE-1611-4BD0-A357-2768C79CA953}"/>
              </a:ext>
            </a:extLst>
          </p:cNvPr>
          <p:cNvSpPr>
            <a:spLocks xmlns:a="http://schemas.openxmlformats.org/drawingml/2006/main" noGrp="1"/>
          </p:cNvSpPr>
          <p:nvPr/>
        </p:nvSpPr>
        <p:spPr>
          <a:xfrm xmlns:a="http://schemas.openxmlformats.org/drawingml/2006/main">
            <a:off x="552450" y="6267450"/>
            <a:ext cx="114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050" b="1">
                <a:solidFill>
                  <a:srgbClr val="5C6368"/>
                </a:solidFill>
              </a:defRPr>
            </a:pPr>
            <a:r>
              <a:rPr sz="1050" b="1">
                <a:solidFill>
                  <a:srgbClr val="5C6368"/>
                </a:solidFill>
              </a:rPr>
              <a:t>AFTERPLAY</a:t>
            </a:r>
          </a:p>
        </p:txBody>
      </p:sp>
    </p:spTree>
    <p:extLst>
      <p:ext uri="{BB962C8B-B14F-4D97-AF65-F5344CB8AC3E}">
        <p14:creationId xmlns:p14="http://schemas.microsoft.com/office/powerpoint/2010/main" val="1546682643"/>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Rounded-Rectangle-5-1">
            <a:extLst xmlns:a="http://schemas.openxmlformats.org/drawingml/2006/main">
              <a:ext uri="{FF2B5EF4-FFF2-40B4-BE49-F238E27FC236}">
                <a16:creationId xmlns:a16="http://schemas.microsoft.com/office/drawing/2014/main" id="{AA68F9BF-4237-46D4-8389-4CC4050A2A72}"/>
              </a:ext>
            </a:extLst>
          </p:cNvPr>
          <p:cNvSpPr>
            <a:spLocks xmlns:a="http://schemas.openxmlformats.org/drawingml/2006/main" noGrp="1"/>
          </p:cNvSpPr>
          <p:nvPr/>
        </p:nvSpPr>
        <p:spPr>
          <a:xfrm xmlns:a="http://schemas.openxmlformats.org/drawingml/2006/main">
            <a:off x="393668" y="3022568"/>
            <a:ext cx="3568732" cy="2971800"/>
          </a:xfrm>
          <a:prstGeom xmlns:a="http://schemas.openxmlformats.org/drawingml/2006/main" prst="roundRect">
            <a:avLst>
              <a:gd name="adj" fmla="val 2564"/>
            </a:avLst>
          </a:prstGeom>
          <a:solidFill xmlns:a="http://schemas.openxmlformats.org/drawingml/2006/main">
            <a:srgbClr val="F2F2F2"/>
          </a:solidFill>
        </p:spPr>
      </p:sp>
      <p:sp>
        <p:nvSpPr>
          <p:cNvPr id="2" name="Rounded-Rectangle-6-2">
            <a:extLst xmlns:a="http://schemas.openxmlformats.org/drawingml/2006/main">
              <a:ext uri="{FF2B5EF4-FFF2-40B4-BE49-F238E27FC236}">
                <a16:creationId xmlns:a16="http://schemas.microsoft.com/office/drawing/2014/main" id="{97DBD756-1D66-4354-8D60-CD84A31A8702}"/>
              </a:ext>
            </a:extLst>
          </p:cNvPr>
          <p:cNvSpPr>
            <a:spLocks xmlns:a="http://schemas.openxmlformats.org/drawingml/2006/main" noGrp="1"/>
          </p:cNvSpPr>
          <p:nvPr/>
        </p:nvSpPr>
        <p:spPr>
          <a:xfrm xmlns:a="http://schemas.openxmlformats.org/drawingml/2006/main">
            <a:off x="4311682" y="3022568"/>
            <a:ext cx="3568732" cy="2971800"/>
          </a:xfrm>
          <a:prstGeom xmlns:a="http://schemas.openxmlformats.org/drawingml/2006/main" prst="roundRect">
            <a:avLst>
              <a:gd name="adj" fmla="val 2564"/>
            </a:avLst>
          </a:prstGeom>
          <a:solidFill xmlns:a="http://schemas.openxmlformats.org/drawingml/2006/main">
            <a:srgbClr val="F2F2F2"/>
          </a:solidFill>
        </p:spPr>
      </p:sp>
      <p:sp>
        <p:nvSpPr>
          <p:cNvPr id="3" name="Rounded-Rectangle-7-3">
            <a:extLst xmlns:a="http://schemas.openxmlformats.org/drawingml/2006/main">
              <a:ext uri="{FF2B5EF4-FFF2-40B4-BE49-F238E27FC236}">
                <a16:creationId xmlns:a16="http://schemas.microsoft.com/office/drawing/2014/main" id="{4A09EAD6-8143-4335-A9E3-9887EC080E64}"/>
              </a:ext>
            </a:extLst>
          </p:cNvPr>
          <p:cNvSpPr>
            <a:spLocks xmlns:a="http://schemas.openxmlformats.org/drawingml/2006/main" noGrp="1"/>
          </p:cNvSpPr>
          <p:nvPr/>
        </p:nvSpPr>
        <p:spPr>
          <a:xfrm xmlns:a="http://schemas.openxmlformats.org/drawingml/2006/main">
            <a:off x="8232267" y="3022568"/>
            <a:ext cx="3568732" cy="2971800"/>
          </a:xfrm>
          <a:prstGeom xmlns:a="http://schemas.openxmlformats.org/drawingml/2006/main" prst="roundRect">
            <a:avLst>
              <a:gd name="adj" fmla="val 2564"/>
            </a:avLst>
          </a:prstGeom>
          <a:solidFill xmlns:a="http://schemas.openxmlformats.org/drawingml/2006/main">
            <a:srgbClr val="F2F2F2"/>
          </a:solidFill>
        </p:spPr>
      </p:sp>
      <p:sp>
        <p:nvSpPr>
          <p:cNvPr id="4" name="Slide-Number-Placeholder-1-4">
            <a:extLst xmlns:a="http://schemas.openxmlformats.org/drawingml/2006/main">
              <a:ext uri="{FF2B5EF4-FFF2-40B4-BE49-F238E27FC236}">
                <a16:creationId xmlns:a16="http://schemas.microsoft.com/office/drawing/2014/main" id="{17ECB0BA-4BB9-480E-8491-FA778352ED55}"/>
              </a:ext>
            </a:extLst>
          </p:cNvPr>
          <p:cNvSpPr>
            <a:spLocks xmlns:a="http://schemas.openxmlformats.org/drawingml/2006/main" noGrp="1"/>
          </p:cNvSpPr>
          <p:nvPr/>
        </p:nvSpPr>
        <p:spPr>
          <a:xfrm xmlns:a="http://schemas.openxmlformats.org/drawingml/2006/main">
            <a:off x="11279315" y="6279261"/>
            <a:ext cx="518922" cy="241268"/>
          </a:xfrm>
          <a:prstGeom xmlns:a="http://schemas.openxmlformats.org/drawingml/2006/main" prst="rect">
            <a:avLst/>
          </a:prstGeom>
        </p:spPr>
        <p:txBody>
          <a:bodyPr xmlns:a="http://schemas.openxmlformats.org/drawingml/2006/main" lIns="0" tIns="0" rIns="0" bIns="0" anchor="b"/>
          <a:lstStyle xmlns:a="http://schemas.openxmlformats.org/drawingml/2006/main"/>
          <a:p xmlns:a="http://schemas.openxmlformats.org/drawingml/2006/main">
            <a:pPr algn="r">
              <a:lnSpc>
                <a:spcPct val="108000"/>
              </a:lnSpc>
              <a:spcBef>
                <a:spcPts val="0"/>
              </a:spcBef>
              <a:spcAft>
                <a:spcPts val="0"/>
              </a:spcAft>
              <a:buNone/>
              <a:defRPr sz="1000">
                <a:solidFill>
                  <a:srgbClr val="000000"/>
                </a:solidFill>
                <a:latin typeface="Helvetica Neue"/>
                <a:ea typeface="Helvetica Neue"/>
                <a:cs typeface="Helvetica Neue"/>
              </a:defRPr>
            </a:pPr>
            <a:r>
              <a:rPr sz="1050" b="0">
                <a:solidFill>
                  <a:srgbClr val="5C6368"/>
                </a:solidFill>
                <a:latin typeface="Helvetica Neue"/>
                <a:ea typeface="Helvetica Neue"/>
                <a:cs typeface="Helvetica Neue"/>
              </a:rPr>
              <a:t>05</a:t>
            </a:r>
          </a:p>
        </p:txBody>
      </p:sp>
      <p:sp>
        <p:nvSpPr>
          <p:cNvPr id="5" name="Title-2-5">
            <a:extLst xmlns:a="http://schemas.openxmlformats.org/drawingml/2006/main">
              <a:ext uri="{FF2B5EF4-FFF2-40B4-BE49-F238E27FC236}">
                <a16:creationId xmlns:a16="http://schemas.microsoft.com/office/drawing/2014/main" id="{599F0DD2-1B4A-4B29-9EF9-A60B5AB82257}"/>
              </a:ext>
            </a:extLst>
          </p:cNvPr>
          <p:cNvSpPr>
            <a:spLocks xmlns:a="http://schemas.openxmlformats.org/drawingml/2006/main" noGrp="1"/>
          </p:cNvSpPr>
          <p:nvPr/>
        </p:nvSpPr>
        <p:spPr>
          <a:xfrm xmlns:a="http://schemas.openxmlformats.org/drawingml/2006/main">
            <a:off x="393668" y="344043"/>
            <a:ext cx="11404568" cy="1047464"/>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96000"/>
              </a:lnSpc>
              <a:spcBef>
                <a:spcPts val="0"/>
              </a:spcBef>
              <a:spcAft>
                <a:spcPts val="0"/>
              </a:spcAft>
              <a:buNone/>
              <a:defRPr sz="2900">
                <a:solidFill>
                  <a:srgbClr val="000000"/>
                </a:solidFill>
                <a:latin typeface="Helvetica Neue"/>
                <a:ea typeface="Helvetica Neue"/>
                <a:cs typeface="Helvetica Neue"/>
              </a:defRPr>
            </a:pPr>
            <a:r>
              <a:rPr sz="3600" b="1">
                <a:solidFill>
                  <a:srgbClr val="0B0D0E"/>
                </a:solidFill>
                <a:latin typeface="Helvetica Neue"/>
                <a:ea typeface="Helvetica Neue"/>
                <a:cs typeface="Helvetica Neue"/>
              </a:rPr>
              <a:t>Find a signal. Try one change. Learn.</a:t>
            </a:r>
          </a:p>
        </p:txBody>
      </p:sp>
      <p:sp>
        <p:nvSpPr>
          <p:cNvPr id="6" name="Content-Placeholder-9-6">
            <a:extLst xmlns:a="http://schemas.openxmlformats.org/drawingml/2006/main">
              <a:ext uri="{FF2B5EF4-FFF2-40B4-BE49-F238E27FC236}">
                <a16:creationId xmlns:a16="http://schemas.microsoft.com/office/drawing/2014/main" id="{5AEBE563-FDA7-4F5B-BC71-EBFA2B2A5638}"/>
              </a:ext>
            </a:extLst>
          </p:cNvPr>
          <p:cNvSpPr>
            <a:spLocks xmlns:a="http://schemas.openxmlformats.org/drawingml/2006/main" noGrp="1"/>
          </p:cNvSpPr>
          <p:nvPr/>
        </p:nvSpPr>
        <p:spPr>
          <a:xfrm xmlns:a="http://schemas.openxmlformats.org/drawingml/2006/main">
            <a:off x="702374" y="4900613"/>
            <a:ext cx="2949607" cy="819150"/>
          </a:xfrm>
          <a:prstGeom xmlns:a="http://schemas.openxmlformats.org/drawingml/2006/main" prst="rect">
            <a:avLst/>
          </a:prstGeom>
        </p:spPr>
        <p:txBody>
          <a:bodyPr xmlns:a="http://schemas.openxmlformats.org/drawingml/2006/main" lIns="91440" tIns="45720" rIns="91440" bIns="45720">
            <a:normAutofit fontScale="100000"/>
          </a:bodyPr>
          <a:lstStyle xmlns:a="http://schemas.openxmlformats.org/drawingml/2006/main"/>
          <a:p xmlns:a="http://schemas.openxmlformats.org/drawingml/2006/main">
            <a:pPr algn="l">
              <a:lnSpc>
                <a:spcPct val="108000"/>
              </a:lnSpc>
              <a:spcBef>
                <a:spcPts val="0"/>
              </a:spcBef>
              <a:spcAft>
                <a:spcPts val="0"/>
              </a:spcAft>
              <a:buNone/>
              <a:defRPr sz="2400">
                <a:solidFill>
                  <a:srgbClr val="000000"/>
                </a:solidFill>
                <a:latin typeface="Helvetica Neue"/>
                <a:ea typeface="Helvetica Neue"/>
                <a:cs typeface="Helvetica Neue"/>
              </a:defRPr>
            </a:pPr>
            <a:r>
              <a:rPr sz="1650" b="0">
                <a:solidFill>
                  <a:srgbClr val="5C6368"/>
                </a:solidFill>
                <a:latin typeface="Helvetica Neue"/>
                <a:ea typeface="Helvetica Neue"/>
                <a:cs typeface="Helvetica Neue"/>
              </a:rPr>
              <a:t>a callback viewers repeated in chat</a:t>
            </a:r>
          </a:p>
        </p:txBody>
      </p:sp>
      <p:sp>
        <p:nvSpPr>
          <p:cNvPr id="7" name="Content-Placeholder-10-7">
            <a:extLst xmlns:a="http://schemas.openxmlformats.org/drawingml/2006/main">
              <a:ext uri="{FF2B5EF4-FFF2-40B4-BE49-F238E27FC236}">
                <a16:creationId xmlns:a16="http://schemas.microsoft.com/office/drawing/2014/main" id="{296EFDC8-1D25-4A23-9559-A273DF5D48CD}"/>
              </a:ext>
            </a:extLst>
          </p:cNvPr>
          <p:cNvSpPr>
            <a:spLocks xmlns:a="http://schemas.openxmlformats.org/drawingml/2006/main" noGrp="1"/>
          </p:cNvSpPr>
          <p:nvPr/>
        </p:nvSpPr>
        <p:spPr>
          <a:xfrm xmlns:a="http://schemas.openxmlformats.org/drawingml/2006/main">
            <a:off x="8541830" y="4900613"/>
            <a:ext cx="2949607" cy="819150"/>
          </a:xfrm>
          <a:prstGeom xmlns:a="http://schemas.openxmlformats.org/drawingml/2006/main" prst="rect">
            <a:avLst/>
          </a:prstGeom>
        </p:spPr>
        <p:txBody>
          <a:bodyPr xmlns:a="http://schemas.openxmlformats.org/drawingml/2006/main" lIns="91440" tIns="45720" rIns="91440" bIns="45720">
            <a:normAutofit fontScale="100000"/>
          </a:bodyPr>
          <a:lstStyle xmlns:a="http://schemas.openxmlformats.org/drawingml/2006/main"/>
          <a:p xmlns:a="http://schemas.openxmlformats.org/drawingml/2006/main">
            <a:pPr algn="l">
              <a:lnSpc>
                <a:spcPct val="108000"/>
              </a:lnSpc>
              <a:spcBef>
                <a:spcPts val="0"/>
              </a:spcBef>
              <a:spcAft>
                <a:spcPts val="0"/>
              </a:spcAft>
              <a:buNone/>
              <a:defRPr sz="2400">
                <a:solidFill>
                  <a:srgbClr val="000000"/>
                </a:solidFill>
                <a:latin typeface="Helvetica Neue"/>
                <a:ea typeface="Helvetica Neue"/>
                <a:cs typeface="Helvetica Neue"/>
              </a:defRPr>
            </a:pPr>
            <a:r>
              <a:rPr sz="1650" b="0">
                <a:solidFill>
                  <a:srgbClr val="5C6368"/>
                </a:solidFill>
                <a:latin typeface="Helvetica Neue"/>
                <a:ea typeface="Helvetica Neue"/>
                <a:cs typeface="Helvetica Neue"/>
              </a:rPr>
              <a:t>did more viewers come back or stay longer?</a:t>
            </a:r>
          </a:p>
        </p:txBody>
      </p:sp>
      <p:sp>
        <p:nvSpPr>
          <p:cNvPr id="8" name="Content-Placeholder-11-8">
            <a:extLst xmlns:a="http://schemas.openxmlformats.org/drawingml/2006/main">
              <a:ext uri="{FF2B5EF4-FFF2-40B4-BE49-F238E27FC236}">
                <a16:creationId xmlns:a16="http://schemas.microsoft.com/office/drawing/2014/main" id="{A1847440-4384-4ED5-A53D-86D7ECD01A37}"/>
              </a:ext>
            </a:extLst>
          </p:cNvPr>
          <p:cNvSpPr>
            <a:spLocks xmlns:a="http://schemas.openxmlformats.org/drawingml/2006/main" noGrp="1"/>
          </p:cNvSpPr>
          <p:nvPr/>
        </p:nvSpPr>
        <p:spPr>
          <a:xfrm xmlns:a="http://schemas.openxmlformats.org/drawingml/2006/main">
            <a:off x="4621244" y="4900613"/>
            <a:ext cx="2949607" cy="819150"/>
          </a:xfrm>
          <a:prstGeom xmlns:a="http://schemas.openxmlformats.org/drawingml/2006/main" prst="rect">
            <a:avLst/>
          </a:prstGeom>
        </p:spPr>
        <p:txBody>
          <a:bodyPr xmlns:a="http://schemas.openxmlformats.org/drawingml/2006/main" lIns="91440" tIns="45720" rIns="91440" bIns="45720">
            <a:normAutofit fontScale="100000"/>
          </a:bodyPr>
          <a:lstStyle xmlns:a="http://schemas.openxmlformats.org/drawingml/2006/main"/>
          <a:p xmlns:a="http://schemas.openxmlformats.org/drawingml/2006/main">
            <a:pPr algn="l">
              <a:lnSpc>
                <a:spcPct val="108000"/>
              </a:lnSpc>
              <a:spcBef>
                <a:spcPts val="0"/>
              </a:spcBef>
              <a:spcAft>
                <a:spcPts val="0"/>
              </a:spcAft>
              <a:buNone/>
              <a:defRPr sz="2400">
                <a:solidFill>
                  <a:srgbClr val="000000"/>
                </a:solidFill>
                <a:latin typeface="Helvetica Neue"/>
                <a:ea typeface="Helvetica Neue"/>
                <a:cs typeface="Helvetica Neue"/>
              </a:defRPr>
            </a:pPr>
            <a:r>
              <a:rPr sz="1650" b="0">
                <a:solidFill>
                  <a:srgbClr val="5C6368"/>
                </a:solidFill>
                <a:latin typeface="Helvetica Neue"/>
                <a:ea typeface="Helvetica Neue"/>
                <a:cs typeface="Helvetica Neue"/>
              </a:rPr>
              <a:t>open the next stream with that callback</a:t>
            </a:r>
          </a:p>
        </p:txBody>
      </p:sp>
      <p:sp>
        <p:nvSpPr>
          <p:cNvPr id="9" name="Content-Placeholder-9-9">
            <a:extLst xmlns:a="http://schemas.openxmlformats.org/drawingml/2006/main">
              <a:ext uri="{FF2B5EF4-FFF2-40B4-BE49-F238E27FC236}">
                <a16:creationId xmlns:a16="http://schemas.microsoft.com/office/drawing/2014/main" id="{AE14C4A8-2EDE-4434-B9ED-78930904CB39}"/>
              </a:ext>
            </a:extLst>
          </p:cNvPr>
          <p:cNvSpPr>
            <a:spLocks xmlns:a="http://schemas.openxmlformats.org/drawingml/2006/main" noGrp="1"/>
          </p:cNvSpPr>
          <p:nvPr/>
        </p:nvSpPr>
        <p:spPr>
          <a:xfrm xmlns:a="http://schemas.openxmlformats.org/drawingml/2006/main">
            <a:off x="702374" y="3429000"/>
            <a:ext cx="2940082" cy="1359313"/>
          </a:xfrm>
          <a:prstGeom xmlns:a="http://schemas.openxmlformats.org/drawingml/2006/main" prst="rect">
            <a:avLst/>
          </a:prstGeom>
        </p:spPr>
        <p:txBody>
          <a:bodyPr xmlns:a="http://schemas.openxmlformats.org/drawingml/2006/main" lIns="0" tIns="0" rIns="0" bIns="0" anchor="b">
            <a:normAutofit fontScale="100000"/>
          </a:bodyPr>
          <a:lstStyle xmlns:a="http://schemas.openxmlformats.org/drawingml/2006/main"/>
          <a:p xmlns:a="http://schemas.openxmlformats.org/drawingml/2006/main">
            <a:pPr algn="l">
              <a:lnSpc>
                <a:spcPct val="108000"/>
              </a:lnSpc>
              <a:spcBef>
                <a:spcPts val="0"/>
              </a:spcBef>
              <a:spcAft>
                <a:spcPts val="0"/>
              </a:spcAft>
              <a:buNone/>
              <a:defRPr sz="2400">
                <a:solidFill>
                  <a:srgbClr val="000000"/>
                </a:solidFill>
                <a:latin typeface="Helvetica Neue"/>
                <a:ea typeface="Helvetica Neue"/>
                <a:cs typeface="Helvetica Neue"/>
              </a:defRPr>
            </a:pPr>
            <a:r>
              <a:rPr sz="4050" b="1">
                <a:solidFill>
                  <a:srgbClr val="0B0D0E"/>
                </a:solidFill>
                <a:latin typeface="Helvetica Neue"/>
                <a:ea typeface="Helvetica Neue"/>
                <a:cs typeface="Helvetica Neue"/>
              </a:rPr>
              <a:t>FIND</a:t>
            </a:r>
          </a:p>
        </p:txBody>
      </p:sp>
      <p:sp>
        <p:nvSpPr>
          <p:cNvPr id="10" name="Content-Placeholder-9-10">
            <a:extLst xmlns:a="http://schemas.openxmlformats.org/drawingml/2006/main">
              <a:ext uri="{FF2B5EF4-FFF2-40B4-BE49-F238E27FC236}">
                <a16:creationId xmlns:a16="http://schemas.microsoft.com/office/drawing/2014/main" id="{3654227F-1285-464B-B8B3-EBD210AD121E}"/>
              </a:ext>
            </a:extLst>
          </p:cNvPr>
          <p:cNvSpPr>
            <a:spLocks xmlns:a="http://schemas.openxmlformats.org/drawingml/2006/main" noGrp="1"/>
          </p:cNvSpPr>
          <p:nvPr/>
        </p:nvSpPr>
        <p:spPr>
          <a:xfrm xmlns:a="http://schemas.openxmlformats.org/drawingml/2006/main">
            <a:off x="4612958" y="3429000"/>
            <a:ext cx="2940082" cy="1359313"/>
          </a:xfrm>
          <a:prstGeom xmlns:a="http://schemas.openxmlformats.org/drawingml/2006/main" prst="rect">
            <a:avLst/>
          </a:prstGeom>
        </p:spPr>
        <p:txBody>
          <a:bodyPr xmlns:a="http://schemas.openxmlformats.org/drawingml/2006/main" lIns="0" tIns="0" rIns="0" bIns="0" anchor="b">
            <a:normAutofit fontScale="100000"/>
          </a:bodyPr>
          <a:lstStyle xmlns:a="http://schemas.openxmlformats.org/drawingml/2006/main"/>
          <a:p xmlns:a="http://schemas.openxmlformats.org/drawingml/2006/main">
            <a:pPr algn="l">
              <a:lnSpc>
                <a:spcPct val="108000"/>
              </a:lnSpc>
              <a:spcBef>
                <a:spcPts val="0"/>
              </a:spcBef>
              <a:spcAft>
                <a:spcPts val="0"/>
              </a:spcAft>
              <a:buNone/>
              <a:defRPr sz="2400">
                <a:solidFill>
                  <a:srgbClr val="000000"/>
                </a:solidFill>
                <a:latin typeface="Helvetica Neue"/>
                <a:ea typeface="Helvetica Neue"/>
                <a:cs typeface="Helvetica Neue"/>
              </a:defRPr>
            </a:pPr>
            <a:r>
              <a:rPr sz="4050" b="1">
                <a:solidFill>
                  <a:srgbClr val="0B0D0E"/>
                </a:solidFill>
                <a:latin typeface="Helvetica Neue"/>
                <a:ea typeface="Helvetica Neue"/>
                <a:cs typeface="Helvetica Neue"/>
              </a:rPr>
              <a:t>TRY</a:t>
            </a:r>
          </a:p>
        </p:txBody>
      </p:sp>
      <p:sp>
        <p:nvSpPr>
          <p:cNvPr id="11" name="Content-Placeholder-9-11">
            <a:extLst xmlns:a="http://schemas.openxmlformats.org/drawingml/2006/main">
              <a:ext uri="{FF2B5EF4-FFF2-40B4-BE49-F238E27FC236}">
                <a16:creationId xmlns:a16="http://schemas.microsoft.com/office/drawing/2014/main" id="{A82545B2-5A98-41D5-932C-6AE74A6BFBE4}"/>
              </a:ext>
            </a:extLst>
          </p:cNvPr>
          <p:cNvSpPr>
            <a:spLocks xmlns:a="http://schemas.openxmlformats.org/drawingml/2006/main" noGrp="1"/>
          </p:cNvSpPr>
          <p:nvPr/>
        </p:nvSpPr>
        <p:spPr>
          <a:xfrm xmlns:a="http://schemas.openxmlformats.org/drawingml/2006/main">
            <a:off x="8562404" y="3429000"/>
            <a:ext cx="2940082" cy="1359313"/>
          </a:xfrm>
          <a:prstGeom xmlns:a="http://schemas.openxmlformats.org/drawingml/2006/main" prst="rect">
            <a:avLst/>
          </a:prstGeom>
        </p:spPr>
        <p:txBody>
          <a:bodyPr xmlns:a="http://schemas.openxmlformats.org/drawingml/2006/main" lIns="0" tIns="0" rIns="0" bIns="0" anchor="b">
            <a:normAutofit fontScale="100000"/>
          </a:bodyPr>
          <a:lstStyle xmlns:a="http://schemas.openxmlformats.org/drawingml/2006/main"/>
          <a:p xmlns:a="http://schemas.openxmlformats.org/drawingml/2006/main">
            <a:pPr algn="l">
              <a:lnSpc>
                <a:spcPct val="108000"/>
              </a:lnSpc>
              <a:spcBef>
                <a:spcPts val="0"/>
              </a:spcBef>
              <a:spcAft>
                <a:spcPts val="0"/>
              </a:spcAft>
              <a:buNone/>
              <a:defRPr sz="2400">
                <a:solidFill>
                  <a:srgbClr val="000000"/>
                </a:solidFill>
                <a:latin typeface="Helvetica Neue"/>
                <a:ea typeface="Helvetica Neue"/>
                <a:cs typeface="Helvetica Neue"/>
              </a:defRPr>
            </a:pPr>
            <a:r>
              <a:rPr sz="4050" b="1">
                <a:solidFill>
                  <a:srgbClr val="0B0D0E"/>
                </a:solidFill>
                <a:latin typeface="Helvetica Neue"/>
                <a:ea typeface="Helvetica Neue"/>
                <a:cs typeface="Helvetica Neue"/>
              </a:rPr>
              <a:t>LEARN</a:t>
            </a:r>
          </a:p>
        </p:txBody>
      </p:sp>
      <p:sp>
        <p:nvSpPr>
          <p:cNvPr id="12" name="Content-Placeholder-15-12">
            <a:extLst xmlns:a="http://schemas.openxmlformats.org/drawingml/2006/main">
              <a:ext uri="{FF2B5EF4-FFF2-40B4-BE49-F238E27FC236}">
                <a16:creationId xmlns:a16="http://schemas.microsoft.com/office/drawing/2014/main" id="{D37A0754-301F-4798-A972-EB4A1987DF75}"/>
              </a:ext>
            </a:extLst>
          </p:cNvPr>
          <p:cNvSpPr>
            <a:spLocks xmlns:a="http://schemas.openxmlformats.org/drawingml/2006/main" noGrp="1"/>
          </p:cNvSpPr>
          <p:nvPr/>
        </p:nvSpPr>
        <p:spPr>
          <a:xfrm xmlns:a="http://schemas.openxmlformats.org/drawingml/2006/main">
            <a:off x="393668" y="1138333"/>
            <a:ext cx="11404568" cy="1599438"/>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lnSpc>
                <a:spcPct val="108000"/>
              </a:lnSpc>
              <a:spcBef>
                <a:spcPts val="0"/>
              </a:spcBef>
              <a:spcAft>
                <a:spcPts val="700"/>
              </a:spcAft>
              <a:buNone/>
              <a:defRPr sz="1600">
                <a:solidFill>
                  <a:srgbClr val="000000"/>
                </a:solidFill>
                <a:latin typeface="Helvetica Neue"/>
                <a:ea typeface="Helvetica Neue"/>
                <a:cs typeface="Helvetica Neue"/>
              </a:defRPr>
            </a:pPr>
            <a:r>
              <a:rPr sz="1350" b="1">
                <a:solidFill>
                  <a:srgbClr val="B53E31"/>
                </a:solidFill>
                <a:latin typeface="Helvetica Neue"/>
                <a:ea typeface="Helvetica Neue"/>
                <a:cs typeface="Helvetica Neue"/>
              </a:rPr>
              <a:t>A CONCRETE EXAMPLE</a:t>
            </a:r>
          </a:p>
          <a:p xmlns:a="http://schemas.openxmlformats.org/drawingml/2006/main">
            <a:pPr algn="l">
              <a:lnSpc>
                <a:spcPct val="112000"/>
              </a:lnSpc>
              <a:spcBef>
                <a:spcPts val="0"/>
              </a:spcBef>
              <a:spcAft>
                <a:spcPts val="0"/>
              </a:spcAft>
              <a:buNone/>
              <a:defRPr sz="1600">
                <a:solidFill>
                  <a:srgbClr val="000000"/>
                </a:solidFill>
                <a:latin typeface="Helvetica Neue"/>
                <a:ea typeface="Helvetica Neue"/>
                <a:cs typeface="Helvetica Neue"/>
              </a:defRPr>
            </a:pPr>
            <a:r>
              <a:rPr sz="1650" b="0">
                <a:solidFill>
                  <a:srgbClr val="5C6368"/>
                </a:solidFill>
                <a:latin typeface="Helvetica Neue"/>
                <a:ea typeface="Helvetica Neue"/>
                <a:cs typeface="Helvetica Neue"/>
              </a:rPr>
              <a:t>Viewers repeat an inside joke in chat. Afterplay suggests opening the next stream with that callback, then checks whether more viewers return.</a:t>
            </a:r>
          </a:p>
        </p:txBody>
      </p:sp>
      <p:sp>
        <p:nvSpPr>
          <p:cNvPr id="13" name="afterplay-accent-rule">
            <a:extLst xmlns:a="http://schemas.openxmlformats.org/drawingml/2006/main">
              <a:ext uri="{FF2B5EF4-FFF2-40B4-BE49-F238E27FC236}">
                <a16:creationId xmlns:a16="http://schemas.microsoft.com/office/drawing/2014/main" id="{CEFCC173-2583-4381-A34C-B8FD6B8E3047}"/>
              </a:ext>
            </a:extLst>
          </p:cNvPr>
          <p:cNvSpPr>
            <a:spLocks xmlns:a="http://schemas.openxmlformats.org/drawingml/2006/main" noGrp="1"/>
          </p:cNvSpPr>
          <p:nvPr/>
        </p:nvSpPr>
        <p:spPr>
          <a:xfrm xmlns:a="http://schemas.openxmlformats.org/drawingml/2006/main">
            <a:off x="393668" y="1457325"/>
            <a:ext cx="876300" cy="57150"/>
          </a:xfrm>
          <a:prstGeom xmlns:a="http://schemas.openxmlformats.org/drawingml/2006/main" prst="rect">
            <a:avLst/>
          </a:prstGeom>
          <a:solidFill xmlns:a="http://schemas.openxmlformats.org/drawingml/2006/main">
            <a:srgbClr val="FF6B57"/>
          </a:solidFill>
          <a:ln xmlns:a="http://schemas.openxmlformats.org/drawingml/2006/main" w="0">
            <a:solidFill>
              <a:srgbClr val="FF6B57"/>
            </a:solidFill>
            <a:prstDash val="solid"/>
          </a:ln>
        </p:spPr>
      </p:sp>
      <p:sp>
        <p:nvSpPr>
          <p:cNvPr id="14" name="afterplay-coral-mark">
            <a:extLst xmlns:a="http://schemas.openxmlformats.org/drawingml/2006/main">
              <a:ext uri="{FF2B5EF4-FFF2-40B4-BE49-F238E27FC236}">
                <a16:creationId xmlns:a16="http://schemas.microsoft.com/office/drawing/2014/main" id="{50DFE4E9-DBF4-4B71-A0AB-79268158C543}"/>
              </a:ext>
            </a:extLst>
          </p:cNvPr>
          <p:cNvSpPr>
            <a:spLocks xmlns:a="http://schemas.openxmlformats.org/drawingml/2006/main" noGrp="1"/>
          </p:cNvSpPr>
          <p:nvPr/>
        </p:nvSpPr>
        <p:spPr>
          <a:xfrm xmlns:a="http://schemas.openxmlformats.org/drawingml/2006/main">
            <a:off x="393668" y="6343650"/>
            <a:ext cx="95250" cy="95250"/>
          </a:xfrm>
          <a:prstGeom xmlns:a="http://schemas.openxmlformats.org/drawingml/2006/main" prst="rect">
            <a:avLst/>
          </a:prstGeom>
          <a:solidFill xmlns:a="http://schemas.openxmlformats.org/drawingml/2006/main">
            <a:srgbClr val="FF6B57"/>
          </a:solidFill>
          <a:ln xmlns:a="http://schemas.openxmlformats.org/drawingml/2006/main" w="0">
            <a:solidFill>
              <a:srgbClr val="FF6B57"/>
            </a:solidFill>
            <a:prstDash val="solid"/>
          </a:ln>
        </p:spPr>
      </p:sp>
      <p:sp>
        <p:nvSpPr>
          <p:cNvPr id="15" name="afterplay-wordmark">
            <a:extLst xmlns:a="http://schemas.openxmlformats.org/drawingml/2006/main">
              <a:ext uri="{FF2B5EF4-FFF2-40B4-BE49-F238E27FC236}">
                <a16:creationId xmlns:a16="http://schemas.microsoft.com/office/drawing/2014/main" id="{98F870DE-1611-4BD0-A357-2768C79CA953}"/>
              </a:ext>
            </a:extLst>
          </p:cNvPr>
          <p:cNvSpPr>
            <a:spLocks xmlns:a="http://schemas.openxmlformats.org/drawingml/2006/main" noGrp="1"/>
          </p:cNvSpPr>
          <p:nvPr/>
        </p:nvSpPr>
        <p:spPr>
          <a:xfrm xmlns:a="http://schemas.openxmlformats.org/drawingml/2006/main">
            <a:off x="552450" y="6267450"/>
            <a:ext cx="114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050" b="1">
                <a:solidFill>
                  <a:srgbClr val="5C6368"/>
                </a:solidFill>
              </a:defRPr>
            </a:pPr>
            <a:r>
              <a:rPr sz="1050" b="1">
                <a:solidFill>
                  <a:srgbClr val="5C6368"/>
                </a:solidFill>
              </a:rPr>
              <a:t>AFTERPLAY</a:t>
            </a:r>
          </a:p>
        </p:txBody>
      </p:sp>
    </p:spTree>
    <p:extLst>
      <p:ext uri="{BB962C8B-B14F-4D97-AF65-F5344CB8AC3E}">
        <p14:creationId xmlns:p14="http://schemas.microsoft.com/office/powerpoint/2010/main" val="1546682643"/>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Google-Shape-532-p58-2">
            <a:extLst xmlns:a="http://schemas.openxmlformats.org/drawingml/2006/main">
              <a:ext uri="{FF2B5EF4-FFF2-40B4-BE49-F238E27FC236}">
                <a16:creationId xmlns:a16="http://schemas.microsoft.com/office/drawing/2014/main" id="{DE11CE9C-2DD8-4521-8AB6-D70B4867F6BF}"/>
              </a:ext>
            </a:extLst>
          </p:cNvPr>
          <p:cNvSpPr>
            <a:spLocks xmlns:a="http://schemas.openxmlformats.org/drawingml/2006/main" noGrp="1"/>
          </p:cNvSpPr>
          <p:nvPr/>
        </p:nvSpPr>
        <p:spPr>
          <a:xfrm xmlns:a="http://schemas.openxmlformats.org/drawingml/2006/main">
            <a:off x="11279315" y="6279261"/>
            <a:ext cx="518922" cy="241268"/>
          </a:xfrm>
          <a:prstGeom xmlns:a="http://schemas.openxmlformats.org/drawingml/2006/main" prst="rect">
            <a:avLst/>
          </a:prstGeom>
        </p:spPr>
        <p:txBody>
          <a:bodyPr xmlns:a="http://schemas.openxmlformats.org/drawingml/2006/main" wrap="square" lIns="0" tIns="0" rIns="0" bIns="0" anchor="b">
            <a:noAutofit/>
          </a:bodyPr>
          <a:lstStyle xmlns:a="http://schemas.openxmlformats.org/drawingml/2006/main"/>
          <a:p xmlns:a="http://schemas.openxmlformats.org/drawingml/2006/main">
            <a:pPr algn="r">
              <a:lnSpc>
                <a:spcPct val="108000"/>
              </a:lnSpc>
              <a:spcBef>
                <a:spcPts val="0"/>
              </a:spcBef>
              <a:spcAft>
                <a:spcPts val="0"/>
              </a:spcAft>
              <a:buNone/>
              <a:defRPr sz="1000">
                <a:solidFill>
                  <a:srgbClr val="000000"/>
                </a:solidFill>
                <a:latin typeface="Helvetica Neue"/>
                <a:ea typeface="Helvetica Neue"/>
                <a:cs typeface="Helvetica Neue"/>
              </a:defRPr>
            </a:pPr>
            <a:r>
              <a:rPr sz="1050" b="0">
                <a:solidFill>
                  <a:srgbClr val="5C6368"/>
                </a:solidFill>
                <a:latin typeface="Helvetica Neue"/>
                <a:ea typeface="Helvetica Neue"/>
                <a:cs typeface="Helvetica Neue"/>
              </a:rPr>
              <a:t>06</a:t>
            </a:r>
          </a:p>
        </p:txBody>
      </p:sp>
      <p:sp>
        <p:nvSpPr>
          <p:cNvPr id="2" name="Google-Shape-533-p58-3">
            <a:extLst xmlns:a="http://schemas.openxmlformats.org/drawingml/2006/main">
              <a:ext uri="{FF2B5EF4-FFF2-40B4-BE49-F238E27FC236}">
                <a16:creationId xmlns:a16="http://schemas.microsoft.com/office/drawing/2014/main" id="{90F89E72-21C5-4E13-B65C-C2822D1F48FA}"/>
              </a:ext>
            </a:extLst>
          </p:cNvPr>
          <p:cNvSpPr>
            <a:spLocks xmlns:a="http://schemas.openxmlformats.org/drawingml/2006/main" noGrp="1"/>
          </p:cNvSpPr>
          <p:nvPr/>
        </p:nvSpPr>
        <p:spPr>
          <a:xfrm xmlns:a="http://schemas.openxmlformats.org/drawingml/2006/main">
            <a:off x="393668" y="344043"/>
            <a:ext cx="11404568" cy="1047464"/>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6000"/>
              </a:lnSpc>
              <a:spcBef>
                <a:spcPts val="0"/>
              </a:spcBef>
              <a:spcAft>
                <a:spcPts val="0"/>
              </a:spcAft>
              <a:buNone/>
              <a:defRPr sz="2900">
                <a:solidFill>
                  <a:srgbClr val="000000"/>
                </a:solidFill>
                <a:latin typeface="Helvetica Neue"/>
                <a:ea typeface="Helvetica Neue"/>
                <a:cs typeface="Helvetica Neue"/>
              </a:defRPr>
            </a:pPr>
            <a:r>
              <a:rPr sz="3600" b="1">
                <a:solidFill>
                  <a:srgbClr val="0B0D0E"/>
                </a:solidFill>
                <a:latin typeface="Helvetica Neue"/>
                <a:ea typeface="Helvetica Neue"/>
                <a:cs typeface="Helvetica Neue"/>
              </a:rPr>
              <a:t>A creator can go from stream URL to approved test in one workspace.</a:t>
            </a:r>
          </a:p>
        </p:txBody>
      </p:sp>
      <p:sp>
        <p:nvSpPr>
          <p:cNvPr id="3" name="Google-Shape-534-p58-4">
            <a:extLst xmlns:a="http://schemas.openxmlformats.org/drawingml/2006/main">
              <a:ext uri="{FF2B5EF4-FFF2-40B4-BE49-F238E27FC236}">
                <a16:creationId xmlns:a16="http://schemas.microsoft.com/office/drawing/2014/main" id="{6148BE4C-B737-4A49-AA5D-C378AABB277C}"/>
              </a:ext>
            </a:extLst>
          </p:cNvPr>
          <p:cNvSpPr>
            <a:spLocks xmlns:a="http://schemas.openxmlformats.org/drawingml/2006/main" noGrp="1"/>
          </p:cNvSpPr>
          <p:nvPr/>
        </p:nvSpPr>
        <p:spPr>
          <a:xfrm xmlns:a="http://schemas.openxmlformats.org/drawingml/2006/main">
            <a:off x="393668" y="2031968"/>
            <a:ext cx="5537168" cy="3534823"/>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spcBef>
                <a:spcPts val="0"/>
              </a:spcBef>
              <a:spcAft>
                <a:spcPts val="0"/>
              </a:spcAft>
              <a:buNone/>
              <a:defRPr sz="2400">
                <a:solidFill>
                  <a:srgbClr val="000000"/>
                </a:solidFill>
                <a:latin typeface="Helvetica Neue"/>
                <a:ea typeface="Helvetica Neue"/>
                <a:cs typeface="Helvetica Neue"/>
              </a:defRPr>
            </a:pPr>
            <a:r>
              <a:rPr sz="1650" b="0">
                <a:solidFill>
                  <a:srgbClr val="0B0D0E"/>
                </a:solidFill>
                <a:latin typeface="Helvetica Neue"/>
                <a:ea typeface="Helvetica Neue"/>
                <a:cs typeface="Helvetica Neue"/>
              </a:rPr>
              <a:t/>
            </a:r>
          </a:p>
          <a:p xmlns:a="http://schemas.openxmlformats.org/drawingml/2006/main">
            <a:pPr algn="l">
              <a:lnSpc>
                <a:spcPct val="108000"/>
              </a:lnSpc>
              <a:spcBef>
                <a:spcPts val="0"/>
              </a:spcBef>
              <a:spcAft>
                <a:spcPts val="0"/>
              </a:spcAft>
              <a:buNone/>
              <a:defRPr sz="2400">
                <a:solidFill>
                  <a:srgbClr val="000000"/>
                </a:solidFill>
                <a:latin typeface="Helvetica Neue"/>
                <a:ea typeface="Helvetica Neue"/>
                <a:cs typeface="Helvetica Neue"/>
              </a:defRPr>
            </a:pPr>
            <a:r>
              <a:rPr sz="1650" b="0">
                <a:solidFill>
                  <a:srgbClr val="0B0D0E"/>
                </a:solidFill>
                <a:latin typeface="Helvetica Neue"/>
                <a:ea typeface="Helvetica Neue"/>
                <a:cs typeface="Helvetica Neue"/>
              </a:rPr>
              <a:t/>
            </a:r>
          </a:p>
        </p:txBody>
      </p:sp>
      <p:sp>
        <p:nvSpPr>
          <p:cNvPr id="5" name="afterplay-accent-rule">
            <a:extLst xmlns:a="http://schemas.openxmlformats.org/drawingml/2006/main">
              <a:ext uri="{FF2B5EF4-FFF2-40B4-BE49-F238E27FC236}">
                <a16:creationId xmlns:a16="http://schemas.microsoft.com/office/drawing/2014/main" id="{C242A233-918E-4AED-83C9-391003DFD79F}"/>
              </a:ext>
            </a:extLst>
          </p:cNvPr>
          <p:cNvSpPr>
            <a:spLocks xmlns:a="http://schemas.openxmlformats.org/drawingml/2006/main" noGrp="1"/>
          </p:cNvSpPr>
          <p:nvPr/>
        </p:nvSpPr>
        <p:spPr>
          <a:xfrm xmlns:a="http://schemas.openxmlformats.org/drawingml/2006/main">
            <a:off x="393668" y="1457325"/>
            <a:ext cx="876300" cy="57150"/>
          </a:xfrm>
          <a:prstGeom xmlns:a="http://schemas.openxmlformats.org/drawingml/2006/main" prst="rect">
            <a:avLst/>
          </a:prstGeom>
          <a:solidFill xmlns:a="http://schemas.openxmlformats.org/drawingml/2006/main">
            <a:srgbClr val="FF6B57"/>
          </a:solidFill>
          <a:ln xmlns:a="http://schemas.openxmlformats.org/drawingml/2006/main" w="0">
            <a:solidFill>
              <a:srgbClr val="FF6B57"/>
            </a:solidFill>
            <a:prstDash val="solid"/>
          </a:ln>
        </p:spPr>
      </p:sp>
      <p:pic>
        <p:nvPicPr>
          <p:cNvPr id="19" name=""/>
          <p:cNvPicPr>
            <a:picLocks xmlns:a="http://schemas.openxmlformats.org/drawingml/2006/main" noChangeAspect="1"/>
          </p:cNvPicPr>
          <p:nvPr/>
        </p:nvPicPr>
        <p:blipFill>
          <a:blip xmlns:r="http://schemas.openxmlformats.org/officeDocument/2006/relationships" xmlns:a="http://schemas.openxmlformats.org/drawingml/2006/main" r:embed="Rf6c2414391bb4a55"/>
          <a:srcRect xmlns:a="http://schemas.openxmlformats.org/drawingml/2006/main" l="1048" t="0" r="1048" b="0"/>
          <a:stretch xmlns:a="http://schemas.openxmlformats.org/drawingml/2006/main">
            <a:fillRect l="0" t="0" r="0" b="0"/>
          </a:stretch>
        </p:blipFill>
        <p:spPr>
          <a:xfrm xmlns:a="http://schemas.openxmlformats.org/drawingml/2006/main">
            <a:off x="393668" y="2031968"/>
            <a:ext cx="5537168" cy="3534823"/>
          </a:xfrm>
          <a:prstGeom xmlns:a="http://schemas.openxmlformats.org/drawingml/2006/main" prst="roundRect">
            <a:avLst>
              <a:gd name="adj" fmla="val 3234"/>
            </a:avLst>
          </a:prstGeom>
        </p:spPr>
      </p:pic>
      <p:pic>
        <p:nvPicPr>
          <p:cNvPr id="20" name=""/>
          <p:cNvPicPr>
            <a:picLocks xmlns:a="http://schemas.openxmlformats.org/drawingml/2006/main" noChangeAspect="1"/>
          </p:cNvPicPr>
          <p:nvPr/>
        </p:nvPicPr>
        <p:blipFill>
          <a:blip xmlns:r="http://schemas.openxmlformats.org/officeDocument/2006/relationships" xmlns:a="http://schemas.openxmlformats.org/drawingml/2006/main" r:embed="R3947424e9241422d"/>
          <a:srcRect xmlns:a="http://schemas.openxmlformats.org/drawingml/2006/main" l="0" t="10101" r="0" b="10101"/>
          <a:stretch xmlns:a="http://schemas.openxmlformats.org/drawingml/2006/main">
            <a:fillRect l="0" t="0" r="0" b="0"/>
          </a:stretch>
        </p:blipFill>
        <p:spPr>
          <a:xfrm xmlns:a="http://schemas.openxmlformats.org/drawingml/2006/main">
            <a:off x="6256592" y="2031968"/>
            <a:ext cx="5537168" cy="3534823"/>
          </a:xfrm>
          <a:prstGeom xmlns:a="http://schemas.openxmlformats.org/drawingml/2006/main" prst="roundRect">
            <a:avLst>
              <a:gd name="adj" fmla="val 3234"/>
            </a:avLst>
          </a:prstGeom>
        </p:spPr>
      </p:pic>
      <p:sp>
        <p:nvSpPr>
          <p:cNvPr id="8" name="ingest-caption">
            <a:extLst xmlns:a="http://schemas.openxmlformats.org/drawingml/2006/main">
              <a:ext uri="{FF2B5EF4-FFF2-40B4-BE49-F238E27FC236}">
                <a16:creationId xmlns:a16="http://schemas.microsoft.com/office/drawing/2014/main" id="{858AA5EF-7452-47E8-B2FF-ADA79A0D2AB3}"/>
              </a:ext>
            </a:extLst>
          </p:cNvPr>
          <p:cNvSpPr>
            <a:spLocks xmlns:a="http://schemas.openxmlformats.org/drawingml/2006/main" noGrp="1"/>
          </p:cNvSpPr>
          <p:nvPr/>
        </p:nvSpPr>
        <p:spPr>
          <a:xfrm xmlns:a="http://schemas.openxmlformats.org/drawingml/2006/main">
            <a:off x="581025" y="5219700"/>
            <a:ext cx="495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200" b="1">
                <a:solidFill>
                  <a:srgbClr val="FFFFFF"/>
                </a:solidFill>
              </a:defRPr>
            </a:pPr>
            <a:r>
              <a:rPr sz="1200" b="1">
                <a:solidFill>
                  <a:srgbClr val="FFFFFF"/>
                </a:solidFill>
              </a:rPr>
              <a:t>1  INGEST THE STREAM AND REPORT REAL STAGES</a:t>
            </a:r>
          </a:p>
        </p:txBody>
      </p:sp>
      <p:sp>
        <p:nvSpPr>
          <p:cNvPr id="9" name="studio-caption">
            <a:extLst xmlns:a="http://schemas.openxmlformats.org/drawingml/2006/main">
              <a:ext uri="{FF2B5EF4-FFF2-40B4-BE49-F238E27FC236}">
                <a16:creationId xmlns:a16="http://schemas.microsoft.com/office/drawing/2014/main" id="{9C8B81E2-76C0-4376-B240-174B97F0A520}"/>
              </a:ext>
            </a:extLst>
          </p:cNvPr>
          <p:cNvSpPr>
            <a:spLocks xmlns:a="http://schemas.openxmlformats.org/drawingml/2006/main" noGrp="1"/>
          </p:cNvSpPr>
          <p:nvPr/>
        </p:nvSpPr>
        <p:spPr>
          <a:xfrm xmlns:a="http://schemas.openxmlformats.org/drawingml/2006/main">
            <a:off x="6448425" y="5219700"/>
            <a:ext cx="5048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200" b="1">
                <a:solidFill>
                  <a:srgbClr val="FFFFFF"/>
                </a:solidFill>
              </a:defRPr>
            </a:pPr>
            <a:r>
              <a:rPr sz="1200" b="1">
                <a:solidFill>
                  <a:srgbClr val="FFFFFF"/>
                </a:solidFill>
              </a:rPr>
              <a:t>2  REVIEW CLIPS, EVIDENCE, AND COPY BEFORE ACTION</a:t>
            </a:r>
          </a:p>
        </p:txBody>
      </p:sp>
      <p:sp>
        <p:nvSpPr>
          <p:cNvPr id="10" name="afterplay-coral-mark">
            <a:extLst xmlns:a="http://schemas.openxmlformats.org/drawingml/2006/main">
              <a:ext uri="{FF2B5EF4-FFF2-40B4-BE49-F238E27FC236}">
                <a16:creationId xmlns:a16="http://schemas.microsoft.com/office/drawing/2014/main" id="{38DFE6D1-DAA3-497B-ACC5-1E72956F238A}"/>
              </a:ext>
            </a:extLst>
          </p:cNvPr>
          <p:cNvSpPr>
            <a:spLocks xmlns:a="http://schemas.openxmlformats.org/drawingml/2006/main" noGrp="1"/>
          </p:cNvSpPr>
          <p:nvPr/>
        </p:nvSpPr>
        <p:spPr>
          <a:xfrm xmlns:a="http://schemas.openxmlformats.org/drawingml/2006/main">
            <a:off x="393668" y="6343650"/>
            <a:ext cx="95250" cy="95250"/>
          </a:xfrm>
          <a:prstGeom xmlns:a="http://schemas.openxmlformats.org/drawingml/2006/main" prst="rect">
            <a:avLst/>
          </a:prstGeom>
          <a:solidFill xmlns:a="http://schemas.openxmlformats.org/drawingml/2006/main">
            <a:srgbClr val="FF6B57"/>
          </a:solidFill>
          <a:ln xmlns:a="http://schemas.openxmlformats.org/drawingml/2006/main" w="0">
            <a:solidFill>
              <a:srgbClr val="FF6B57"/>
            </a:solidFill>
            <a:prstDash val="solid"/>
          </a:ln>
        </p:spPr>
      </p:sp>
      <p:sp>
        <p:nvSpPr>
          <p:cNvPr id="11" name="afterplay-wordmark">
            <a:extLst xmlns:a="http://schemas.openxmlformats.org/drawingml/2006/main">
              <a:ext uri="{FF2B5EF4-FFF2-40B4-BE49-F238E27FC236}">
                <a16:creationId xmlns:a16="http://schemas.microsoft.com/office/drawing/2014/main" id="{74B251F2-50DA-4920-801A-274DAEBBDA0C}"/>
              </a:ext>
            </a:extLst>
          </p:cNvPr>
          <p:cNvSpPr>
            <a:spLocks xmlns:a="http://schemas.openxmlformats.org/drawingml/2006/main" noGrp="1"/>
          </p:cNvSpPr>
          <p:nvPr/>
        </p:nvSpPr>
        <p:spPr>
          <a:xfrm xmlns:a="http://schemas.openxmlformats.org/drawingml/2006/main">
            <a:off x="552450" y="6267450"/>
            <a:ext cx="114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050" b="1">
                <a:solidFill>
                  <a:srgbClr val="5C6368"/>
                </a:solidFill>
              </a:defRPr>
            </a:pPr>
            <a:r>
              <a:rPr sz="1050" b="1">
                <a:solidFill>
                  <a:srgbClr val="5C6368"/>
                </a:solidFill>
              </a:rPr>
              <a:t>AFTERPLAY</a:t>
            </a:r>
          </a:p>
        </p:txBody>
      </p:sp>
    </p:spTree>
    <p:extLst>
      <p:ext uri="{BB962C8B-B14F-4D97-AF65-F5344CB8AC3E}">
        <p14:creationId xmlns:p14="http://schemas.microsoft.com/office/powerpoint/2010/main" val="1798086343"/>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Rounded-Rectangle-5-1">
            <a:extLst xmlns:a="http://schemas.openxmlformats.org/drawingml/2006/main">
              <a:ext uri="{FF2B5EF4-FFF2-40B4-BE49-F238E27FC236}">
                <a16:creationId xmlns:a16="http://schemas.microsoft.com/office/drawing/2014/main" id="{AA68F9BF-4237-46D4-8389-4CC4050A2A72}"/>
              </a:ext>
            </a:extLst>
          </p:cNvPr>
          <p:cNvSpPr>
            <a:spLocks xmlns:a="http://schemas.openxmlformats.org/drawingml/2006/main" noGrp="1"/>
          </p:cNvSpPr>
          <p:nvPr/>
        </p:nvSpPr>
        <p:spPr>
          <a:xfrm xmlns:a="http://schemas.openxmlformats.org/drawingml/2006/main">
            <a:off x="393668" y="3022568"/>
            <a:ext cx="3568732" cy="2971800"/>
          </a:xfrm>
          <a:prstGeom xmlns:a="http://schemas.openxmlformats.org/drawingml/2006/main" prst="roundRect">
            <a:avLst>
              <a:gd name="adj" fmla="val 2564"/>
            </a:avLst>
          </a:prstGeom>
          <a:solidFill xmlns:a="http://schemas.openxmlformats.org/drawingml/2006/main">
            <a:srgbClr val="F2F2F2"/>
          </a:solidFill>
        </p:spPr>
      </p:sp>
      <p:sp>
        <p:nvSpPr>
          <p:cNvPr id="2" name="Rounded-Rectangle-6-2">
            <a:extLst xmlns:a="http://schemas.openxmlformats.org/drawingml/2006/main">
              <a:ext uri="{FF2B5EF4-FFF2-40B4-BE49-F238E27FC236}">
                <a16:creationId xmlns:a16="http://schemas.microsoft.com/office/drawing/2014/main" id="{97DBD756-1D66-4354-8D60-CD84A31A8702}"/>
              </a:ext>
            </a:extLst>
          </p:cNvPr>
          <p:cNvSpPr>
            <a:spLocks xmlns:a="http://schemas.openxmlformats.org/drawingml/2006/main" noGrp="1"/>
          </p:cNvSpPr>
          <p:nvPr/>
        </p:nvSpPr>
        <p:spPr>
          <a:xfrm xmlns:a="http://schemas.openxmlformats.org/drawingml/2006/main">
            <a:off x="4311682" y="3022568"/>
            <a:ext cx="3568732" cy="2971800"/>
          </a:xfrm>
          <a:prstGeom xmlns:a="http://schemas.openxmlformats.org/drawingml/2006/main" prst="roundRect">
            <a:avLst>
              <a:gd name="adj" fmla="val 2564"/>
            </a:avLst>
          </a:prstGeom>
          <a:solidFill xmlns:a="http://schemas.openxmlformats.org/drawingml/2006/main">
            <a:srgbClr val="F2F2F2"/>
          </a:solidFill>
        </p:spPr>
      </p:sp>
      <p:sp>
        <p:nvSpPr>
          <p:cNvPr id="3" name="Rounded-Rectangle-7-3">
            <a:extLst xmlns:a="http://schemas.openxmlformats.org/drawingml/2006/main">
              <a:ext uri="{FF2B5EF4-FFF2-40B4-BE49-F238E27FC236}">
                <a16:creationId xmlns:a16="http://schemas.microsoft.com/office/drawing/2014/main" id="{4A09EAD6-8143-4335-A9E3-9887EC080E64}"/>
              </a:ext>
            </a:extLst>
          </p:cNvPr>
          <p:cNvSpPr>
            <a:spLocks xmlns:a="http://schemas.openxmlformats.org/drawingml/2006/main" noGrp="1"/>
          </p:cNvSpPr>
          <p:nvPr/>
        </p:nvSpPr>
        <p:spPr>
          <a:xfrm xmlns:a="http://schemas.openxmlformats.org/drawingml/2006/main">
            <a:off x="8232267" y="3022568"/>
            <a:ext cx="3568732" cy="2971800"/>
          </a:xfrm>
          <a:prstGeom xmlns:a="http://schemas.openxmlformats.org/drawingml/2006/main" prst="roundRect">
            <a:avLst>
              <a:gd name="adj" fmla="val 2564"/>
            </a:avLst>
          </a:prstGeom>
          <a:solidFill xmlns:a="http://schemas.openxmlformats.org/drawingml/2006/main">
            <a:srgbClr val="F2F2F2"/>
          </a:solidFill>
        </p:spPr>
      </p:sp>
      <p:sp>
        <p:nvSpPr>
          <p:cNvPr id="4" name="Slide-Number-Placeholder-1-4">
            <a:extLst xmlns:a="http://schemas.openxmlformats.org/drawingml/2006/main">
              <a:ext uri="{FF2B5EF4-FFF2-40B4-BE49-F238E27FC236}">
                <a16:creationId xmlns:a16="http://schemas.microsoft.com/office/drawing/2014/main" id="{17ECB0BA-4BB9-480E-8491-FA778352ED55}"/>
              </a:ext>
            </a:extLst>
          </p:cNvPr>
          <p:cNvSpPr>
            <a:spLocks xmlns:a="http://schemas.openxmlformats.org/drawingml/2006/main" noGrp="1"/>
          </p:cNvSpPr>
          <p:nvPr/>
        </p:nvSpPr>
        <p:spPr>
          <a:xfrm xmlns:a="http://schemas.openxmlformats.org/drawingml/2006/main">
            <a:off x="11279315" y="6279261"/>
            <a:ext cx="518922" cy="241268"/>
          </a:xfrm>
          <a:prstGeom xmlns:a="http://schemas.openxmlformats.org/drawingml/2006/main" prst="rect">
            <a:avLst/>
          </a:prstGeom>
        </p:spPr>
        <p:txBody>
          <a:bodyPr xmlns:a="http://schemas.openxmlformats.org/drawingml/2006/main" lIns="0" tIns="0" rIns="0" bIns="0" anchor="b"/>
          <a:lstStyle xmlns:a="http://schemas.openxmlformats.org/drawingml/2006/main"/>
          <a:p xmlns:a="http://schemas.openxmlformats.org/drawingml/2006/main">
            <a:pPr algn="r">
              <a:lnSpc>
                <a:spcPct val="108000"/>
              </a:lnSpc>
              <a:spcBef>
                <a:spcPts val="0"/>
              </a:spcBef>
              <a:spcAft>
                <a:spcPts val="0"/>
              </a:spcAft>
              <a:buNone/>
              <a:defRPr sz="1000">
                <a:solidFill>
                  <a:srgbClr val="000000"/>
                </a:solidFill>
                <a:latin typeface="Helvetica Neue"/>
                <a:ea typeface="Helvetica Neue"/>
                <a:cs typeface="Helvetica Neue"/>
              </a:defRPr>
            </a:pPr>
            <a:r>
              <a:rPr sz="1050" b="0">
                <a:solidFill>
                  <a:srgbClr val="5C6368"/>
                </a:solidFill>
                <a:latin typeface="Helvetica Neue"/>
                <a:ea typeface="Helvetica Neue"/>
                <a:cs typeface="Helvetica Neue"/>
              </a:rPr>
              <a:t>07</a:t>
            </a:r>
          </a:p>
        </p:txBody>
      </p:sp>
      <p:sp>
        <p:nvSpPr>
          <p:cNvPr id="5" name="Title-2-5">
            <a:extLst xmlns:a="http://schemas.openxmlformats.org/drawingml/2006/main">
              <a:ext uri="{FF2B5EF4-FFF2-40B4-BE49-F238E27FC236}">
                <a16:creationId xmlns:a16="http://schemas.microsoft.com/office/drawing/2014/main" id="{599F0DD2-1B4A-4B29-9EF9-A60B5AB82257}"/>
              </a:ext>
            </a:extLst>
          </p:cNvPr>
          <p:cNvSpPr>
            <a:spLocks xmlns:a="http://schemas.openxmlformats.org/drawingml/2006/main" noGrp="1"/>
          </p:cNvSpPr>
          <p:nvPr/>
        </p:nvSpPr>
        <p:spPr>
          <a:xfrm xmlns:a="http://schemas.openxmlformats.org/drawingml/2006/main">
            <a:off x="393668" y="344043"/>
            <a:ext cx="11404568" cy="1047464"/>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96000"/>
              </a:lnSpc>
              <a:spcBef>
                <a:spcPts val="0"/>
              </a:spcBef>
              <a:spcAft>
                <a:spcPts val="0"/>
              </a:spcAft>
              <a:buNone/>
              <a:defRPr sz="2900">
                <a:solidFill>
                  <a:srgbClr val="000000"/>
                </a:solidFill>
                <a:latin typeface="Helvetica Neue"/>
                <a:ea typeface="Helvetica Neue"/>
                <a:cs typeface="Helvetica Neue"/>
              </a:defRPr>
            </a:pPr>
            <a:r>
              <a:rPr sz="3600" b="1">
                <a:solidFill>
                  <a:srgbClr val="0B0D0E"/>
                </a:solidFill>
                <a:latin typeface="Helvetica Neue"/>
                <a:ea typeface="Helvetica Neue"/>
                <a:cs typeface="Helvetica Neue"/>
              </a:rPr>
              <a:t>AI turns channel history into one test.</a:t>
            </a:r>
          </a:p>
        </p:txBody>
      </p:sp>
      <p:sp>
        <p:nvSpPr>
          <p:cNvPr id="6" name="Content-Placeholder-9-6">
            <a:extLst xmlns:a="http://schemas.openxmlformats.org/drawingml/2006/main">
              <a:ext uri="{FF2B5EF4-FFF2-40B4-BE49-F238E27FC236}">
                <a16:creationId xmlns:a16="http://schemas.microsoft.com/office/drawing/2014/main" id="{5AEBE563-FDA7-4F5B-BC71-EBFA2B2A5638}"/>
              </a:ext>
            </a:extLst>
          </p:cNvPr>
          <p:cNvSpPr>
            <a:spLocks xmlns:a="http://schemas.openxmlformats.org/drawingml/2006/main" noGrp="1"/>
          </p:cNvSpPr>
          <p:nvPr/>
        </p:nvSpPr>
        <p:spPr>
          <a:xfrm xmlns:a="http://schemas.openxmlformats.org/drawingml/2006/main">
            <a:off x="702374" y="4900613"/>
            <a:ext cx="2949607" cy="819150"/>
          </a:xfrm>
          <a:prstGeom xmlns:a="http://schemas.openxmlformats.org/drawingml/2006/main" prst="rect">
            <a:avLst/>
          </a:prstGeom>
        </p:spPr>
        <p:txBody>
          <a:bodyPr xmlns:a="http://schemas.openxmlformats.org/drawingml/2006/main" lIns="91440" tIns="45720" rIns="91440" bIns="45720">
            <a:normAutofit fontScale="100000"/>
          </a:bodyPr>
          <a:lstStyle xmlns:a="http://schemas.openxmlformats.org/drawingml/2006/main"/>
          <a:p xmlns:a="http://schemas.openxmlformats.org/drawingml/2006/main">
            <a:pPr algn="l">
              <a:lnSpc>
                <a:spcPct val="108000"/>
              </a:lnSpc>
              <a:spcBef>
                <a:spcPts val="0"/>
              </a:spcBef>
              <a:spcAft>
                <a:spcPts val="0"/>
              </a:spcAft>
              <a:buNone/>
              <a:defRPr sz="2400">
                <a:solidFill>
                  <a:srgbClr val="000000"/>
                </a:solidFill>
                <a:latin typeface="Helvetica Neue"/>
                <a:ea typeface="Helvetica Neue"/>
                <a:cs typeface="Helvetica Neue"/>
              </a:defRPr>
            </a:pPr>
            <a:r>
              <a:rPr sz="1650" b="0">
                <a:solidFill>
                  <a:srgbClr val="5C6368"/>
                </a:solidFill>
                <a:latin typeface="Helvetica Neue"/>
                <a:ea typeface="Helvetica Neue"/>
                <a:cs typeface="Helvetica Neue"/>
              </a:rPr>
              <a:t>history + current stream → diagnosis</a:t>
            </a:r>
          </a:p>
        </p:txBody>
      </p:sp>
      <p:sp>
        <p:nvSpPr>
          <p:cNvPr id="7" name="Content-Placeholder-10-7">
            <a:extLst xmlns:a="http://schemas.openxmlformats.org/drawingml/2006/main">
              <a:ext uri="{FF2B5EF4-FFF2-40B4-BE49-F238E27FC236}">
                <a16:creationId xmlns:a16="http://schemas.microsoft.com/office/drawing/2014/main" id="{296EFDC8-1D25-4A23-9559-A273DF5D48CD}"/>
              </a:ext>
            </a:extLst>
          </p:cNvPr>
          <p:cNvSpPr>
            <a:spLocks xmlns:a="http://schemas.openxmlformats.org/drawingml/2006/main" noGrp="1"/>
          </p:cNvSpPr>
          <p:nvPr/>
        </p:nvSpPr>
        <p:spPr>
          <a:xfrm xmlns:a="http://schemas.openxmlformats.org/drawingml/2006/main">
            <a:off x="8541830" y="4900613"/>
            <a:ext cx="2949607" cy="819150"/>
          </a:xfrm>
          <a:prstGeom xmlns:a="http://schemas.openxmlformats.org/drawingml/2006/main" prst="rect">
            <a:avLst/>
          </a:prstGeom>
        </p:spPr>
        <p:txBody>
          <a:bodyPr xmlns:a="http://schemas.openxmlformats.org/drawingml/2006/main" lIns="91440" tIns="45720" rIns="91440" bIns="45720">
            <a:normAutofit fontScale="100000"/>
          </a:bodyPr>
          <a:lstStyle xmlns:a="http://schemas.openxmlformats.org/drawingml/2006/main"/>
          <a:p xmlns:a="http://schemas.openxmlformats.org/drawingml/2006/main">
            <a:pPr algn="l">
              <a:lnSpc>
                <a:spcPct val="108000"/>
              </a:lnSpc>
              <a:spcBef>
                <a:spcPts val="0"/>
              </a:spcBef>
              <a:spcAft>
                <a:spcPts val="0"/>
              </a:spcAft>
              <a:buNone/>
              <a:defRPr sz="2400">
                <a:solidFill>
                  <a:srgbClr val="000000"/>
                </a:solidFill>
                <a:latin typeface="Helvetica Neue"/>
                <a:ea typeface="Helvetica Neue"/>
                <a:cs typeface="Helvetica Neue"/>
              </a:defRPr>
            </a:pPr>
            <a:r>
              <a:rPr sz="1650" b="0">
                <a:solidFill>
                  <a:srgbClr val="5C6368"/>
                </a:solidFill>
                <a:latin typeface="Helvetica Neue"/>
                <a:ea typeface="Helvetica Neue"/>
                <a:cs typeface="Helvetica Neue"/>
              </a:rPr>
              <a:t>results → memory update and next test</a:t>
            </a:r>
          </a:p>
        </p:txBody>
      </p:sp>
      <p:sp>
        <p:nvSpPr>
          <p:cNvPr id="8" name="Content-Placeholder-11-8">
            <a:extLst xmlns:a="http://schemas.openxmlformats.org/drawingml/2006/main">
              <a:ext uri="{FF2B5EF4-FFF2-40B4-BE49-F238E27FC236}">
                <a16:creationId xmlns:a16="http://schemas.microsoft.com/office/drawing/2014/main" id="{A1847440-4384-4ED5-A53D-86D7ECD01A37}"/>
              </a:ext>
            </a:extLst>
          </p:cNvPr>
          <p:cNvSpPr>
            <a:spLocks xmlns:a="http://schemas.openxmlformats.org/drawingml/2006/main" noGrp="1"/>
          </p:cNvSpPr>
          <p:nvPr/>
        </p:nvSpPr>
        <p:spPr>
          <a:xfrm xmlns:a="http://schemas.openxmlformats.org/drawingml/2006/main">
            <a:off x="4621244" y="4900613"/>
            <a:ext cx="2949607" cy="819150"/>
          </a:xfrm>
          <a:prstGeom xmlns:a="http://schemas.openxmlformats.org/drawingml/2006/main" prst="rect">
            <a:avLst/>
          </a:prstGeom>
        </p:spPr>
        <p:txBody>
          <a:bodyPr xmlns:a="http://schemas.openxmlformats.org/drawingml/2006/main" lIns="91440" tIns="45720" rIns="91440" bIns="45720">
            <a:normAutofit fontScale="100000"/>
          </a:bodyPr>
          <a:lstStyle xmlns:a="http://schemas.openxmlformats.org/drawingml/2006/main"/>
          <a:p xmlns:a="http://schemas.openxmlformats.org/drawingml/2006/main">
            <a:pPr algn="l">
              <a:lnSpc>
                <a:spcPct val="108000"/>
              </a:lnSpc>
              <a:spcBef>
                <a:spcPts val="0"/>
              </a:spcBef>
              <a:spcAft>
                <a:spcPts val="0"/>
              </a:spcAft>
              <a:buNone/>
              <a:defRPr sz="2400">
                <a:solidFill>
                  <a:srgbClr val="000000"/>
                </a:solidFill>
                <a:latin typeface="Helvetica Neue"/>
                <a:ea typeface="Helvetica Neue"/>
                <a:cs typeface="Helvetica Neue"/>
              </a:defRPr>
            </a:pPr>
            <a:r>
              <a:rPr sz="1650" b="0">
                <a:solidFill>
                  <a:srgbClr val="5C6368"/>
                </a:solidFill>
                <a:latin typeface="Helvetica Neue"/>
                <a:ea typeface="Helvetica Neue"/>
                <a:cs typeface="Helvetica Neue"/>
              </a:rPr>
              <a:t>diagnosis → hypothesis, clips, and copy</a:t>
            </a:r>
          </a:p>
        </p:txBody>
      </p:sp>
      <p:sp>
        <p:nvSpPr>
          <p:cNvPr id="9" name="Content-Placeholder-9-9">
            <a:extLst xmlns:a="http://schemas.openxmlformats.org/drawingml/2006/main">
              <a:ext uri="{FF2B5EF4-FFF2-40B4-BE49-F238E27FC236}">
                <a16:creationId xmlns:a16="http://schemas.microsoft.com/office/drawing/2014/main" id="{AE14C4A8-2EDE-4434-B9ED-78930904CB39}"/>
              </a:ext>
            </a:extLst>
          </p:cNvPr>
          <p:cNvSpPr>
            <a:spLocks xmlns:a="http://schemas.openxmlformats.org/drawingml/2006/main" noGrp="1"/>
          </p:cNvSpPr>
          <p:nvPr/>
        </p:nvSpPr>
        <p:spPr>
          <a:xfrm xmlns:a="http://schemas.openxmlformats.org/drawingml/2006/main">
            <a:off x="702374" y="3429000"/>
            <a:ext cx="2940082" cy="1359313"/>
          </a:xfrm>
          <a:prstGeom xmlns:a="http://schemas.openxmlformats.org/drawingml/2006/main" prst="rect">
            <a:avLst/>
          </a:prstGeom>
        </p:spPr>
        <p:txBody>
          <a:bodyPr xmlns:a="http://schemas.openxmlformats.org/drawingml/2006/main" lIns="0" tIns="0" rIns="0" bIns="0" anchor="b">
            <a:normAutofit fontScale="100000"/>
          </a:bodyPr>
          <a:lstStyle xmlns:a="http://schemas.openxmlformats.org/drawingml/2006/main"/>
          <a:p xmlns:a="http://schemas.openxmlformats.org/drawingml/2006/main">
            <a:pPr algn="l">
              <a:lnSpc>
                <a:spcPct val="108000"/>
              </a:lnSpc>
              <a:spcBef>
                <a:spcPts val="0"/>
              </a:spcBef>
              <a:spcAft>
                <a:spcPts val="0"/>
              </a:spcAft>
              <a:buNone/>
              <a:defRPr sz="2400">
                <a:solidFill>
                  <a:srgbClr val="000000"/>
                </a:solidFill>
                <a:latin typeface="Helvetica Neue"/>
                <a:ea typeface="Helvetica Neue"/>
                <a:cs typeface="Helvetica Neue"/>
              </a:defRPr>
            </a:pPr>
            <a:r>
              <a:rPr sz="4050" b="1">
                <a:solidFill>
                  <a:srgbClr val="0B0D0E"/>
                </a:solidFill>
                <a:latin typeface="Helvetica Neue"/>
                <a:ea typeface="Helvetica Neue"/>
                <a:cs typeface="Helvetica Neue"/>
              </a:rPr>
              <a:t>CONNECT</a:t>
            </a:r>
          </a:p>
        </p:txBody>
      </p:sp>
      <p:sp>
        <p:nvSpPr>
          <p:cNvPr id="10" name="Content-Placeholder-9-10">
            <a:extLst xmlns:a="http://schemas.openxmlformats.org/drawingml/2006/main">
              <a:ext uri="{FF2B5EF4-FFF2-40B4-BE49-F238E27FC236}">
                <a16:creationId xmlns:a16="http://schemas.microsoft.com/office/drawing/2014/main" id="{3654227F-1285-464B-B8B3-EBD210AD121E}"/>
              </a:ext>
            </a:extLst>
          </p:cNvPr>
          <p:cNvSpPr>
            <a:spLocks xmlns:a="http://schemas.openxmlformats.org/drawingml/2006/main" noGrp="1"/>
          </p:cNvSpPr>
          <p:nvPr/>
        </p:nvSpPr>
        <p:spPr>
          <a:xfrm xmlns:a="http://schemas.openxmlformats.org/drawingml/2006/main">
            <a:off x="4612958" y="3429000"/>
            <a:ext cx="2940082" cy="1359313"/>
          </a:xfrm>
          <a:prstGeom xmlns:a="http://schemas.openxmlformats.org/drawingml/2006/main" prst="rect">
            <a:avLst/>
          </a:prstGeom>
        </p:spPr>
        <p:txBody>
          <a:bodyPr xmlns:a="http://schemas.openxmlformats.org/drawingml/2006/main" lIns="0" tIns="0" rIns="0" bIns="0" anchor="b">
            <a:normAutofit fontScale="100000"/>
          </a:bodyPr>
          <a:lstStyle xmlns:a="http://schemas.openxmlformats.org/drawingml/2006/main"/>
          <a:p xmlns:a="http://schemas.openxmlformats.org/drawingml/2006/main">
            <a:pPr algn="l">
              <a:lnSpc>
                <a:spcPct val="108000"/>
              </a:lnSpc>
              <a:spcBef>
                <a:spcPts val="0"/>
              </a:spcBef>
              <a:spcAft>
                <a:spcPts val="0"/>
              </a:spcAft>
              <a:buNone/>
              <a:defRPr sz="2400">
                <a:solidFill>
                  <a:srgbClr val="000000"/>
                </a:solidFill>
                <a:latin typeface="Helvetica Neue"/>
                <a:ea typeface="Helvetica Neue"/>
                <a:cs typeface="Helvetica Neue"/>
              </a:defRPr>
            </a:pPr>
            <a:r>
              <a:rPr sz="4050" b="1">
                <a:solidFill>
                  <a:srgbClr val="0B0D0E"/>
                </a:solidFill>
                <a:latin typeface="Helvetica Neue"/>
                <a:ea typeface="Helvetica Neue"/>
                <a:cs typeface="Helvetica Neue"/>
              </a:rPr>
              <a:t>PLAN</a:t>
            </a:r>
          </a:p>
        </p:txBody>
      </p:sp>
      <p:sp>
        <p:nvSpPr>
          <p:cNvPr id="11" name="Content-Placeholder-9-11">
            <a:extLst xmlns:a="http://schemas.openxmlformats.org/drawingml/2006/main">
              <a:ext uri="{FF2B5EF4-FFF2-40B4-BE49-F238E27FC236}">
                <a16:creationId xmlns:a16="http://schemas.microsoft.com/office/drawing/2014/main" id="{A82545B2-5A98-41D5-932C-6AE74A6BFBE4}"/>
              </a:ext>
            </a:extLst>
          </p:cNvPr>
          <p:cNvSpPr>
            <a:spLocks xmlns:a="http://schemas.openxmlformats.org/drawingml/2006/main" noGrp="1"/>
          </p:cNvSpPr>
          <p:nvPr/>
        </p:nvSpPr>
        <p:spPr>
          <a:xfrm xmlns:a="http://schemas.openxmlformats.org/drawingml/2006/main">
            <a:off x="8562404" y="3429000"/>
            <a:ext cx="2940082" cy="1359313"/>
          </a:xfrm>
          <a:prstGeom xmlns:a="http://schemas.openxmlformats.org/drawingml/2006/main" prst="rect">
            <a:avLst/>
          </a:prstGeom>
        </p:spPr>
        <p:txBody>
          <a:bodyPr xmlns:a="http://schemas.openxmlformats.org/drawingml/2006/main" lIns="0" tIns="0" rIns="0" bIns="0" anchor="b">
            <a:normAutofit fontScale="100000"/>
          </a:bodyPr>
          <a:lstStyle xmlns:a="http://schemas.openxmlformats.org/drawingml/2006/main"/>
          <a:p xmlns:a="http://schemas.openxmlformats.org/drawingml/2006/main">
            <a:pPr algn="l">
              <a:lnSpc>
                <a:spcPct val="108000"/>
              </a:lnSpc>
              <a:spcBef>
                <a:spcPts val="0"/>
              </a:spcBef>
              <a:spcAft>
                <a:spcPts val="0"/>
              </a:spcAft>
              <a:buNone/>
              <a:defRPr sz="2400">
                <a:solidFill>
                  <a:srgbClr val="000000"/>
                </a:solidFill>
                <a:latin typeface="Helvetica Neue"/>
                <a:ea typeface="Helvetica Neue"/>
                <a:cs typeface="Helvetica Neue"/>
              </a:defRPr>
            </a:pPr>
            <a:r>
              <a:rPr sz="4050" b="1">
                <a:solidFill>
                  <a:srgbClr val="0B0D0E"/>
                </a:solidFill>
                <a:latin typeface="Helvetica Neue"/>
                <a:ea typeface="Helvetica Neue"/>
                <a:cs typeface="Helvetica Neue"/>
              </a:rPr>
              <a:t>LEARN</a:t>
            </a:r>
          </a:p>
        </p:txBody>
      </p:sp>
      <p:sp>
        <p:nvSpPr>
          <p:cNvPr id="12" name="Content-Placeholder-15-12">
            <a:extLst xmlns:a="http://schemas.openxmlformats.org/drawingml/2006/main">
              <a:ext uri="{FF2B5EF4-FFF2-40B4-BE49-F238E27FC236}">
                <a16:creationId xmlns:a16="http://schemas.microsoft.com/office/drawing/2014/main" id="{D37A0754-301F-4798-A972-EB4A1987DF75}"/>
              </a:ext>
            </a:extLst>
          </p:cNvPr>
          <p:cNvSpPr>
            <a:spLocks xmlns:a="http://schemas.openxmlformats.org/drawingml/2006/main" noGrp="1"/>
          </p:cNvSpPr>
          <p:nvPr/>
        </p:nvSpPr>
        <p:spPr>
          <a:xfrm xmlns:a="http://schemas.openxmlformats.org/drawingml/2006/main">
            <a:off x="393668" y="1138333"/>
            <a:ext cx="11404568" cy="1599438"/>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lnSpc>
                <a:spcPct val="108000"/>
              </a:lnSpc>
              <a:spcBef>
                <a:spcPts val="0"/>
              </a:spcBef>
              <a:spcAft>
                <a:spcPts val="700"/>
              </a:spcAft>
              <a:buNone/>
              <a:defRPr sz="1600">
                <a:solidFill>
                  <a:srgbClr val="000000"/>
                </a:solidFill>
                <a:latin typeface="Helvetica Neue"/>
                <a:ea typeface="Helvetica Neue"/>
                <a:cs typeface="Helvetica Neue"/>
              </a:defRPr>
            </a:pPr>
            <a:r>
              <a:rPr sz="1350" b="1">
                <a:solidFill>
                  <a:srgbClr val="B53E31"/>
                </a:solidFill>
                <a:latin typeface="Helvetica Neue"/>
                <a:ea typeface="Helvetica Neue"/>
                <a:cs typeface="Helvetica Neue"/>
              </a:rPr>
              <a:t>WHERE AI CONTRIBUTES</a:t>
            </a:r>
          </a:p>
          <a:p xmlns:a="http://schemas.openxmlformats.org/drawingml/2006/main">
            <a:pPr algn="l">
              <a:lnSpc>
                <a:spcPct val="112000"/>
              </a:lnSpc>
              <a:spcBef>
                <a:spcPts val="0"/>
              </a:spcBef>
              <a:spcAft>
                <a:spcPts val="0"/>
              </a:spcAft>
              <a:buNone/>
              <a:defRPr sz="1600">
                <a:solidFill>
                  <a:srgbClr val="000000"/>
                </a:solidFill>
                <a:latin typeface="Helvetica Neue"/>
                <a:ea typeface="Helvetica Neue"/>
                <a:cs typeface="Helvetica Neue"/>
              </a:defRPr>
            </a:pPr>
            <a:r>
              <a:rPr sz="1650" b="0">
                <a:solidFill>
                  <a:srgbClr val="5C6368"/>
                </a:solidFill>
                <a:latin typeface="Helvetica Neue"/>
                <a:ea typeface="Helvetica Neue"/>
                <a:cs typeface="Helvetica Neue"/>
              </a:rPr>
              <a:t>The model reads evidence across streams, writes a testable plan, and later explains what the result should change. Code enforces approval and action rules.</a:t>
            </a:r>
          </a:p>
        </p:txBody>
      </p:sp>
      <p:sp>
        <p:nvSpPr>
          <p:cNvPr id="13" name="afterplay-accent-rule">
            <a:extLst xmlns:a="http://schemas.openxmlformats.org/drawingml/2006/main">
              <a:ext uri="{FF2B5EF4-FFF2-40B4-BE49-F238E27FC236}">
                <a16:creationId xmlns:a16="http://schemas.microsoft.com/office/drawing/2014/main" id="{CEFCC173-2583-4381-A34C-B8FD6B8E3047}"/>
              </a:ext>
            </a:extLst>
          </p:cNvPr>
          <p:cNvSpPr>
            <a:spLocks xmlns:a="http://schemas.openxmlformats.org/drawingml/2006/main" noGrp="1"/>
          </p:cNvSpPr>
          <p:nvPr/>
        </p:nvSpPr>
        <p:spPr>
          <a:xfrm xmlns:a="http://schemas.openxmlformats.org/drawingml/2006/main">
            <a:off x="393668" y="1457325"/>
            <a:ext cx="876300" cy="57150"/>
          </a:xfrm>
          <a:prstGeom xmlns:a="http://schemas.openxmlformats.org/drawingml/2006/main" prst="rect">
            <a:avLst/>
          </a:prstGeom>
          <a:solidFill xmlns:a="http://schemas.openxmlformats.org/drawingml/2006/main">
            <a:srgbClr val="FF6B57"/>
          </a:solidFill>
          <a:ln xmlns:a="http://schemas.openxmlformats.org/drawingml/2006/main" w="0">
            <a:solidFill>
              <a:srgbClr val="FF6B57"/>
            </a:solidFill>
            <a:prstDash val="solid"/>
          </a:ln>
        </p:spPr>
      </p:sp>
      <p:sp>
        <p:nvSpPr>
          <p:cNvPr id="14" name="afterplay-coral-mark">
            <a:extLst xmlns:a="http://schemas.openxmlformats.org/drawingml/2006/main">
              <a:ext uri="{FF2B5EF4-FFF2-40B4-BE49-F238E27FC236}">
                <a16:creationId xmlns:a16="http://schemas.microsoft.com/office/drawing/2014/main" id="{50DFE4E9-DBF4-4B71-A0AB-79268158C543}"/>
              </a:ext>
            </a:extLst>
          </p:cNvPr>
          <p:cNvSpPr>
            <a:spLocks xmlns:a="http://schemas.openxmlformats.org/drawingml/2006/main" noGrp="1"/>
          </p:cNvSpPr>
          <p:nvPr/>
        </p:nvSpPr>
        <p:spPr>
          <a:xfrm xmlns:a="http://schemas.openxmlformats.org/drawingml/2006/main">
            <a:off x="393668" y="6343650"/>
            <a:ext cx="95250" cy="95250"/>
          </a:xfrm>
          <a:prstGeom xmlns:a="http://schemas.openxmlformats.org/drawingml/2006/main" prst="rect">
            <a:avLst/>
          </a:prstGeom>
          <a:solidFill xmlns:a="http://schemas.openxmlformats.org/drawingml/2006/main">
            <a:srgbClr val="FF6B57"/>
          </a:solidFill>
          <a:ln xmlns:a="http://schemas.openxmlformats.org/drawingml/2006/main" w="0">
            <a:solidFill>
              <a:srgbClr val="FF6B57"/>
            </a:solidFill>
            <a:prstDash val="solid"/>
          </a:ln>
        </p:spPr>
      </p:sp>
      <p:sp>
        <p:nvSpPr>
          <p:cNvPr id="15" name="afterplay-wordmark">
            <a:extLst xmlns:a="http://schemas.openxmlformats.org/drawingml/2006/main">
              <a:ext uri="{FF2B5EF4-FFF2-40B4-BE49-F238E27FC236}">
                <a16:creationId xmlns:a16="http://schemas.microsoft.com/office/drawing/2014/main" id="{98F870DE-1611-4BD0-A357-2768C79CA953}"/>
              </a:ext>
            </a:extLst>
          </p:cNvPr>
          <p:cNvSpPr>
            <a:spLocks xmlns:a="http://schemas.openxmlformats.org/drawingml/2006/main" noGrp="1"/>
          </p:cNvSpPr>
          <p:nvPr/>
        </p:nvSpPr>
        <p:spPr>
          <a:xfrm xmlns:a="http://schemas.openxmlformats.org/drawingml/2006/main">
            <a:off x="552450" y="6267450"/>
            <a:ext cx="114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050" b="1">
                <a:solidFill>
                  <a:srgbClr val="5C6368"/>
                </a:solidFill>
              </a:defRPr>
            </a:pPr>
            <a:r>
              <a:rPr sz="1050" b="1">
                <a:solidFill>
                  <a:srgbClr val="5C6368"/>
                </a:solidFill>
              </a:rPr>
              <a:t>AFTERPLAY</a:t>
            </a:r>
          </a:p>
        </p:txBody>
      </p:sp>
    </p:spTree>
    <p:extLst>
      <p:ext uri="{BB962C8B-B14F-4D97-AF65-F5344CB8AC3E}">
        <p14:creationId xmlns:p14="http://schemas.microsoft.com/office/powerpoint/2010/main" val="1546682643"/>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Google-Shape-532-p58-2">
            <a:extLst xmlns:a="http://schemas.openxmlformats.org/drawingml/2006/main">
              <a:ext uri="{FF2B5EF4-FFF2-40B4-BE49-F238E27FC236}">
                <a16:creationId xmlns:a16="http://schemas.microsoft.com/office/drawing/2014/main" id="{9AF40C74-031E-41FC-B950-EAA2D427FD1B}"/>
              </a:ext>
            </a:extLst>
          </p:cNvPr>
          <p:cNvSpPr>
            <a:spLocks xmlns:a="http://schemas.openxmlformats.org/drawingml/2006/main" noGrp="1"/>
          </p:cNvSpPr>
          <p:nvPr/>
        </p:nvSpPr>
        <p:spPr>
          <a:xfrm xmlns:a="http://schemas.openxmlformats.org/drawingml/2006/main">
            <a:off x="11279315" y="6279261"/>
            <a:ext cx="518922" cy="241268"/>
          </a:xfrm>
          <a:prstGeom xmlns:a="http://schemas.openxmlformats.org/drawingml/2006/main" prst="rect">
            <a:avLst/>
          </a:prstGeom>
        </p:spPr>
        <p:txBody>
          <a:bodyPr xmlns:a="http://schemas.openxmlformats.org/drawingml/2006/main" wrap="square" lIns="0" tIns="0" rIns="0" bIns="0" anchor="b">
            <a:noAutofit/>
          </a:bodyPr>
          <a:lstStyle xmlns:a="http://schemas.openxmlformats.org/drawingml/2006/main"/>
          <a:p xmlns:a="http://schemas.openxmlformats.org/drawingml/2006/main">
            <a:pPr algn="r">
              <a:lnSpc>
                <a:spcPct val="108000"/>
              </a:lnSpc>
              <a:spcBef>
                <a:spcPts val="0"/>
              </a:spcBef>
              <a:spcAft>
                <a:spcPts val="0"/>
              </a:spcAft>
              <a:buNone/>
              <a:defRPr sz="1000">
                <a:solidFill>
                  <a:srgbClr val="000000"/>
                </a:solidFill>
                <a:latin typeface="Helvetica Neue"/>
                <a:ea typeface="Helvetica Neue"/>
                <a:cs typeface="Helvetica Neue"/>
              </a:defRPr>
            </a:pPr>
            <a:r>
              <a:rPr sz="1050" b="0">
                <a:solidFill>
                  <a:srgbClr val="5C6368"/>
                </a:solidFill>
                <a:latin typeface="Helvetica Neue"/>
                <a:ea typeface="Helvetica Neue"/>
                <a:cs typeface="Helvetica Neue"/>
              </a:rPr>
              <a:t>08</a:t>
            </a:r>
          </a:p>
        </p:txBody>
      </p:sp>
      <p:sp>
        <p:nvSpPr>
          <p:cNvPr id="2" name="Google-Shape-533-p58-3">
            <a:extLst xmlns:a="http://schemas.openxmlformats.org/drawingml/2006/main">
              <a:ext uri="{FF2B5EF4-FFF2-40B4-BE49-F238E27FC236}">
                <a16:creationId xmlns:a16="http://schemas.microsoft.com/office/drawing/2014/main" id="{EAAA5CDF-CED8-4571-B880-E2670EF0B081}"/>
              </a:ext>
            </a:extLst>
          </p:cNvPr>
          <p:cNvSpPr>
            <a:spLocks xmlns:a="http://schemas.openxmlformats.org/drawingml/2006/main" noGrp="1"/>
          </p:cNvSpPr>
          <p:nvPr/>
        </p:nvSpPr>
        <p:spPr>
          <a:xfrm xmlns:a="http://schemas.openxmlformats.org/drawingml/2006/main">
            <a:off x="393668" y="344043"/>
            <a:ext cx="11404568" cy="1047464"/>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6000"/>
              </a:lnSpc>
              <a:spcBef>
                <a:spcPts val="0"/>
              </a:spcBef>
              <a:spcAft>
                <a:spcPts val="0"/>
              </a:spcAft>
              <a:buNone/>
              <a:defRPr sz="2900">
                <a:solidFill>
                  <a:srgbClr val="000000"/>
                </a:solidFill>
                <a:latin typeface="Helvetica Neue"/>
                <a:ea typeface="Helvetica Neue"/>
                <a:cs typeface="Helvetica Neue"/>
              </a:defRPr>
            </a:pPr>
            <a:r>
              <a:rPr sz="3000" b="1">
                <a:solidFill>
                  <a:srgbClr val="0B0D0E"/>
                </a:solidFill>
                <a:latin typeface="Helvetica Neue"/>
                <a:ea typeface="Helvetica Neue"/>
                <a:cs typeface="Helvetica Neue"/>
              </a:rPr>
              <a:t>Three records guide each test.</a:t>
            </a:r>
          </a:p>
        </p:txBody>
      </p:sp>
      <p:sp>
        <p:nvSpPr>
          <p:cNvPr id="3" name="Picture-3-4-backing">
            <a:extLst xmlns:a="http://schemas.openxmlformats.org/drawingml/2006/main">
              <a:ext uri="{FF2B5EF4-FFF2-40B4-BE49-F238E27FC236}">
                <a16:creationId xmlns:a16="http://schemas.microsoft.com/office/drawing/2014/main" id="{2FCD313A-B97B-421B-8A49-EF0D4B9BB25D}"/>
              </a:ext>
            </a:extLst>
          </p:cNvPr>
          <p:cNvSpPr>
            <a:spLocks xmlns:a="http://schemas.openxmlformats.org/drawingml/2006/main" noGrp="1"/>
          </p:cNvSpPr>
          <p:nvPr/>
        </p:nvSpPr>
        <p:spPr>
          <a:xfrm xmlns:a="http://schemas.openxmlformats.org/drawingml/2006/main">
            <a:off x="6269069" y="396431"/>
            <a:ext cx="5539740" cy="5602034"/>
          </a:xfrm>
          <a:prstGeom xmlns:a="http://schemas.openxmlformats.org/drawingml/2006/main" prst="roundRect">
            <a:avLst>
              <a:gd name="adj" fmla="val 1376"/>
            </a:avLst>
          </a:prstGeom>
          <a:solidFill xmlns:a="http://schemas.openxmlformats.org/drawingml/2006/main">
            <a:srgbClr val="EAF5FB"/>
          </a:solidFill>
          <a:ln xmlns:a="http://schemas.openxmlformats.org/drawingml/2006/main" w="9525">
            <a:solidFill>
              <a:srgbClr val="B8BCC4"/>
            </a:solidFill>
            <a:prstDash val="solid"/>
          </a:ln>
        </p:spPr>
      </p:sp>
      <p:sp>
        <p:nvSpPr>
          <p:cNvPr id="5" name="Google-Shape-534-p58-5">
            <a:extLst xmlns:a="http://schemas.openxmlformats.org/drawingml/2006/main">
              <a:ext uri="{FF2B5EF4-FFF2-40B4-BE49-F238E27FC236}">
                <a16:creationId xmlns:a16="http://schemas.microsoft.com/office/drawing/2014/main" id="{27ECE8F8-791A-473C-8923-F64C7227101C}"/>
              </a:ext>
            </a:extLst>
          </p:cNvPr>
          <p:cNvSpPr>
            <a:spLocks xmlns:a="http://schemas.openxmlformats.org/drawingml/2006/main" noGrp="1"/>
          </p:cNvSpPr>
          <p:nvPr/>
        </p:nvSpPr>
        <p:spPr>
          <a:xfrm xmlns:a="http://schemas.openxmlformats.org/drawingml/2006/main">
            <a:off x="393668" y="2031968"/>
            <a:ext cx="5537168" cy="396240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spcBef>
                <a:spcPts val="0"/>
              </a:spcBef>
              <a:spcAft>
                <a:spcPts val="1400"/>
              </a:spcAft>
              <a:buNone/>
              <a:defRPr sz="2400">
                <a:solidFill>
                  <a:srgbClr val="000000"/>
                </a:solidFill>
                <a:latin typeface="Helvetica Neue"/>
                <a:ea typeface="Helvetica Neue"/>
                <a:cs typeface="Helvetica Neue"/>
              </a:defRPr>
            </a:pPr>
            <a:r>
              <a:rPr sz="3000" b="1">
                <a:solidFill>
                  <a:srgbClr val="0B0D0E"/>
                </a:solidFill>
                <a:latin typeface="Helvetica Neue"/>
                <a:ea typeface="Helvetica Neue"/>
                <a:cs typeface="Helvetica Neue"/>
              </a:rPr>
              <a:t>The next test starts with evidence</a:t>
            </a:r>
          </a:p>
          <a:p xmlns:a="http://schemas.openxmlformats.org/drawingml/2006/main">
            <a:pPr algn="l">
              <a:lnSpc>
                <a:spcPct val="112000"/>
              </a:lnSpc>
              <a:spcBef>
                <a:spcPts val="0"/>
              </a:spcBef>
              <a:spcAft>
                <a:spcPts val="0"/>
              </a:spcAft>
              <a:buNone/>
              <a:defRPr sz="2400">
                <a:solidFill>
                  <a:srgbClr val="000000"/>
                </a:solidFill>
                <a:latin typeface="Helvetica Neue"/>
                <a:ea typeface="Helvetica Neue"/>
                <a:cs typeface="Helvetica Neue"/>
              </a:defRPr>
            </a:pPr>
            <a:r>
              <a:rPr sz="1725" b="0">
                <a:solidFill>
                  <a:srgbClr val="5C6368"/>
                </a:solidFill>
                <a:latin typeface="Helvetica Neue"/>
                <a:ea typeface="Helvetica Neue"/>
                <a:cs typeface="Helvetica Neue"/>
              </a:rPr>
              <a:t>Channel: recurring jokes, storylines, viewer quotes, and moments.
Audience: who returned, what they repeated, and when they left.
Market: what similar channels tried, which formats are growing, and where gaps remain.</a:t>
            </a:r>
          </a:p>
        </p:txBody>
      </p:sp>
      <p:sp>
        <p:nvSpPr>
          <p:cNvPr id="6" name="afterplay-accent-rule">
            <a:extLst xmlns:a="http://schemas.openxmlformats.org/drawingml/2006/main">
              <a:ext uri="{FF2B5EF4-FFF2-40B4-BE49-F238E27FC236}">
                <a16:creationId xmlns:a16="http://schemas.microsoft.com/office/drawing/2014/main" id="{B0C87901-8CB6-4C9B-A401-63E1667E07D9}"/>
              </a:ext>
            </a:extLst>
          </p:cNvPr>
          <p:cNvSpPr>
            <a:spLocks xmlns:a="http://schemas.openxmlformats.org/drawingml/2006/main" noGrp="1"/>
          </p:cNvSpPr>
          <p:nvPr/>
        </p:nvSpPr>
        <p:spPr>
          <a:xfrm xmlns:a="http://schemas.openxmlformats.org/drawingml/2006/main">
            <a:off x="393668" y="1457325"/>
            <a:ext cx="876300" cy="57150"/>
          </a:xfrm>
          <a:prstGeom xmlns:a="http://schemas.openxmlformats.org/drawingml/2006/main" prst="rect">
            <a:avLst/>
          </a:prstGeom>
          <a:solidFill xmlns:a="http://schemas.openxmlformats.org/drawingml/2006/main">
            <a:srgbClr val="FF6B57"/>
          </a:solidFill>
          <a:ln xmlns:a="http://schemas.openxmlformats.org/drawingml/2006/main" w="0">
            <a:solidFill>
              <a:srgbClr val="FF6B57"/>
            </a:solidFill>
            <a:prstDash val="solid"/>
          </a:ln>
        </p:spPr>
      </p:sp>
      <p:pic>
        <p:nvPicPr>
          <p:cNvPr id="18" name=""/>
          <p:cNvPicPr>
            <a:picLocks xmlns:a="http://schemas.openxmlformats.org/drawingml/2006/main" noChangeAspect="1"/>
          </p:cNvPicPr>
          <p:nvPr/>
        </p:nvPicPr>
        <p:blipFill>
          <a:blip xmlns:r="http://schemas.openxmlformats.org/officeDocument/2006/relationships" xmlns:a="http://schemas.openxmlformats.org/drawingml/2006/main" r:embed="R54992a7b04e74bd3"/>
          <a:srcRect xmlns:a="http://schemas.openxmlformats.org/drawingml/2006/main" l="10101" t="0" r="10101" b="0"/>
          <a:stretch xmlns:a="http://schemas.openxmlformats.org/drawingml/2006/main">
            <a:fillRect l="0" t="0" r="0" b="0"/>
          </a:stretch>
        </p:blipFill>
        <p:spPr>
          <a:xfrm xmlns:a="http://schemas.openxmlformats.org/drawingml/2006/main">
            <a:off x="6269069" y="396431"/>
            <a:ext cx="5539740" cy="5602034"/>
          </a:xfrm>
          <a:prstGeom xmlns:a="http://schemas.openxmlformats.org/drawingml/2006/main" prst="roundRect">
            <a:avLst>
              <a:gd name="adj" fmla="val 2063"/>
            </a:avLst>
          </a:prstGeom>
        </p:spPr>
      </p:pic>
      <p:sp>
        <p:nvSpPr>
          <p:cNvPr id="8" name="moat-label">
            <a:extLst xmlns:a="http://schemas.openxmlformats.org/drawingml/2006/main">
              <a:ext uri="{FF2B5EF4-FFF2-40B4-BE49-F238E27FC236}">
                <a16:creationId xmlns:a16="http://schemas.microsoft.com/office/drawing/2014/main" id="{3E706104-9389-4372-A9D5-0430B49A6D18}"/>
              </a:ext>
            </a:extLst>
          </p:cNvPr>
          <p:cNvSpPr>
            <a:spLocks xmlns:a="http://schemas.openxmlformats.org/drawingml/2006/main" noGrp="1"/>
          </p:cNvSpPr>
          <p:nvPr/>
        </p:nvSpPr>
        <p:spPr>
          <a:xfrm xmlns:a="http://schemas.openxmlformats.org/drawingml/2006/main">
            <a:off x="393668" y="5810250"/>
            <a:ext cx="4857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350" b="1">
                <a:solidFill>
                  <a:srgbClr val="B53E31"/>
                </a:solidFill>
              </a:defRPr>
            </a:pPr>
            <a:r>
              <a:rPr sz="1350" b="1">
                <a:solidFill>
                  <a:srgbClr val="B53E31"/>
                </a:solidFill>
              </a:rPr>
              <a:t>CHANNEL  ·  AUDIENCE  ·  MARKET</a:t>
            </a:r>
          </a:p>
        </p:txBody>
      </p:sp>
      <p:sp>
        <p:nvSpPr>
          <p:cNvPr id="9" name="afterplay-coral-mark">
            <a:extLst xmlns:a="http://schemas.openxmlformats.org/drawingml/2006/main">
              <a:ext uri="{FF2B5EF4-FFF2-40B4-BE49-F238E27FC236}">
                <a16:creationId xmlns:a16="http://schemas.microsoft.com/office/drawing/2014/main" id="{8F04AFFF-B637-422A-BDA0-3C2D8674B6BD}"/>
              </a:ext>
            </a:extLst>
          </p:cNvPr>
          <p:cNvSpPr>
            <a:spLocks xmlns:a="http://schemas.openxmlformats.org/drawingml/2006/main" noGrp="1"/>
          </p:cNvSpPr>
          <p:nvPr/>
        </p:nvSpPr>
        <p:spPr>
          <a:xfrm xmlns:a="http://schemas.openxmlformats.org/drawingml/2006/main">
            <a:off x="393668" y="6343650"/>
            <a:ext cx="95250" cy="95250"/>
          </a:xfrm>
          <a:prstGeom xmlns:a="http://schemas.openxmlformats.org/drawingml/2006/main" prst="rect">
            <a:avLst/>
          </a:prstGeom>
          <a:solidFill xmlns:a="http://schemas.openxmlformats.org/drawingml/2006/main">
            <a:srgbClr val="FF6B57"/>
          </a:solidFill>
          <a:ln xmlns:a="http://schemas.openxmlformats.org/drawingml/2006/main" w="0">
            <a:solidFill>
              <a:srgbClr val="FF6B57"/>
            </a:solidFill>
            <a:prstDash val="solid"/>
          </a:ln>
        </p:spPr>
      </p:sp>
      <p:sp>
        <p:nvSpPr>
          <p:cNvPr id="10" name="afterplay-wordmark">
            <a:extLst xmlns:a="http://schemas.openxmlformats.org/drawingml/2006/main">
              <a:ext uri="{FF2B5EF4-FFF2-40B4-BE49-F238E27FC236}">
                <a16:creationId xmlns:a16="http://schemas.microsoft.com/office/drawing/2014/main" id="{1B4C351B-D0CD-402B-93D8-7B925DA886F2}"/>
              </a:ext>
            </a:extLst>
          </p:cNvPr>
          <p:cNvSpPr>
            <a:spLocks xmlns:a="http://schemas.openxmlformats.org/drawingml/2006/main" noGrp="1"/>
          </p:cNvSpPr>
          <p:nvPr/>
        </p:nvSpPr>
        <p:spPr>
          <a:xfrm xmlns:a="http://schemas.openxmlformats.org/drawingml/2006/main">
            <a:off x="552450" y="6267450"/>
            <a:ext cx="114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050" b="1">
                <a:solidFill>
                  <a:srgbClr val="5C6368"/>
                </a:solidFill>
              </a:defRPr>
            </a:pPr>
            <a:r>
              <a:rPr sz="1050" b="1">
                <a:solidFill>
                  <a:srgbClr val="5C6368"/>
                </a:solidFill>
              </a:rPr>
              <a:t>AFTERPLAY</a:t>
            </a:r>
          </a:p>
        </p:txBody>
      </p:sp>
    </p:spTree>
    <p:extLst>
      <p:ext uri="{BB962C8B-B14F-4D97-AF65-F5344CB8AC3E}">
        <p14:creationId xmlns:p14="http://schemas.microsoft.com/office/powerpoint/2010/main" val="483062615"/>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Rounded-Rectangle-5-1">
            <a:extLst xmlns:a="http://schemas.openxmlformats.org/drawingml/2006/main">
              <a:ext uri="{FF2B5EF4-FFF2-40B4-BE49-F238E27FC236}">
                <a16:creationId xmlns:a16="http://schemas.microsoft.com/office/drawing/2014/main" id="{AA68F9BF-4237-46D4-8389-4CC4050A2A72}"/>
              </a:ext>
            </a:extLst>
          </p:cNvPr>
          <p:cNvSpPr>
            <a:spLocks xmlns:a="http://schemas.openxmlformats.org/drawingml/2006/main" noGrp="1"/>
          </p:cNvSpPr>
          <p:nvPr/>
        </p:nvSpPr>
        <p:spPr>
          <a:xfrm xmlns:a="http://schemas.openxmlformats.org/drawingml/2006/main">
            <a:off x="393668" y="3022568"/>
            <a:ext cx="3568732" cy="2971800"/>
          </a:xfrm>
          <a:prstGeom xmlns:a="http://schemas.openxmlformats.org/drawingml/2006/main" prst="roundRect">
            <a:avLst>
              <a:gd name="adj" fmla="val 2564"/>
            </a:avLst>
          </a:prstGeom>
          <a:solidFill xmlns:a="http://schemas.openxmlformats.org/drawingml/2006/main">
            <a:srgbClr val="F2F2F2"/>
          </a:solidFill>
        </p:spPr>
      </p:sp>
      <p:sp>
        <p:nvSpPr>
          <p:cNvPr id="2" name="Rounded-Rectangle-6-2">
            <a:extLst xmlns:a="http://schemas.openxmlformats.org/drawingml/2006/main">
              <a:ext uri="{FF2B5EF4-FFF2-40B4-BE49-F238E27FC236}">
                <a16:creationId xmlns:a16="http://schemas.microsoft.com/office/drawing/2014/main" id="{97DBD756-1D66-4354-8D60-CD84A31A8702}"/>
              </a:ext>
            </a:extLst>
          </p:cNvPr>
          <p:cNvSpPr>
            <a:spLocks xmlns:a="http://schemas.openxmlformats.org/drawingml/2006/main" noGrp="1"/>
          </p:cNvSpPr>
          <p:nvPr/>
        </p:nvSpPr>
        <p:spPr>
          <a:xfrm xmlns:a="http://schemas.openxmlformats.org/drawingml/2006/main">
            <a:off x="4311682" y="3022568"/>
            <a:ext cx="3568732" cy="2971800"/>
          </a:xfrm>
          <a:prstGeom xmlns:a="http://schemas.openxmlformats.org/drawingml/2006/main" prst="roundRect">
            <a:avLst>
              <a:gd name="adj" fmla="val 2564"/>
            </a:avLst>
          </a:prstGeom>
          <a:solidFill xmlns:a="http://schemas.openxmlformats.org/drawingml/2006/main">
            <a:srgbClr val="F2F2F2"/>
          </a:solidFill>
        </p:spPr>
      </p:sp>
      <p:sp>
        <p:nvSpPr>
          <p:cNvPr id="3" name="Rounded-Rectangle-7-3">
            <a:extLst xmlns:a="http://schemas.openxmlformats.org/drawingml/2006/main">
              <a:ext uri="{FF2B5EF4-FFF2-40B4-BE49-F238E27FC236}">
                <a16:creationId xmlns:a16="http://schemas.microsoft.com/office/drawing/2014/main" id="{4A09EAD6-8143-4335-A9E3-9887EC080E64}"/>
              </a:ext>
            </a:extLst>
          </p:cNvPr>
          <p:cNvSpPr>
            <a:spLocks xmlns:a="http://schemas.openxmlformats.org/drawingml/2006/main" noGrp="1"/>
          </p:cNvSpPr>
          <p:nvPr/>
        </p:nvSpPr>
        <p:spPr>
          <a:xfrm xmlns:a="http://schemas.openxmlformats.org/drawingml/2006/main">
            <a:off x="8232267" y="3022568"/>
            <a:ext cx="3568732" cy="2971800"/>
          </a:xfrm>
          <a:prstGeom xmlns:a="http://schemas.openxmlformats.org/drawingml/2006/main" prst="roundRect">
            <a:avLst>
              <a:gd name="adj" fmla="val 2564"/>
            </a:avLst>
          </a:prstGeom>
          <a:solidFill xmlns:a="http://schemas.openxmlformats.org/drawingml/2006/main">
            <a:srgbClr val="F2F2F2"/>
          </a:solidFill>
        </p:spPr>
      </p:sp>
      <p:sp>
        <p:nvSpPr>
          <p:cNvPr id="4" name="Slide-Number-Placeholder-1-4">
            <a:extLst xmlns:a="http://schemas.openxmlformats.org/drawingml/2006/main">
              <a:ext uri="{FF2B5EF4-FFF2-40B4-BE49-F238E27FC236}">
                <a16:creationId xmlns:a16="http://schemas.microsoft.com/office/drawing/2014/main" id="{17ECB0BA-4BB9-480E-8491-FA778352ED55}"/>
              </a:ext>
            </a:extLst>
          </p:cNvPr>
          <p:cNvSpPr>
            <a:spLocks xmlns:a="http://schemas.openxmlformats.org/drawingml/2006/main" noGrp="1"/>
          </p:cNvSpPr>
          <p:nvPr/>
        </p:nvSpPr>
        <p:spPr>
          <a:xfrm xmlns:a="http://schemas.openxmlformats.org/drawingml/2006/main">
            <a:off x="11279315" y="6279261"/>
            <a:ext cx="518922" cy="241268"/>
          </a:xfrm>
          <a:prstGeom xmlns:a="http://schemas.openxmlformats.org/drawingml/2006/main" prst="rect">
            <a:avLst/>
          </a:prstGeom>
        </p:spPr>
        <p:txBody>
          <a:bodyPr xmlns:a="http://schemas.openxmlformats.org/drawingml/2006/main" lIns="0" tIns="0" rIns="0" bIns="0" anchor="b"/>
          <a:lstStyle xmlns:a="http://schemas.openxmlformats.org/drawingml/2006/main"/>
          <a:p xmlns:a="http://schemas.openxmlformats.org/drawingml/2006/main">
            <a:pPr algn="r">
              <a:lnSpc>
                <a:spcPct val="108000"/>
              </a:lnSpc>
              <a:spcBef>
                <a:spcPts val="0"/>
              </a:spcBef>
              <a:spcAft>
                <a:spcPts val="0"/>
              </a:spcAft>
              <a:buNone/>
              <a:defRPr sz="1000">
                <a:solidFill>
                  <a:srgbClr val="000000"/>
                </a:solidFill>
                <a:latin typeface="Helvetica Neue"/>
                <a:ea typeface="Helvetica Neue"/>
                <a:cs typeface="Helvetica Neue"/>
              </a:defRPr>
            </a:pPr>
            <a:r>
              <a:rPr sz="1050" b="0">
                <a:solidFill>
                  <a:srgbClr val="5C6368"/>
                </a:solidFill>
                <a:latin typeface="Helvetica Neue"/>
                <a:ea typeface="Helvetica Neue"/>
                <a:cs typeface="Helvetica Neue"/>
              </a:rPr>
              <a:t>09</a:t>
            </a:r>
          </a:p>
        </p:txBody>
      </p:sp>
      <p:sp>
        <p:nvSpPr>
          <p:cNvPr id="5" name="Title-2-5">
            <a:extLst xmlns:a="http://schemas.openxmlformats.org/drawingml/2006/main">
              <a:ext uri="{FF2B5EF4-FFF2-40B4-BE49-F238E27FC236}">
                <a16:creationId xmlns:a16="http://schemas.microsoft.com/office/drawing/2014/main" id="{599F0DD2-1B4A-4B29-9EF9-A60B5AB82257}"/>
              </a:ext>
            </a:extLst>
          </p:cNvPr>
          <p:cNvSpPr>
            <a:spLocks xmlns:a="http://schemas.openxmlformats.org/drawingml/2006/main" noGrp="1"/>
          </p:cNvSpPr>
          <p:nvPr/>
        </p:nvSpPr>
        <p:spPr>
          <a:xfrm xmlns:a="http://schemas.openxmlformats.org/drawingml/2006/main">
            <a:off x="393668" y="344043"/>
            <a:ext cx="11404568" cy="1047464"/>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96000"/>
              </a:lnSpc>
              <a:spcBef>
                <a:spcPts val="0"/>
              </a:spcBef>
              <a:spcAft>
                <a:spcPts val="0"/>
              </a:spcAft>
              <a:buNone/>
              <a:defRPr sz="2900">
                <a:solidFill>
                  <a:srgbClr val="000000"/>
                </a:solidFill>
                <a:latin typeface="Helvetica Neue"/>
                <a:ea typeface="Helvetica Neue"/>
                <a:cs typeface="Helvetica Neue"/>
              </a:defRPr>
            </a:pPr>
            <a:r>
              <a:rPr sz="3600" b="1">
                <a:solidFill>
                  <a:srgbClr val="0B0D0E"/>
                </a:solidFill>
                <a:latin typeface="Helvetica Neue"/>
                <a:ea typeface="Helvetica Neue"/>
                <a:cs typeface="Helvetica Neue"/>
              </a:rPr>
              <a:t>Each technical layer has one clear job.</a:t>
            </a:r>
          </a:p>
        </p:txBody>
      </p:sp>
      <p:sp>
        <p:nvSpPr>
          <p:cNvPr id="6" name="Content-Placeholder-9-6">
            <a:extLst xmlns:a="http://schemas.openxmlformats.org/drawingml/2006/main">
              <a:ext uri="{FF2B5EF4-FFF2-40B4-BE49-F238E27FC236}">
                <a16:creationId xmlns:a16="http://schemas.microsoft.com/office/drawing/2014/main" id="{5AEBE563-FDA7-4F5B-BC71-EBFA2B2A5638}"/>
              </a:ext>
            </a:extLst>
          </p:cNvPr>
          <p:cNvSpPr>
            <a:spLocks xmlns:a="http://schemas.openxmlformats.org/drawingml/2006/main" noGrp="1"/>
          </p:cNvSpPr>
          <p:nvPr/>
        </p:nvSpPr>
        <p:spPr>
          <a:xfrm xmlns:a="http://schemas.openxmlformats.org/drawingml/2006/main">
            <a:off x="702374" y="4900613"/>
            <a:ext cx="2949607" cy="819150"/>
          </a:xfrm>
          <a:prstGeom xmlns:a="http://schemas.openxmlformats.org/drawingml/2006/main" prst="rect">
            <a:avLst/>
          </a:prstGeom>
        </p:spPr>
        <p:txBody>
          <a:bodyPr xmlns:a="http://schemas.openxmlformats.org/drawingml/2006/main" lIns="91440" tIns="45720" rIns="91440" bIns="45720">
            <a:normAutofit fontScale="100000"/>
          </a:bodyPr>
          <a:lstStyle xmlns:a="http://schemas.openxmlformats.org/drawingml/2006/main"/>
          <a:p xmlns:a="http://schemas.openxmlformats.org/drawingml/2006/main">
            <a:pPr algn="l">
              <a:lnSpc>
                <a:spcPct val="108000"/>
              </a:lnSpc>
              <a:spcBef>
                <a:spcPts val="0"/>
              </a:spcBef>
              <a:spcAft>
                <a:spcPts val="0"/>
              </a:spcAft>
              <a:buNone/>
              <a:defRPr sz="2400">
                <a:solidFill>
                  <a:srgbClr val="000000"/>
                </a:solidFill>
                <a:latin typeface="Helvetica Neue"/>
                <a:ea typeface="Helvetica Neue"/>
                <a:cs typeface="Helvetica Neue"/>
              </a:defRPr>
            </a:pPr>
            <a:r>
              <a:rPr sz="1650" b="0">
                <a:solidFill>
                  <a:srgbClr val="5C6368"/>
                </a:solidFill>
                <a:latin typeface="Helvetica Neue"/>
                <a:ea typeface="Helvetica Neue"/>
                <a:cs typeface="Helvetica Neue"/>
              </a:rPr>
              <a:t>Responses API + strict output + Zod</a:t>
            </a:r>
          </a:p>
        </p:txBody>
      </p:sp>
      <p:sp>
        <p:nvSpPr>
          <p:cNvPr id="7" name="Content-Placeholder-10-7">
            <a:extLst xmlns:a="http://schemas.openxmlformats.org/drawingml/2006/main">
              <a:ext uri="{FF2B5EF4-FFF2-40B4-BE49-F238E27FC236}">
                <a16:creationId xmlns:a16="http://schemas.microsoft.com/office/drawing/2014/main" id="{296EFDC8-1D25-4A23-9559-A273DF5D48CD}"/>
              </a:ext>
            </a:extLst>
          </p:cNvPr>
          <p:cNvSpPr>
            <a:spLocks xmlns:a="http://schemas.openxmlformats.org/drawingml/2006/main" noGrp="1"/>
          </p:cNvSpPr>
          <p:nvPr/>
        </p:nvSpPr>
        <p:spPr>
          <a:xfrm xmlns:a="http://schemas.openxmlformats.org/drawingml/2006/main">
            <a:off x="8541830" y="4900613"/>
            <a:ext cx="2949607" cy="819150"/>
          </a:xfrm>
          <a:prstGeom xmlns:a="http://schemas.openxmlformats.org/drawingml/2006/main" prst="rect">
            <a:avLst/>
          </a:prstGeom>
        </p:spPr>
        <p:txBody>
          <a:bodyPr xmlns:a="http://schemas.openxmlformats.org/drawingml/2006/main" lIns="91440" tIns="45720" rIns="91440" bIns="45720">
            <a:normAutofit fontScale="100000"/>
          </a:bodyPr>
          <a:lstStyle xmlns:a="http://schemas.openxmlformats.org/drawingml/2006/main"/>
          <a:p xmlns:a="http://schemas.openxmlformats.org/drawingml/2006/main">
            <a:pPr algn="l">
              <a:lnSpc>
                <a:spcPct val="108000"/>
              </a:lnSpc>
              <a:spcBef>
                <a:spcPts val="0"/>
              </a:spcBef>
              <a:spcAft>
                <a:spcPts val="0"/>
              </a:spcAft>
              <a:buNone/>
              <a:defRPr sz="2400">
                <a:solidFill>
                  <a:srgbClr val="000000"/>
                </a:solidFill>
                <a:latin typeface="Helvetica Neue"/>
                <a:ea typeface="Helvetica Neue"/>
                <a:cs typeface="Helvetica Neue"/>
              </a:defRPr>
            </a:pPr>
            <a:r>
              <a:rPr sz="1650" b="0">
                <a:solidFill>
                  <a:srgbClr val="5C6368"/>
                </a:solidFill>
                <a:latin typeface="Helvetica Neue"/>
                <a:ea typeface="Helvetica Neue"/>
                <a:cs typeface="Helvetica Neue"/>
              </a:rPr>
              <a:t>Python + ffmpeg + transcript and callback scoring</a:t>
            </a:r>
          </a:p>
        </p:txBody>
      </p:sp>
      <p:sp>
        <p:nvSpPr>
          <p:cNvPr id="8" name="Content-Placeholder-11-8">
            <a:extLst xmlns:a="http://schemas.openxmlformats.org/drawingml/2006/main">
              <a:ext uri="{FF2B5EF4-FFF2-40B4-BE49-F238E27FC236}">
                <a16:creationId xmlns:a16="http://schemas.microsoft.com/office/drawing/2014/main" id="{A1847440-4384-4ED5-A53D-86D7ECD01A37}"/>
              </a:ext>
            </a:extLst>
          </p:cNvPr>
          <p:cNvSpPr>
            <a:spLocks xmlns:a="http://schemas.openxmlformats.org/drawingml/2006/main" noGrp="1"/>
          </p:cNvSpPr>
          <p:nvPr/>
        </p:nvSpPr>
        <p:spPr>
          <a:xfrm xmlns:a="http://schemas.openxmlformats.org/drawingml/2006/main">
            <a:off x="4621244" y="4900613"/>
            <a:ext cx="2949607" cy="819150"/>
          </a:xfrm>
          <a:prstGeom xmlns:a="http://schemas.openxmlformats.org/drawingml/2006/main" prst="rect">
            <a:avLst/>
          </a:prstGeom>
        </p:spPr>
        <p:txBody>
          <a:bodyPr xmlns:a="http://schemas.openxmlformats.org/drawingml/2006/main" lIns="91440" tIns="45720" rIns="91440" bIns="45720">
            <a:normAutofit fontScale="100000"/>
          </a:bodyPr>
          <a:lstStyle xmlns:a="http://schemas.openxmlformats.org/drawingml/2006/main"/>
          <a:p xmlns:a="http://schemas.openxmlformats.org/drawingml/2006/main">
            <a:pPr algn="l">
              <a:lnSpc>
                <a:spcPct val="108000"/>
              </a:lnSpc>
              <a:spcBef>
                <a:spcPts val="0"/>
              </a:spcBef>
              <a:spcAft>
                <a:spcPts val="0"/>
              </a:spcAft>
              <a:buNone/>
              <a:defRPr sz="2400">
                <a:solidFill>
                  <a:srgbClr val="000000"/>
                </a:solidFill>
                <a:latin typeface="Helvetica Neue"/>
                <a:ea typeface="Helvetica Neue"/>
                <a:cs typeface="Helvetica Neue"/>
              </a:defRPr>
            </a:pPr>
            <a:r>
              <a:rPr sz="1650" b="0">
                <a:solidFill>
                  <a:srgbClr val="5C6368"/>
                </a:solidFill>
                <a:latin typeface="Helvetica Neue"/>
                <a:ea typeface="Helvetica Neue"/>
                <a:cs typeface="Helvetica Neue"/>
              </a:rPr>
              <a:t>Next.js 16 + TypeScript + approval gates</a:t>
            </a:r>
          </a:p>
        </p:txBody>
      </p:sp>
      <p:sp>
        <p:nvSpPr>
          <p:cNvPr id="9" name="Content-Placeholder-9-9">
            <a:extLst xmlns:a="http://schemas.openxmlformats.org/drawingml/2006/main">
              <a:ext uri="{FF2B5EF4-FFF2-40B4-BE49-F238E27FC236}">
                <a16:creationId xmlns:a16="http://schemas.microsoft.com/office/drawing/2014/main" id="{AE14C4A8-2EDE-4434-B9ED-78930904CB39}"/>
              </a:ext>
            </a:extLst>
          </p:cNvPr>
          <p:cNvSpPr>
            <a:spLocks xmlns:a="http://schemas.openxmlformats.org/drawingml/2006/main" noGrp="1"/>
          </p:cNvSpPr>
          <p:nvPr/>
        </p:nvSpPr>
        <p:spPr>
          <a:xfrm xmlns:a="http://schemas.openxmlformats.org/drawingml/2006/main">
            <a:off x="702374" y="3429000"/>
            <a:ext cx="2940082" cy="1359313"/>
          </a:xfrm>
          <a:prstGeom xmlns:a="http://schemas.openxmlformats.org/drawingml/2006/main" prst="rect">
            <a:avLst/>
          </a:prstGeom>
        </p:spPr>
        <p:txBody>
          <a:bodyPr xmlns:a="http://schemas.openxmlformats.org/drawingml/2006/main" lIns="0" tIns="0" rIns="0" bIns="0" anchor="b">
            <a:normAutofit fontScale="100000"/>
          </a:bodyPr>
          <a:lstStyle xmlns:a="http://schemas.openxmlformats.org/drawingml/2006/main"/>
          <a:p xmlns:a="http://schemas.openxmlformats.org/drawingml/2006/main">
            <a:pPr algn="l">
              <a:lnSpc>
                <a:spcPct val="108000"/>
              </a:lnSpc>
              <a:spcBef>
                <a:spcPts val="0"/>
              </a:spcBef>
              <a:spcAft>
                <a:spcPts val="0"/>
              </a:spcAft>
              <a:buNone/>
              <a:defRPr sz="2400">
                <a:solidFill>
                  <a:srgbClr val="000000"/>
                </a:solidFill>
                <a:latin typeface="Helvetica Neue"/>
                <a:ea typeface="Helvetica Neue"/>
                <a:cs typeface="Helvetica Neue"/>
              </a:defRPr>
            </a:pPr>
            <a:r>
              <a:rPr sz="4050" b="1">
                <a:solidFill>
                  <a:srgbClr val="0B0D0E"/>
                </a:solidFill>
                <a:latin typeface="Helvetica Neue"/>
                <a:ea typeface="Helvetica Neue"/>
                <a:cs typeface="Helvetica Neue"/>
              </a:rPr>
              <a:t>MODEL</a:t>
            </a:r>
          </a:p>
        </p:txBody>
      </p:sp>
      <p:sp>
        <p:nvSpPr>
          <p:cNvPr id="10" name="Content-Placeholder-9-10">
            <a:extLst xmlns:a="http://schemas.openxmlformats.org/drawingml/2006/main">
              <a:ext uri="{FF2B5EF4-FFF2-40B4-BE49-F238E27FC236}">
                <a16:creationId xmlns:a16="http://schemas.microsoft.com/office/drawing/2014/main" id="{3654227F-1285-464B-B8B3-EBD210AD121E}"/>
              </a:ext>
            </a:extLst>
          </p:cNvPr>
          <p:cNvSpPr>
            <a:spLocks xmlns:a="http://schemas.openxmlformats.org/drawingml/2006/main" noGrp="1"/>
          </p:cNvSpPr>
          <p:nvPr/>
        </p:nvSpPr>
        <p:spPr>
          <a:xfrm xmlns:a="http://schemas.openxmlformats.org/drawingml/2006/main">
            <a:off x="4612958" y="3429000"/>
            <a:ext cx="2940082" cy="1359313"/>
          </a:xfrm>
          <a:prstGeom xmlns:a="http://schemas.openxmlformats.org/drawingml/2006/main" prst="rect">
            <a:avLst/>
          </a:prstGeom>
        </p:spPr>
        <p:txBody>
          <a:bodyPr xmlns:a="http://schemas.openxmlformats.org/drawingml/2006/main" lIns="0" tIns="0" rIns="0" bIns="0" anchor="b">
            <a:normAutofit fontScale="100000"/>
          </a:bodyPr>
          <a:lstStyle xmlns:a="http://schemas.openxmlformats.org/drawingml/2006/main"/>
          <a:p xmlns:a="http://schemas.openxmlformats.org/drawingml/2006/main">
            <a:pPr algn="l">
              <a:lnSpc>
                <a:spcPct val="108000"/>
              </a:lnSpc>
              <a:spcBef>
                <a:spcPts val="0"/>
              </a:spcBef>
              <a:spcAft>
                <a:spcPts val="0"/>
              </a:spcAft>
              <a:buNone/>
              <a:defRPr sz="2400">
                <a:solidFill>
                  <a:srgbClr val="000000"/>
                </a:solidFill>
                <a:latin typeface="Helvetica Neue"/>
                <a:ea typeface="Helvetica Neue"/>
                <a:cs typeface="Helvetica Neue"/>
              </a:defRPr>
            </a:pPr>
            <a:r>
              <a:rPr sz="4050" b="1">
                <a:solidFill>
                  <a:srgbClr val="0B0D0E"/>
                </a:solidFill>
                <a:latin typeface="Helvetica Neue"/>
                <a:ea typeface="Helvetica Neue"/>
                <a:cs typeface="Helvetica Neue"/>
              </a:rPr>
              <a:t>APP</a:t>
            </a:r>
          </a:p>
        </p:txBody>
      </p:sp>
      <p:sp>
        <p:nvSpPr>
          <p:cNvPr id="11" name="Content-Placeholder-9-11">
            <a:extLst xmlns:a="http://schemas.openxmlformats.org/drawingml/2006/main">
              <a:ext uri="{FF2B5EF4-FFF2-40B4-BE49-F238E27FC236}">
                <a16:creationId xmlns:a16="http://schemas.microsoft.com/office/drawing/2014/main" id="{A82545B2-5A98-41D5-932C-6AE74A6BFBE4}"/>
              </a:ext>
            </a:extLst>
          </p:cNvPr>
          <p:cNvSpPr>
            <a:spLocks xmlns:a="http://schemas.openxmlformats.org/drawingml/2006/main" noGrp="1"/>
          </p:cNvSpPr>
          <p:nvPr/>
        </p:nvSpPr>
        <p:spPr>
          <a:xfrm xmlns:a="http://schemas.openxmlformats.org/drawingml/2006/main">
            <a:off x="8562404" y="3429000"/>
            <a:ext cx="2940082" cy="1359313"/>
          </a:xfrm>
          <a:prstGeom xmlns:a="http://schemas.openxmlformats.org/drawingml/2006/main" prst="rect">
            <a:avLst/>
          </a:prstGeom>
        </p:spPr>
        <p:txBody>
          <a:bodyPr xmlns:a="http://schemas.openxmlformats.org/drawingml/2006/main" lIns="0" tIns="0" rIns="0" bIns="0" anchor="b">
            <a:normAutofit fontScale="100000"/>
          </a:bodyPr>
          <a:lstStyle xmlns:a="http://schemas.openxmlformats.org/drawingml/2006/main"/>
          <a:p xmlns:a="http://schemas.openxmlformats.org/drawingml/2006/main">
            <a:pPr algn="l">
              <a:lnSpc>
                <a:spcPct val="108000"/>
              </a:lnSpc>
              <a:spcBef>
                <a:spcPts val="0"/>
              </a:spcBef>
              <a:spcAft>
                <a:spcPts val="0"/>
              </a:spcAft>
              <a:buNone/>
              <a:defRPr sz="2400">
                <a:solidFill>
                  <a:srgbClr val="000000"/>
                </a:solidFill>
                <a:latin typeface="Helvetica Neue"/>
                <a:ea typeface="Helvetica Neue"/>
                <a:cs typeface="Helvetica Neue"/>
              </a:defRPr>
            </a:pPr>
            <a:r>
              <a:rPr sz="4050" b="1">
                <a:solidFill>
                  <a:srgbClr val="0B0D0E"/>
                </a:solidFill>
                <a:latin typeface="Helvetica Neue"/>
                <a:ea typeface="Helvetica Neue"/>
                <a:cs typeface="Helvetica Neue"/>
              </a:rPr>
              <a:t>CLIPPER</a:t>
            </a:r>
          </a:p>
        </p:txBody>
      </p:sp>
      <p:sp>
        <p:nvSpPr>
          <p:cNvPr id="12" name="Content-Placeholder-15-12">
            <a:extLst xmlns:a="http://schemas.openxmlformats.org/drawingml/2006/main">
              <a:ext uri="{FF2B5EF4-FFF2-40B4-BE49-F238E27FC236}">
                <a16:creationId xmlns:a16="http://schemas.microsoft.com/office/drawing/2014/main" id="{D37A0754-301F-4798-A972-EB4A1987DF75}"/>
              </a:ext>
            </a:extLst>
          </p:cNvPr>
          <p:cNvSpPr>
            <a:spLocks xmlns:a="http://schemas.openxmlformats.org/drawingml/2006/main" noGrp="1"/>
          </p:cNvSpPr>
          <p:nvPr/>
        </p:nvSpPr>
        <p:spPr>
          <a:xfrm xmlns:a="http://schemas.openxmlformats.org/drawingml/2006/main">
            <a:off x="393668" y="1138333"/>
            <a:ext cx="11404568" cy="1599438"/>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lnSpc>
                <a:spcPct val="108000"/>
              </a:lnSpc>
              <a:spcBef>
                <a:spcPts val="0"/>
              </a:spcBef>
              <a:spcAft>
                <a:spcPts val="700"/>
              </a:spcAft>
              <a:buNone/>
              <a:defRPr sz="1600">
                <a:solidFill>
                  <a:srgbClr val="000000"/>
                </a:solidFill>
                <a:latin typeface="Helvetica Neue"/>
                <a:ea typeface="Helvetica Neue"/>
                <a:cs typeface="Helvetica Neue"/>
              </a:defRPr>
            </a:pPr>
            <a:r>
              <a:rPr sz="1350" b="1">
                <a:solidFill>
                  <a:srgbClr val="B53E31"/>
                </a:solidFill>
                <a:latin typeface="Helvetica Neue"/>
                <a:ea typeface="Helvetica Neue"/>
                <a:cs typeface="Helvetica Neue"/>
              </a:rPr>
              <a:t>IMPLEMENTED V1 ARCHITECTURE</a:t>
            </a:r>
          </a:p>
          <a:p xmlns:a="http://schemas.openxmlformats.org/drawingml/2006/main">
            <a:pPr algn="l">
              <a:lnSpc>
                <a:spcPct val="112000"/>
              </a:lnSpc>
              <a:spcBef>
                <a:spcPts val="0"/>
              </a:spcBef>
              <a:spcAft>
                <a:spcPts val="0"/>
              </a:spcAft>
              <a:buNone/>
              <a:defRPr sz="1600">
                <a:solidFill>
                  <a:srgbClr val="000000"/>
                </a:solidFill>
                <a:latin typeface="Helvetica Neue"/>
                <a:ea typeface="Helvetica Neue"/>
                <a:cs typeface="Helvetica Neue"/>
              </a:defRPr>
            </a:pPr>
            <a:r>
              <a:rPr sz="1650" b="0">
                <a:solidFill>
                  <a:srgbClr val="5C6368"/>
                </a:solidFill>
                <a:latin typeface="Helvetica Neue"/>
                <a:ea typeface="Helvetica Neue"/>
                <a:cs typeface="Helvetica Neue"/>
              </a:rPr>
              <a:t>A Next.js app owns the experiment lifecycle. A Python service handles media. Both return validated records that the creator can inspect.</a:t>
            </a:r>
          </a:p>
        </p:txBody>
      </p:sp>
      <p:sp>
        <p:nvSpPr>
          <p:cNvPr id="13" name="afterplay-accent-rule">
            <a:extLst xmlns:a="http://schemas.openxmlformats.org/drawingml/2006/main">
              <a:ext uri="{FF2B5EF4-FFF2-40B4-BE49-F238E27FC236}">
                <a16:creationId xmlns:a16="http://schemas.microsoft.com/office/drawing/2014/main" id="{CEFCC173-2583-4381-A34C-B8FD6B8E3047}"/>
              </a:ext>
            </a:extLst>
          </p:cNvPr>
          <p:cNvSpPr>
            <a:spLocks xmlns:a="http://schemas.openxmlformats.org/drawingml/2006/main" noGrp="1"/>
          </p:cNvSpPr>
          <p:nvPr/>
        </p:nvSpPr>
        <p:spPr>
          <a:xfrm xmlns:a="http://schemas.openxmlformats.org/drawingml/2006/main">
            <a:off x="393668" y="1457325"/>
            <a:ext cx="876300" cy="57150"/>
          </a:xfrm>
          <a:prstGeom xmlns:a="http://schemas.openxmlformats.org/drawingml/2006/main" prst="rect">
            <a:avLst/>
          </a:prstGeom>
          <a:solidFill xmlns:a="http://schemas.openxmlformats.org/drawingml/2006/main">
            <a:srgbClr val="FF6B57"/>
          </a:solidFill>
          <a:ln xmlns:a="http://schemas.openxmlformats.org/drawingml/2006/main" w="0">
            <a:solidFill>
              <a:srgbClr val="FF6B57"/>
            </a:solidFill>
            <a:prstDash val="solid"/>
          </a:ln>
        </p:spPr>
      </p:sp>
      <p:sp>
        <p:nvSpPr>
          <p:cNvPr id="14" name="afterplay-coral-mark">
            <a:extLst xmlns:a="http://schemas.openxmlformats.org/drawingml/2006/main">
              <a:ext uri="{FF2B5EF4-FFF2-40B4-BE49-F238E27FC236}">
                <a16:creationId xmlns:a16="http://schemas.microsoft.com/office/drawing/2014/main" id="{50DFE4E9-DBF4-4B71-A0AB-79268158C543}"/>
              </a:ext>
            </a:extLst>
          </p:cNvPr>
          <p:cNvSpPr>
            <a:spLocks xmlns:a="http://schemas.openxmlformats.org/drawingml/2006/main" noGrp="1"/>
          </p:cNvSpPr>
          <p:nvPr/>
        </p:nvSpPr>
        <p:spPr>
          <a:xfrm xmlns:a="http://schemas.openxmlformats.org/drawingml/2006/main">
            <a:off x="393668" y="6343650"/>
            <a:ext cx="95250" cy="95250"/>
          </a:xfrm>
          <a:prstGeom xmlns:a="http://schemas.openxmlformats.org/drawingml/2006/main" prst="rect">
            <a:avLst/>
          </a:prstGeom>
          <a:solidFill xmlns:a="http://schemas.openxmlformats.org/drawingml/2006/main">
            <a:srgbClr val="FF6B57"/>
          </a:solidFill>
          <a:ln xmlns:a="http://schemas.openxmlformats.org/drawingml/2006/main" w="0">
            <a:solidFill>
              <a:srgbClr val="FF6B57"/>
            </a:solidFill>
            <a:prstDash val="solid"/>
          </a:ln>
        </p:spPr>
      </p:sp>
      <p:sp>
        <p:nvSpPr>
          <p:cNvPr id="15" name="afterplay-wordmark">
            <a:extLst xmlns:a="http://schemas.openxmlformats.org/drawingml/2006/main">
              <a:ext uri="{FF2B5EF4-FFF2-40B4-BE49-F238E27FC236}">
                <a16:creationId xmlns:a16="http://schemas.microsoft.com/office/drawing/2014/main" id="{98F870DE-1611-4BD0-A357-2768C79CA953}"/>
              </a:ext>
            </a:extLst>
          </p:cNvPr>
          <p:cNvSpPr>
            <a:spLocks xmlns:a="http://schemas.openxmlformats.org/drawingml/2006/main" noGrp="1"/>
          </p:cNvSpPr>
          <p:nvPr/>
        </p:nvSpPr>
        <p:spPr>
          <a:xfrm xmlns:a="http://schemas.openxmlformats.org/drawingml/2006/main">
            <a:off x="552450" y="6267450"/>
            <a:ext cx="114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050" b="1">
                <a:solidFill>
                  <a:srgbClr val="5C6368"/>
                </a:solidFill>
              </a:defRPr>
            </a:pPr>
            <a:r>
              <a:rPr sz="1050" b="1">
                <a:solidFill>
                  <a:srgbClr val="5C6368"/>
                </a:solidFill>
              </a:rPr>
              <a:t>AFTERPLAY</a:t>
            </a:r>
          </a:p>
        </p:txBody>
      </p:sp>
    </p:spTree>
    <p:extLst>
      <p:ext uri="{BB962C8B-B14F-4D97-AF65-F5344CB8AC3E}">
        <p14:creationId xmlns:p14="http://schemas.microsoft.com/office/powerpoint/2010/main" val="1546682643"/>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Google-Shape-532-p58-2">
            <a:extLst xmlns:a="http://schemas.openxmlformats.org/drawingml/2006/main">
              <a:ext uri="{FF2B5EF4-FFF2-40B4-BE49-F238E27FC236}">
                <a16:creationId xmlns:a16="http://schemas.microsoft.com/office/drawing/2014/main" id="{4FEF74B8-F5C6-41CF-9480-DCED472E462A}"/>
              </a:ext>
            </a:extLst>
          </p:cNvPr>
          <p:cNvSpPr>
            <a:spLocks xmlns:a="http://schemas.openxmlformats.org/drawingml/2006/main" noGrp="1"/>
          </p:cNvSpPr>
          <p:nvPr/>
        </p:nvSpPr>
        <p:spPr>
          <a:xfrm xmlns:a="http://schemas.openxmlformats.org/drawingml/2006/main">
            <a:off x="11279315" y="6279261"/>
            <a:ext cx="518922" cy="241268"/>
          </a:xfrm>
          <a:prstGeom xmlns:a="http://schemas.openxmlformats.org/drawingml/2006/main" prst="rect">
            <a:avLst/>
          </a:prstGeom>
        </p:spPr>
        <p:txBody>
          <a:bodyPr xmlns:a="http://schemas.openxmlformats.org/drawingml/2006/main" wrap="square" lIns="0" tIns="0" rIns="0" bIns="0" anchor="b">
            <a:noAutofit/>
          </a:bodyPr>
          <a:lstStyle xmlns:a="http://schemas.openxmlformats.org/drawingml/2006/main"/>
          <a:p xmlns:a="http://schemas.openxmlformats.org/drawingml/2006/main">
            <a:pPr algn="r">
              <a:lnSpc>
                <a:spcPct val="108000"/>
              </a:lnSpc>
              <a:spcBef>
                <a:spcPts val="0"/>
              </a:spcBef>
              <a:spcAft>
                <a:spcPts val="0"/>
              </a:spcAft>
              <a:buNone/>
              <a:defRPr sz="1000">
                <a:solidFill>
                  <a:srgbClr val="000000"/>
                </a:solidFill>
                <a:latin typeface="Helvetica Neue"/>
                <a:ea typeface="Helvetica Neue"/>
                <a:cs typeface="Helvetica Neue"/>
              </a:defRPr>
            </a:pPr>
            <a:r>
              <a:rPr sz="1050" b="0">
                <a:solidFill>
                  <a:srgbClr val="5C6368"/>
                </a:solidFill>
                <a:latin typeface="Helvetica Neue"/>
                <a:ea typeface="Helvetica Neue"/>
                <a:cs typeface="Helvetica Neue"/>
              </a:rPr>
              <a:t>10</a:t>
            </a:r>
          </a:p>
        </p:txBody>
      </p:sp>
      <p:sp>
        <p:nvSpPr>
          <p:cNvPr id="2" name="Google-Shape-533-p58-3">
            <a:extLst xmlns:a="http://schemas.openxmlformats.org/drawingml/2006/main">
              <a:ext uri="{FF2B5EF4-FFF2-40B4-BE49-F238E27FC236}">
                <a16:creationId xmlns:a16="http://schemas.microsoft.com/office/drawing/2014/main" id="{789360C7-23C8-4BB5-8701-741E9720AA73}"/>
              </a:ext>
            </a:extLst>
          </p:cNvPr>
          <p:cNvSpPr>
            <a:spLocks xmlns:a="http://schemas.openxmlformats.org/drawingml/2006/main" noGrp="1"/>
          </p:cNvSpPr>
          <p:nvPr/>
        </p:nvSpPr>
        <p:spPr>
          <a:xfrm xmlns:a="http://schemas.openxmlformats.org/drawingml/2006/main">
            <a:off x="393668" y="344043"/>
            <a:ext cx="11404568" cy="1047464"/>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6000"/>
              </a:lnSpc>
              <a:spcBef>
                <a:spcPts val="0"/>
              </a:spcBef>
              <a:spcAft>
                <a:spcPts val="0"/>
              </a:spcAft>
              <a:buNone/>
              <a:defRPr sz="2900">
                <a:solidFill>
                  <a:srgbClr val="000000"/>
                </a:solidFill>
                <a:latin typeface="Helvetica Neue"/>
                <a:ea typeface="Helvetica Neue"/>
                <a:cs typeface="Helvetica Neue"/>
              </a:defRPr>
            </a:pPr>
            <a:r>
              <a:rPr sz="3600" b="1">
                <a:solidFill>
                  <a:srgbClr val="0B0D0E"/>
                </a:solidFill>
                <a:latin typeface="Helvetica Neue"/>
                <a:ea typeface="Helvetica Neue"/>
                <a:cs typeface="Helvetica Neue"/>
              </a:rPr>
              <a:t>Riff brings that history into the next live stream.</a:t>
            </a:r>
          </a:p>
        </p:txBody>
      </p:sp>
      <p:sp>
        <p:nvSpPr>
          <p:cNvPr id="3" name="Google-Shape-534-p58-4">
            <a:extLst xmlns:a="http://schemas.openxmlformats.org/drawingml/2006/main">
              <a:ext uri="{FF2B5EF4-FFF2-40B4-BE49-F238E27FC236}">
                <a16:creationId xmlns:a16="http://schemas.microsoft.com/office/drawing/2014/main" id="{289AE842-BC6F-4807-87F3-C87D09F668C2}"/>
              </a:ext>
            </a:extLst>
          </p:cNvPr>
          <p:cNvSpPr>
            <a:spLocks xmlns:a="http://schemas.openxmlformats.org/drawingml/2006/main" noGrp="1"/>
          </p:cNvSpPr>
          <p:nvPr/>
        </p:nvSpPr>
        <p:spPr>
          <a:xfrm xmlns:a="http://schemas.openxmlformats.org/drawingml/2006/main">
            <a:off x="393668" y="2031968"/>
            <a:ext cx="5537168" cy="3534823"/>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spcBef>
                <a:spcPts val="0"/>
              </a:spcBef>
              <a:spcAft>
                <a:spcPts val="0"/>
              </a:spcAft>
              <a:buNone/>
              <a:defRPr sz="2400">
                <a:solidFill>
                  <a:srgbClr val="000000"/>
                </a:solidFill>
                <a:latin typeface="Helvetica Neue"/>
                <a:ea typeface="Helvetica Neue"/>
                <a:cs typeface="Helvetica Neue"/>
              </a:defRPr>
            </a:pPr>
            <a:r>
              <a:rPr sz="1650" b="0">
                <a:solidFill>
                  <a:srgbClr val="0B0D0E"/>
                </a:solidFill>
                <a:latin typeface="Helvetica Neue"/>
                <a:ea typeface="Helvetica Neue"/>
                <a:cs typeface="Helvetica Neue"/>
              </a:rPr>
              <a:t/>
            </a:r>
          </a:p>
          <a:p xmlns:a="http://schemas.openxmlformats.org/drawingml/2006/main">
            <a:pPr algn="l">
              <a:lnSpc>
                <a:spcPct val="108000"/>
              </a:lnSpc>
              <a:spcBef>
                <a:spcPts val="0"/>
              </a:spcBef>
              <a:spcAft>
                <a:spcPts val="0"/>
              </a:spcAft>
              <a:buNone/>
              <a:defRPr sz="2400">
                <a:solidFill>
                  <a:srgbClr val="000000"/>
                </a:solidFill>
                <a:latin typeface="Helvetica Neue"/>
                <a:ea typeface="Helvetica Neue"/>
                <a:cs typeface="Helvetica Neue"/>
              </a:defRPr>
            </a:pPr>
            <a:r>
              <a:rPr sz="1650" b="0">
                <a:solidFill>
                  <a:srgbClr val="0B0D0E"/>
                </a:solidFill>
                <a:latin typeface="Helvetica Neue"/>
                <a:ea typeface="Helvetica Neue"/>
                <a:cs typeface="Helvetica Neue"/>
              </a:rPr>
              <a:t/>
            </a:r>
          </a:p>
        </p:txBody>
      </p:sp>
      <p:sp>
        <p:nvSpPr>
          <p:cNvPr id="4" name="Content-Placeholder-3-5">
            <a:extLst xmlns:a="http://schemas.openxmlformats.org/drawingml/2006/main">
              <a:ext uri="{FF2B5EF4-FFF2-40B4-BE49-F238E27FC236}">
                <a16:creationId xmlns:a16="http://schemas.microsoft.com/office/drawing/2014/main" id="{C55707DD-9F56-4C53-9EA9-9EA3BA6A0659}"/>
              </a:ext>
            </a:extLst>
          </p:cNvPr>
          <p:cNvSpPr>
            <a:spLocks xmlns:a="http://schemas.openxmlformats.org/drawingml/2006/main" noGrp="1"/>
          </p:cNvSpPr>
          <p:nvPr/>
        </p:nvSpPr>
        <p:spPr>
          <a:xfrm xmlns:a="http://schemas.openxmlformats.org/drawingml/2006/main">
            <a:off x="6256592" y="2031968"/>
            <a:ext cx="5537168" cy="3534823"/>
          </a:xfrm>
          <a:prstGeom xmlns:a="http://schemas.openxmlformats.org/drawingml/2006/main" prst="rect">
            <a:avLst/>
          </a:prstGeom>
        </p:spPr>
        <p:txBody>
          <a:bodyPr xmlns:a="http://schemas.openxmlformats.org/drawingml/2006/main" lIns="0" tIns="0" rIns="0" bIns="0">
            <a:normAutofit fontScale="100000"/>
          </a:bodyPr>
          <a:lstStyle xmlns:a="http://schemas.openxmlformats.org/drawingml/2006/main"/>
          <a:p xmlns:a="http://schemas.openxmlformats.org/drawingml/2006/main">
            <a:pPr algn="l">
              <a:lnSpc>
                <a:spcPct val="108000"/>
              </a:lnSpc>
              <a:spcBef>
                <a:spcPts val="0"/>
              </a:spcBef>
              <a:spcAft>
                <a:spcPts val="1200"/>
              </a:spcAft>
              <a:buNone/>
              <a:defRPr sz="2400">
                <a:solidFill>
                  <a:srgbClr val="000000"/>
                </a:solidFill>
                <a:latin typeface="Helvetica Neue"/>
                <a:ea typeface="Helvetica Neue"/>
                <a:cs typeface="Helvetica Neue"/>
              </a:defRPr>
            </a:pPr>
            <a:r>
              <a:rPr sz="2550" b="1">
                <a:solidFill>
                  <a:srgbClr val="0B0D0E"/>
                </a:solidFill>
                <a:latin typeface="Helvetica Neue"/>
                <a:ea typeface="Helvetica Neue"/>
                <a:cs typeface="Helvetica Neue"/>
              </a:rPr>
              <a:t>The live cohost knows the test</a:t>
            </a:r>
          </a:p>
          <a:p xmlns:a="http://schemas.openxmlformats.org/drawingml/2006/main">
            <a:pPr algn="l">
              <a:lnSpc>
                <a:spcPct val="114000"/>
              </a:lnSpc>
              <a:spcBef>
                <a:spcPts val="0"/>
              </a:spcBef>
              <a:spcAft>
                <a:spcPts val="0"/>
              </a:spcAft>
              <a:buNone/>
              <a:defRPr sz="2400">
                <a:solidFill>
                  <a:srgbClr val="000000"/>
                </a:solidFill>
                <a:latin typeface="Helvetica Neue"/>
                <a:ea typeface="Helvetica Neue"/>
                <a:cs typeface="Helvetica Neue"/>
              </a:defRPr>
            </a:pPr>
            <a:r>
              <a:rPr sz="1650" b="0">
                <a:solidFill>
                  <a:srgbClr val="5C6368"/>
                </a:solidFill>
                <a:latin typeface="Helvetica Neue"/>
                <a:ea typeface="Helvetica Neue"/>
                <a:cs typeface="Helvetica Neue"/>
              </a:rPr>
              <a:t>Riff listens to the creator and live chat. When the approved moment arrives, it can speak, prompt the creator, or surface the right callback.
The history that planned the stream can now shape it while it is happening.</a:t>
            </a:r>
          </a:p>
        </p:txBody>
      </p:sp>
      <p:sp>
        <p:nvSpPr>
          <p:cNvPr id="5" name="afterplay-accent-rule">
            <a:extLst xmlns:a="http://schemas.openxmlformats.org/drawingml/2006/main">
              <a:ext uri="{FF2B5EF4-FFF2-40B4-BE49-F238E27FC236}">
                <a16:creationId xmlns:a16="http://schemas.microsoft.com/office/drawing/2014/main" id="{FF2464FE-53FA-432D-829E-DFA34E297565}"/>
              </a:ext>
            </a:extLst>
          </p:cNvPr>
          <p:cNvSpPr>
            <a:spLocks xmlns:a="http://schemas.openxmlformats.org/drawingml/2006/main" noGrp="1"/>
          </p:cNvSpPr>
          <p:nvPr/>
        </p:nvSpPr>
        <p:spPr>
          <a:xfrm xmlns:a="http://schemas.openxmlformats.org/drawingml/2006/main">
            <a:off x="393668" y="1457325"/>
            <a:ext cx="876300" cy="57150"/>
          </a:xfrm>
          <a:prstGeom xmlns:a="http://schemas.openxmlformats.org/drawingml/2006/main" prst="rect">
            <a:avLst/>
          </a:prstGeom>
          <a:solidFill xmlns:a="http://schemas.openxmlformats.org/drawingml/2006/main">
            <a:srgbClr val="FF6B57"/>
          </a:solidFill>
          <a:ln xmlns:a="http://schemas.openxmlformats.org/drawingml/2006/main" w="0">
            <a:solidFill>
              <a:srgbClr val="FF6B57"/>
            </a:solidFill>
            <a:prstDash val="solid"/>
          </a:ln>
        </p:spPr>
      </p:sp>
      <p:pic>
        <p:nvPicPr>
          <p:cNvPr id="17" name=""/>
          <p:cNvPicPr>
            <a:picLocks xmlns:a="http://schemas.openxmlformats.org/drawingml/2006/main" noChangeAspect="1"/>
          </p:cNvPicPr>
          <p:nvPr/>
        </p:nvPicPr>
        <p:blipFill>
          <a:blip xmlns:r="http://schemas.openxmlformats.org/officeDocument/2006/relationships" xmlns:a="http://schemas.openxmlformats.org/drawingml/2006/main" r:embed="R22dad5a015c2438e"/>
          <a:srcRect xmlns:a="http://schemas.openxmlformats.org/drawingml/2006/main" l="0" t="4716" r="0" b="4716"/>
          <a:stretch xmlns:a="http://schemas.openxmlformats.org/drawingml/2006/main">
            <a:fillRect l="0" t="0" r="0" b="0"/>
          </a:stretch>
        </p:blipFill>
        <p:spPr>
          <a:xfrm xmlns:a="http://schemas.openxmlformats.org/drawingml/2006/main">
            <a:off x="393668" y="2031968"/>
            <a:ext cx="5537168" cy="3534823"/>
          </a:xfrm>
          <a:prstGeom xmlns:a="http://schemas.openxmlformats.org/drawingml/2006/main" prst="roundRect">
            <a:avLst>
              <a:gd name="adj" fmla="val 3234"/>
            </a:avLst>
          </a:prstGeom>
        </p:spPr>
      </p:pic>
      <p:sp>
        <p:nvSpPr>
          <p:cNvPr id="7" name="riff-caption">
            <a:extLst xmlns:a="http://schemas.openxmlformats.org/drawingml/2006/main">
              <a:ext uri="{FF2B5EF4-FFF2-40B4-BE49-F238E27FC236}">
                <a16:creationId xmlns:a16="http://schemas.microsoft.com/office/drawing/2014/main" id="{E8E12383-02DE-4738-99BD-03A069FDA83A}"/>
              </a:ext>
            </a:extLst>
          </p:cNvPr>
          <p:cNvSpPr>
            <a:spLocks xmlns:a="http://schemas.openxmlformats.org/drawingml/2006/main" noGrp="1"/>
          </p:cNvSpPr>
          <p:nvPr/>
        </p:nvSpPr>
        <p:spPr>
          <a:xfrm xmlns:a="http://schemas.openxmlformats.org/drawingml/2006/main">
            <a:off x="581025" y="5219700"/>
            <a:ext cx="4857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200" b="1">
                <a:solidFill>
                  <a:srgbClr val="FFFFFF"/>
                </a:solidFill>
              </a:defRPr>
            </a:pPr>
            <a:r>
              <a:rPr sz="1200" b="1">
                <a:solidFill>
                  <a:srgbClr val="FFFFFF"/>
                </a:solidFill>
              </a:rPr>
              <a:t>LIVE GAMEPLAY  ·  CHAT  ·  AI COHOST</a:t>
            </a:r>
          </a:p>
        </p:txBody>
      </p:sp>
      <p:sp>
        <p:nvSpPr>
          <p:cNvPr id="8" name="afterplay-coral-mark">
            <a:extLst xmlns:a="http://schemas.openxmlformats.org/drawingml/2006/main">
              <a:ext uri="{FF2B5EF4-FFF2-40B4-BE49-F238E27FC236}">
                <a16:creationId xmlns:a16="http://schemas.microsoft.com/office/drawing/2014/main" id="{7738D733-B861-4D41-993D-24568B7D2051}"/>
              </a:ext>
            </a:extLst>
          </p:cNvPr>
          <p:cNvSpPr>
            <a:spLocks xmlns:a="http://schemas.openxmlformats.org/drawingml/2006/main" noGrp="1"/>
          </p:cNvSpPr>
          <p:nvPr/>
        </p:nvSpPr>
        <p:spPr>
          <a:xfrm xmlns:a="http://schemas.openxmlformats.org/drawingml/2006/main">
            <a:off x="393668" y="6343650"/>
            <a:ext cx="95250" cy="95250"/>
          </a:xfrm>
          <a:prstGeom xmlns:a="http://schemas.openxmlformats.org/drawingml/2006/main" prst="rect">
            <a:avLst/>
          </a:prstGeom>
          <a:solidFill xmlns:a="http://schemas.openxmlformats.org/drawingml/2006/main">
            <a:srgbClr val="FF6B57"/>
          </a:solidFill>
          <a:ln xmlns:a="http://schemas.openxmlformats.org/drawingml/2006/main" w="0">
            <a:solidFill>
              <a:srgbClr val="FF6B57"/>
            </a:solidFill>
            <a:prstDash val="solid"/>
          </a:ln>
        </p:spPr>
      </p:sp>
      <p:sp>
        <p:nvSpPr>
          <p:cNvPr id="9" name="afterplay-wordmark">
            <a:extLst xmlns:a="http://schemas.openxmlformats.org/drawingml/2006/main">
              <a:ext uri="{FF2B5EF4-FFF2-40B4-BE49-F238E27FC236}">
                <a16:creationId xmlns:a16="http://schemas.microsoft.com/office/drawing/2014/main" id="{59DF049C-E855-4821-A69B-C33948A2A193}"/>
              </a:ext>
            </a:extLst>
          </p:cNvPr>
          <p:cNvSpPr>
            <a:spLocks xmlns:a="http://schemas.openxmlformats.org/drawingml/2006/main" noGrp="1"/>
          </p:cNvSpPr>
          <p:nvPr/>
        </p:nvSpPr>
        <p:spPr>
          <a:xfrm xmlns:a="http://schemas.openxmlformats.org/drawingml/2006/main">
            <a:off x="552450" y="6267450"/>
            <a:ext cx="114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050" b="1">
                <a:solidFill>
                  <a:srgbClr val="5C6368"/>
                </a:solidFill>
              </a:defRPr>
            </a:pPr>
            <a:r>
              <a:rPr sz="1050" b="1">
                <a:solidFill>
                  <a:srgbClr val="5C6368"/>
                </a:solidFill>
              </a:rPr>
              <a:t>AFTERPLAY</a:t>
            </a:r>
          </a:p>
        </p:txBody>
      </p:sp>
    </p:spTree>
    <p:extLst>
      <p:ext uri="{BB962C8B-B14F-4D97-AF65-F5344CB8AC3E}">
        <p14:creationId xmlns:p14="http://schemas.microsoft.com/office/powerpoint/2010/main" val="1785659732"/>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Slide-Number-Placeholder-1-2">
            <a:extLst xmlns:a="http://schemas.openxmlformats.org/drawingml/2006/main">
              <a:ext uri="{FF2B5EF4-FFF2-40B4-BE49-F238E27FC236}">
                <a16:creationId xmlns:a16="http://schemas.microsoft.com/office/drawing/2014/main" id="{C9FAFABC-943F-477E-A996-3D3884AF87C8}"/>
              </a:ext>
            </a:extLst>
          </p:cNvPr>
          <p:cNvSpPr>
            <a:spLocks xmlns:a="http://schemas.openxmlformats.org/drawingml/2006/main" noGrp="1"/>
          </p:cNvSpPr>
          <p:nvPr/>
        </p:nvSpPr>
        <p:spPr>
          <a:xfrm xmlns:a="http://schemas.openxmlformats.org/drawingml/2006/main">
            <a:off x="11279219" y="6278594"/>
            <a:ext cx="519113" cy="241268"/>
          </a:xfrm>
          <a:prstGeom xmlns:a="http://schemas.openxmlformats.org/drawingml/2006/main" prst="rect">
            <a:avLst/>
          </a:prstGeom>
        </p:spPr>
        <p:txBody>
          <a:bodyPr xmlns:a="http://schemas.openxmlformats.org/drawingml/2006/main" lIns="0" tIns="0" rIns="0" bIns="0" anchor="b"/>
          <a:lstStyle xmlns:a="http://schemas.openxmlformats.org/drawingml/2006/main"/>
          <a:p xmlns:a="http://schemas.openxmlformats.org/drawingml/2006/main">
            <a:pPr algn="r">
              <a:lnSpc>
                <a:spcPct val="108000"/>
              </a:lnSpc>
              <a:spcBef>
                <a:spcPts val="0"/>
              </a:spcBef>
              <a:spcAft>
                <a:spcPts val="0"/>
              </a:spcAft>
              <a:buNone/>
              <a:defRPr sz="1000">
                <a:solidFill>
                  <a:srgbClr val="000000"/>
                </a:solidFill>
                <a:latin typeface="Helvetica Neue"/>
                <a:ea typeface="Helvetica Neue"/>
                <a:cs typeface="Helvetica Neue"/>
              </a:defRPr>
            </a:pPr>
            <a:r>
              <a:rPr sz="1050" b="0">
                <a:solidFill>
                  <a:srgbClr val="5C6368"/>
                </a:solidFill>
                <a:latin typeface="Helvetica Neue"/>
                <a:ea typeface="Helvetica Neue"/>
                <a:cs typeface="Helvetica Neue"/>
              </a:rPr>
              <a:t>11</a:t>
            </a:r>
          </a:p>
        </p:txBody>
      </p:sp>
      <p:sp>
        <p:nvSpPr>
          <p:cNvPr id="2" name="Title-2-3">
            <a:extLst xmlns:a="http://schemas.openxmlformats.org/drawingml/2006/main">
              <a:ext uri="{FF2B5EF4-FFF2-40B4-BE49-F238E27FC236}">
                <a16:creationId xmlns:a16="http://schemas.microsoft.com/office/drawing/2014/main" id="{05919C4F-A438-420F-BF33-8F76E7234839}"/>
              </a:ext>
            </a:extLst>
          </p:cNvPr>
          <p:cNvSpPr>
            <a:spLocks xmlns:a="http://schemas.openxmlformats.org/drawingml/2006/main" noGrp="1"/>
          </p:cNvSpPr>
          <p:nvPr/>
        </p:nvSpPr>
        <p:spPr>
          <a:xfrm xmlns:a="http://schemas.openxmlformats.org/drawingml/2006/main">
            <a:off x="393668" y="344043"/>
            <a:ext cx="11404568" cy="1047464"/>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96000"/>
              </a:lnSpc>
              <a:spcBef>
                <a:spcPts val="0"/>
              </a:spcBef>
              <a:spcAft>
                <a:spcPts val="0"/>
              </a:spcAft>
              <a:buNone/>
              <a:defRPr sz="2900">
                <a:solidFill>
                  <a:srgbClr val="000000"/>
                </a:solidFill>
                <a:latin typeface="Helvetica Neue"/>
                <a:ea typeface="Helvetica Neue"/>
                <a:cs typeface="Helvetica Neue"/>
              </a:defRPr>
            </a:pPr>
            <a:r>
              <a:rPr sz="3600" b="1">
                <a:solidFill>
                  <a:srgbClr val="0B0D0E"/>
                </a:solidFill>
                <a:latin typeface="Helvetica Neue"/>
                <a:ea typeface="Helvetica Neue"/>
                <a:cs typeface="Helvetica Neue"/>
              </a:rPr>
              <a:t>Expected impact: faster decisions, clearer learning.</a:t>
            </a:r>
          </a:p>
        </p:txBody>
      </p:sp>
      <p:sp>
        <p:nvSpPr>
          <p:cNvPr id="3" name="Content-Placeholder-9-4">
            <a:extLst xmlns:a="http://schemas.openxmlformats.org/drawingml/2006/main">
              <a:ext uri="{FF2B5EF4-FFF2-40B4-BE49-F238E27FC236}">
                <a16:creationId xmlns:a16="http://schemas.microsoft.com/office/drawing/2014/main" id="{901617FF-52A9-452F-9AD2-067D3DC92279}"/>
              </a:ext>
            </a:extLst>
          </p:cNvPr>
          <p:cNvSpPr>
            <a:spLocks xmlns:a="http://schemas.openxmlformats.org/drawingml/2006/main" noGrp="1"/>
          </p:cNvSpPr>
          <p:nvPr/>
        </p:nvSpPr>
        <p:spPr>
          <a:xfrm xmlns:a="http://schemas.openxmlformats.org/drawingml/2006/main">
            <a:off x="393668" y="2031968"/>
            <a:ext cx="5537168" cy="1643063"/>
          </a:xfrm>
          <a:prstGeom xmlns:a="http://schemas.openxmlformats.org/drawingml/2006/main" prst="rect">
            <a:avLst/>
          </a:prstGeom>
        </p:spPr>
        <p:txBody>
          <a:bodyPr xmlns:a="http://schemas.openxmlformats.org/drawingml/2006/main" lIns="91440" tIns="45720" rIns="91440" bIns="45720"/>
          <a:lstStyle xmlns:a="http://schemas.openxmlformats.org/drawingml/2006/main"/>
          <a:p xmlns:a="http://schemas.openxmlformats.org/drawingml/2006/main">
            <a:pPr algn="l">
              <a:lnSpc>
                <a:spcPct val="108000"/>
              </a:lnSpc>
              <a:spcBef>
                <a:spcPts val="0"/>
              </a:spcBef>
              <a:spcAft>
                <a:spcPts val="800"/>
              </a:spcAft>
              <a:buNone/>
              <a:defRPr sz="2400">
                <a:solidFill>
                  <a:srgbClr val="000000"/>
                </a:solidFill>
                <a:latin typeface="Helvetica Neue"/>
                <a:ea typeface="Helvetica Neue"/>
                <a:cs typeface="Helvetica Neue"/>
              </a:defRPr>
            </a:pPr>
            <a:r>
              <a:rPr sz="3000" b="1">
                <a:solidFill>
                  <a:srgbClr val="B53E31"/>
                </a:solidFill>
                <a:latin typeface="Helvetica Neue"/>
                <a:ea typeface="Helvetica Neue"/>
                <a:cs typeface="Helvetica Neue"/>
              </a:rPr>
              <a:t>TIME</a:t>
            </a:r>
          </a:p>
          <a:p xmlns:a="http://schemas.openxmlformats.org/drawingml/2006/main">
            <a:pPr algn="l">
              <a:lnSpc>
                <a:spcPct val="108000"/>
              </a:lnSpc>
              <a:spcBef>
                <a:spcPts val="0"/>
              </a:spcBef>
              <a:spcAft>
                <a:spcPts val="0"/>
              </a:spcAft>
              <a:buNone/>
              <a:defRPr sz="2400">
                <a:solidFill>
                  <a:srgbClr val="000000"/>
                </a:solidFill>
                <a:latin typeface="Helvetica Neue"/>
                <a:ea typeface="Helvetica Neue"/>
                <a:cs typeface="Helvetica Neue"/>
              </a:defRPr>
            </a:pPr>
            <a:r>
              <a:rPr sz="1650" b="0">
                <a:solidFill>
                  <a:srgbClr val="5C6368"/>
                </a:solidFill>
                <a:latin typeface="Helvetica Neue"/>
                <a:ea typeface="Helvetica Neue"/>
                <a:cs typeface="Helvetica Neue"/>
              </a:rPr>
              <a:t>hours from stream ingest to an approved test</a:t>
            </a:r>
          </a:p>
        </p:txBody>
      </p:sp>
      <p:sp>
        <p:nvSpPr>
          <p:cNvPr id="4" name="Content-Placeholder-10-5">
            <a:extLst xmlns:a="http://schemas.openxmlformats.org/drawingml/2006/main">
              <a:ext uri="{FF2B5EF4-FFF2-40B4-BE49-F238E27FC236}">
                <a16:creationId xmlns:a16="http://schemas.microsoft.com/office/drawing/2014/main" id="{F8330DD6-4095-43BD-B226-BA142E323CF6}"/>
              </a:ext>
            </a:extLst>
          </p:cNvPr>
          <p:cNvSpPr>
            <a:spLocks xmlns:a="http://schemas.openxmlformats.org/drawingml/2006/main" noGrp="1"/>
          </p:cNvSpPr>
          <p:nvPr/>
        </p:nvSpPr>
        <p:spPr>
          <a:xfrm xmlns:a="http://schemas.openxmlformats.org/drawingml/2006/main">
            <a:off x="6256592" y="2031968"/>
            <a:ext cx="5537168" cy="1643063"/>
          </a:xfrm>
          <a:prstGeom xmlns:a="http://schemas.openxmlformats.org/drawingml/2006/main" prst="rect">
            <a:avLst/>
          </a:prstGeom>
        </p:spPr>
        <p:txBody>
          <a:bodyPr xmlns:a="http://schemas.openxmlformats.org/drawingml/2006/main" lIns="91440" tIns="45720" rIns="91440" bIns="45720"/>
          <a:lstStyle xmlns:a="http://schemas.openxmlformats.org/drawingml/2006/main"/>
          <a:p xmlns:a="http://schemas.openxmlformats.org/drawingml/2006/main">
            <a:pPr algn="l">
              <a:lnSpc>
                <a:spcPct val="108000"/>
              </a:lnSpc>
              <a:spcBef>
                <a:spcPts val="0"/>
              </a:spcBef>
              <a:spcAft>
                <a:spcPts val="800"/>
              </a:spcAft>
              <a:buNone/>
              <a:defRPr sz="2400">
                <a:solidFill>
                  <a:srgbClr val="000000"/>
                </a:solidFill>
                <a:latin typeface="Helvetica Neue"/>
                <a:ea typeface="Helvetica Neue"/>
                <a:cs typeface="Helvetica Neue"/>
              </a:defRPr>
            </a:pPr>
            <a:r>
              <a:rPr sz="3000" b="1">
                <a:solidFill>
                  <a:srgbClr val="B53E31"/>
                </a:solidFill>
                <a:latin typeface="Helvetica Neue"/>
                <a:ea typeface="Helvetica Neue"/>
                <a:cs typeface="Helvetica Neue"/>
              </a:rPr>
              <a:t>CADENCE</a:t>
            </a:r>
          </a:p>
          <a:p xmlns:a="http://schemas.openxmlformats.org/drawingml/2006/main">
            <a:pPr algn="l">
              <a:lnSpc>
                <a:spcPct val="108000"/>
              </a:lnSpc>
              <a:spcBef>
                <a:spcPts val="0"/>
              </a:spcBef>
              <a:spcAft>
                <a:spcPts val="0"/>
              </a:spcAft>
              <a:buNone/>
              <a:defRPr sz="2400">
                <a:solidFill>
                  <a:srgbClr val="000000"/>
                </a:solidFill>
                <a:latin typeface="Helvetica Neue"/>
                <a:ea typeface="Helvetica Neue"/>
                <a:cs typeface="Helvetica Neue"/>
              </a:defRPr>
            </a:pPr>
            <a:r>
              <a:rPr sz="1650" b="0">
                <a:solidFill>
                  <a:srgbClr val="5C6368"/>
                </a:solidFill>
                <a:latin typeface="Helvetica Neue"/>
                <a:ea typeface="Helvetica Neue"/>
                <a:cs typeface="Helvetica Neue"/>
              </a:rPr>
              <a:t>approved experiments completed per month</a:t>
            </a:r>
          </a:p>
        </p:txBody>
      </p:sp>
      <p:sp>
        <p:nvSpPr>
          <p:cNvPr id="5" name="Content-Placeholder-9-6">
            <a:extLst xmlns:a="http://schemas.openxmlformats.org/drawingml/2006/main">
              <a:ext uri="{FF2B5EF4-FFF2-40B4-BE49-F238E27FC236}">
                <a16:creationId xmlns:a16="http://schemas.microsoft.com/office/drawing/2014/main" id="{C07AC2BC-FFBD-47D7-9832-35CC252450D1}"/>
              </a:ext>
            </a:extLst>
          </p:cNvPr>
          <p:cNvSpPr>
            <a:spLocks xmlns:a="http://schemas.openxmlformats.org/drawingml/2006/main" noGrp="1"/>
          </p:cNvSpPr>
          <p:nvPr/>
        </p:nvSpPr>
        <p:spPr>
          <a:xfrm xmlns:a="http://schemas.openxmlformats.org/drawingml/2006/main">
            <a:off x="393668" y="4016978"/>
            <a:ext cx="5537168" cy="1643158"/>
          </a:xfrm>
          <a:prstGeom xmlns:a="http://schemas.openxmlformats.org/drawingml/2006/main" prst="rect">
            <a:avLst/>
          </a:prstGeom>
        </p:spPr>
        <p:txBody>
          <a:bodyPr xmlns:a="http://schemas.openxmlformats.org/drawingml/2006/main" lIns="0" tIns="0" rIns="0" bIns="0">
            <a:normAutofit fontScale="100000"/>
          </a:bodyPr>
          <a:lstStyle xmlns:a="http://schemas.openxmlformats.org/drawingml/2006/main"/>
          <a:p xmlns:a="http://schemas.openxmlformats.org/drawingml/2006/main">
            <a:pPr algn="l">
              <a:lnSpc>
                <a:spcPct val="108000"/>
              </a:lnSpc>
              <a:spcBef>
                <a:spcPts val="0"/>
              </a:spcBef>
              <a:spcAft>
                <a:spcPts val="800"/>
              </a:spcAft>
              <a:buNone/>
              <a:defRPr sz="2400">
                <a:solidFill>
                  <a:srgbClr val="000000"/>
                </a:solidFill>
                <a:latin typeface="Helvetica Neue"/>
                <a:ea typeface="Helvetica Neue"/>
                <a:cs typeface="Helvetica Neue"/>
              </a:defRPr>
            </a:pPr>
            <a:r>
              <a:rPr sz="3000" b="1">
                <a:solidFill>
                  <a:srgbClr val="B53E31"/>
                </a:solidFill>
                <a:latin typeface="Helvetica Neue"/>
                <a:ea typeface="Helvetica Neue"/>
                <a:cs typeface="Helvetica Neue"/>
              </a:rPr>
              <a:t>RETURN</a:t>
            </a:r>
          </a:p>
          <a:p xmlns:a="http://schemas.openxmlformats.org/drawingml/2006/main">
            <a:pPr algn="l">
              <a:lnSpc>
                <a:spcPct val="108000"/>
              </a:lnSpc>
              <a:spcBef>
                <a:spcPts val="0"/>
              </a:spcBef>
              <a:spcAft>
                <a:spcPts val="0"/>
              </a:spcAft>
              <a:buNone/>
              <a:defRPr sz="2400">
                <a:solidFill>
                  <a:srgbClr val="000000"/>
                </a:solidFill>
                <a:latin typeface="Helvetica Neue"/>
                <a:ea typeface="Helvetica Neue"/>
                <a:cs typeface="Helvetica Neue"/>
              </a:defRPr>
            </a:pPr>
            <a:r>
              <a:rPr sz="1650" b="0">
                <a:solidFill>
                  <a:srgbClr val="5C6368"/>
                </a:solidFill>
                <a:latin typeface="Helvetica Neue"/>
                <a:ea typeface="Helvetica Neue"/>
                <a:cs typeface="Helvetica Neue"/>
              </a:rPr>
              <a:t>regular-viewer rate and repeat live visits</a:t>
            </a:r>
          </a:p>
        </p:txBody>
      </p:sp>
      <p:sp>
        <p:nvSpPr>
          <p:cNvPr id="6" name="Content-Placeholder-10-7">
            <a:extLst xmlns:a="http://schemas.openxmlformats.org/drawingml/2006/main">
              <a:ext uri="{FF2B5EF4-FFF2-40B4-BE49-F238E27FC236}">
                <a16:creationId xmlns:a16="http://schemas.microsoft.com/office/drawing/2014/main" id="{1DD80551-BCA1-45EA-8BB5-1AA1E7704E9A}"/>
              </a:ext>
            </a:extLst>
          </p:cNvPr>
          <p:cNvSpPr>
            <a:spLocks xmlns:a="http://schemas.openxmlformats.org/drawingml/2006/main" noGrp="1"/>
          </p:cNvSpPr>
          <p:nvPr/>
        </p:nvSpPr>
        <p:spPr>
          <a:xfrm xmlns:a="http://schemas.openxmlformats.org/drawingml/2006/main">
            <a:off x="6256592" y="4016978"/>
            <a:ext cx="5537168" cy="1643158"/>
          </a:xfrm>
          <a:prstGeom xmlns:a="http://schemas.openxmlformats.org/drawingml/2006/main" prst="rect">
            <a:avLst/>
          </a:prstGeom>
        </p:spPr>
        <p:txBody>
          <a:bodyPr xmlns:a="http://schemas.openxmlformats.org/drawingml/2006/main" lIns="0" tIns="0" rIns="0" bIns="0">
            <a:normAutofit fontScale="100000"/>
          </a:bodyPr>
          <a:lstStyle xmlns:a="http://schemas.openxmlformats.org/drawingml/2006/main"/>
          <a:p xmlns:a="http://schemas.openxmlformats.org/drawingml/2006/main">
            <a:pPr algn="l">
              <a:lnSpc>
                <a:spcPct val="108000"/>
              </a:lnSpc>
              <a:spcBef>
                <a:spcPts val="0"/>
              </a:spcBef>
              <a:spcAft>
                <a:spcPts val="800"/>
              </a:spcAft>
              <a:buNone/>
              <a:defRPr sz="2400">
                <a:solidFill>
                  <a:srgbClr val="000000"/>
                </a:solidFill>
                <a:latin typeface="Helvetica Neue"/>
                <a:ea typeface="Helvetica Neue"/>
                <a:cs typeface="Helvetica Neue"/>
              </a:defRPr>
            </a:pPr>
            <a:r>
              <a:rPr sz="3000" b="1">
                <a:solidFill>
                  <a:srgbClr val="B53E31"/>
                </a:solidFill>
                <a:latin typeface="Helvetica Neue"/>
                <a:ea typeface="Helvetica Neue"/>
                <a:cs typeface="Helvetica Neue"/>
              </a:rPr>
              <a:t>TRACE</a:t>
            </a:r>
          </a:p>
          <a:p xmlns:a="http://schemas.openxmlformats.org/drawingml/2006/main">
            <a:pPr algn="l">
              <a:lnSpc>
                <a:spcPct val="108000"/>
              </a:lnSpc>
              <a:spcBef>
                <a:spcPts val="0"/>
              </a:spcBef>
              <a:spcAft>
                <a:spcPts val="0"/>
              </a:spcAft>
              <a:buNone/>
              <a:defRPr sz="2400">
                <a:solidFill>
                  <a:srgbClr val="000000"/>
                </a:solidFill>
                <a:latin typeface="Helvetica Neue"/>
                <a:ea typeface="Helvetica Neue"/>
                <a:cs typeface="Helvetica Neue"/>
              </a:defRPr>
            </a:pPr>
            <a:r>
              <a:rPr sz="1650" b="0">
                <a:solidFill>
                  <a:srgbClr val="5C6368"/>
                </a:solidFill>
                <a:latin typeface="Helvetica Neue"/>
                <a:ea typeface="Helvetica Neue"/>
                <a:cs typeface="Helvetica Neue"/>
              </a:rPr>
              <a:t>recommendations linked to evidence and prior results</a:t>
            </a:r>
          </a:p>
        </p:txBody>
      </p:sp>
      <p:sp>
        <p:nvSpPr>
          <p:cNvPr id="7" name="afterplay-accent-rule">
            <a:extLst xmlns:a="http://schemas.openxmlformats.org/drawingml/2006/main">
              <a:ext uri="{FF2B5EF4-FFF2-40B4-BE49-F238E27FC236}">
                <a16:creationId xmlns:a16="http://schemas.microsoft.com/office/drawing/2014/main" id="{7F54DEF8-5AB4-49AB-A22C-23A7EFD45B3D}"/>
              </a:ext>
            </a:extLst>
          </p:cNvPr>
          <p:cNvSpPr>
            <a:spLocks xmlns:a="http://schemas.openxmlformats.org/drawingml/2006/main" noGrp="1"/>
          </p:cNvSpPr>
          <p:nvPr/>
        </p:nvSpPr>
        <p:spPr>
          <a:xfrm xmlns:a="http://schemas.openxmlformats.org/drawingml/2006/main">
            <a:off x="393668" y="1457325"/>
            <a:ext cx="876300" cy="57150"/>
          </a:xfrm>
          <a:prstGeom xmlns:a="http://schemas.openxmlformats.org/drawingml/2006/main" prst="rect">
            <a:avLst/>
          </a:prstGeom>
          <a:solidFill xmlns:a="http://schemas.openxmlformats.org/drawingml/2006/main">
            <a:srgbClr val="FF6B57"/>
          </a:solidFill>
          <a:ln xmlns:a="http://schemas.openxmlformats.org/drawingml/2006/main" w="0">
            <a:solidFill>
              <a:srgbClr val="FF6B57"/>
            </a:solidFill>
            <a:prstDash val="solid"/>
          </a:ln>
        </p:spPr>
      </p:sp>
      <p:sp>
        <p:nvSpPr>
          <p:cNvPr id="8" name="evidence-source-footer">
            <a:extLst xmlns:a="http://schemas.openxmlformats.org/drawingml/2006/main">
              <a:ext uri="{FF2B5EF4-FFF2-40B4-BE49-F238E27FC236}">
                <a16:creationId xmlns:a16="http://schemas.microsoft.com/office/drawing/2014/main" id="{D4349321-A81B-46BD-98A0-BD863A2E060D}"/>
              </a:ext>
            </a:extLst>
          </p:cNvPr>
          <p:cNvSpPr>
            <a:spLocks xmlns:a="http://schemas.openxmlformats.org/drawingml/2006/main" noGrp="1"/>
          </p:cNvSpPr>
          <p:nvPr/>
        </p:nvSpPr>
        <p:spPr>
          <a:xfrm xmlns:a="http://schemas.openxmlformats.org/drawingml/2006/main">
            <a:off x="393668" y="5867400"/>
            <a:ext cx="10001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975" b="0">
                <a:solidFill>
                  <a:srgbClr val="5C6368"/>
                </a:solidFill>
              </a:defRPr>
            </a:pPr>
            <a:r>
              <a:rPr sz="975" b="0">
                <a:solidFill>
                  <a:srgbClr val="5C6368"/>
                </a:solidFill>
              </a:rPr>
              <a:t>Future success measures. Baselines and targets come from creator data.</a:t>
            </a:r>
          </a:p>
        </p:txBody>
      </p:sp>
      <p:sp>
        <p:nvSpPr>
          <p:cNvPr id="9" name="afterplay-coral-mark">
            <a:extLst xmlns:a="http://schemas.openxmlformats.org/drawingml/2006/main">
              <a:ext uri="{FF2B5EF4-FFF2-40B4-BE49-F238E27FC236}">
                <a16:creationId xmlns:a16="http://schemas.microsoft.com/office/drawing/2014/main" id="{3CA96C7C-586F-41F8-994C-E50FC6E00FC5}"/>
              </a:ext>
            </a:extLst>
          </p:cNvPr>
          <p:cNvSpPr>
            <a:spLocks xmlns:a="http://schemas.openxmlformats.org/drawingml/2006/main" noGrp="1"/>
          </p:cNvSpPr>
          <p:nvPr/>
        </p:nvSpPr>
        <p:spPr>
          <a:xfrm xmlns:a="http://schemas.openxmlformats.org/drawingml/2006/main">
            <a:off x="393668" y="6343650"/>
            <a:ext cx="95250" cy="95250"/>
          </a:xfrm>
          <a:prstGeom xmlns:a="http://schemas.openxmlformats.org/drawingml/2006/main" prst="rect">
            <a:avLst/>
          </a:prstGeom>
          <a:solidFill xmlns:a="http://schemas.openxmlformats.org/drawingml/2006/main">
            <a:srgbClr val="FF6B57"/>
          </a:solidFill>
          <a:ln xmlns:a="http://schemas.openxmlformats.org/drawingml/2006/main" w="0">
            <a:solidFill>
              <a:srgbClr val="FF6B57"/>
            </a:solidFill>
            <a:prstDash val="solid"/>
          </a:ln>
        </p:spPr>
      </p:sp>
      <p:sp>
        <p:nvSpPr>
          <p:cNvPr id="10" name="afterplay-wordmark">
            <a:extLst xmlns:a="http://schemas.openxmlformats.org/drawingml/2006/main">
              <a:ext uri="{FF2B5EF4-FFF2-40B4-BE49-F238E27FC236}">
                <a16:creationId xmlns:a16="http://schemas.microsoft.com/office/drawing/2014/main" id="{444F8E6D-195D-4AAB-BCBC-24E36E038D54}"/>
              </a:ext>
            </a:extLst>
          </p:cNvPr>
          <p:cNvSpPr>
            <a:spLocks xmlns:a="http://schemas.openxmlformats.org/drawingml/2006/main" noGrp="1"/>
          </p:cNvSpPr>
          <p:nvPr/>
        </p:nvSpPr>
        <p:spPr>
          <a:xfrm xmlns:a="http://schemas.openxmlformats.org/drawingml/2006/main">
            <a:off x="552450" y="6267450"/>
            <a:ext cx="114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050" b="1">
                <a:solidFill>
                  <a:srgbClr val="5C6368"/>
                </a:solidFill>
              </a:defRPr>
            </a:pPr>
            <a:r>
              <a:rPr sz="1050" b="1">
                <a:solidFill>
                  <a:srgbClr val="5C6368"/>
                </a:solidFill>
              </a:rPr>
              <a:t>AFTERPLAY</a:t>
            </a:r>
          </a:p>
        </p:txBody>
      </p:sp>
    </p:spTree>
    <p:extLst>
      <p:ext uri="{BB962C8B-B14F-4D97-AF65-F5344CB8AC3E}">
        <p14:creationId xmlns:p14="http://schemas.microsoft.com/office/powerpoint/2010/main" val="1027383463"/>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Slide-Number-Placeholder-3-2">
            <a:extLst xmlns:a="http://schemas.openxmlformats.org/drawingml/2006/main">
              <a:ext uri="{FF2B5EF4-FFF2-40B4-BE49-F238E27FC236}">
                <a16:creationId xmlns:a16="http://schemas.microsoft.com/office/drawing/2014/main" id="{D31929E9-57ED-4464-83EC-4C1343E8B65B}"/>
              </a:ext>
            </a:extLst>
          </p:cNvPr>
          <p:cNvSpPr>
            <a:spLocks xmlns:a="http://schemas.openxmlformats.org/drawingml/2006/main" noGrp="1"/>
          </p:cNvSpPr>
          <p:nvPr/>
        </p:nvSpPr>
        <p:spPr>
          <a:xfrm xmlns:a="http://schemas.openxmlformats.org/drawingml/2006/main">
            <a:off x="11279315" y="6279261"/>
            <a:ext cx="518922" cy="241268"/>
          </a:xfrm>
          <a:prstGeom xmlns:a="http://schemas.openxmlformats.org/drawingml/2006/main" prst="rect">
            <a:avLst/>
          </a:prstGeom>
        </p:spPr>
        <p:txBody>
          <a:bodyPr xmlns:a="http://schemas.openxmlformats.org/drawingml/2006/main" lIns="0" tIns="0" rIns="0" bIns="0" anchor="b"/>
          <a:lstStyle xmlns:a="http://schemas.openxmlformats.org/drawingml/2006/main"/>
          <a:p xmlns:a="http://schemas.openxmlformats.org/drawingml/2006/main">
            <a:pPr algn="r">
              <a:lnSpc>
                <a:spcPct val="108000"/>
              </a:lnSpc>
              <a:spcBef>
                <a:spcPts val="0"/>
              </a:spcBef>
              <a:spcAft>
                <a:spcPts val="0"/>
              </a:spcAft>
              <a:buNone/>
              <a:defRPr sz="1000">
                <a:solidFill>
                  <a:srgbClr val="000000"/>
                </a:solidFill>
                <a:latin typeface="Helvetica Neue"/>
                <a:ea typeface="Helvetica Neue"/>
                <a:cs typeface="Helvetica Neue"/>
              </a:defRPr>
            </a:pPr>
            <a:r>
              <a:rPr sz="1050" b="0">
                <a:solidFill>
                  <a:srgbClr val="5C6368"/>
                </a:solidFill>
                <a:latin typeface="Helvetica Neue"/>
                <a:ea typeface="Helvetica Neue"/>
                <a:cs typeface="Helvetica Neue"/>
              </a:rPr>
              <a:t>12</a:t>
            </a:r>
          </a:p>
        </p:txBody>
      </p:sp>
      <p:sp>
        <p:nvSpPr>
          <p:cNvPr id="2" name="Title-10-3">
            <a:extLst xmlns:a="http://schemas.openxmlformats.org/drawingml/2006/main">
              <a:ext uri="{FF2B5EF4-FFF2-40B4-BE49-F238E27FC236}">
                <a16:creationId xmlns:a16="http://schemas.microsoft.com/office/drawing/2014/main" id="{C8B5F39B-5930-4097-B95A-B8907D1F6CE2}"/>
              </a:ext>
            </a:extLst>
          </p:cNvPr>
          <p:cNvSpPr>
            <a:spLocks xmlns:a="http://schemas.openxmlformats.org/drawingml/2006/main" noGrp="1"/>
          </p:cNvSpPr>
          <p:nvPr/>
        </p:nvSpPr>
        <p:spPr>
          <a:xfrm xmlns:a="http://schemas.openxmlformats.org/drawingml/2006/main">
            <a:off x="393668" y="344043"/>
            <a:ext cx="11404568" cy="1047464"/>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96000"/>
              </a:lnSpc>
              <a:spcBef>
                <a:spcPts val="0"/>
              </a:spcBef>
              <a:spcAft>
                <a:spcPts val="0"/>
              </a:spcAft>
              <a:buNone/>
              <a:defRPr sz="2900">
                <a:solidFill>
                  <a:srgbClr val="000000"/>
                </a:solidFill>
                <a:latin typeface="Helvetica Neue"/>
                <a:ea typeface="Helvetica Neue"/>
                <a:cs typeface="Helvetica Neue"/>
              </a:defRPr>
            </a:pPr>
            <a:r>
              <a:rPr sz="3600" b="1">
                <a:solidFill>
                  <a:srgbClr val="0B0D0E"/>
                </a:solidFill>
                <a:latin typeface="Helvetica Neue"/>
                <a:ea typeface="Helvetica Neue"/>
                <a:cs typeface="Helvetica Neue"/>
              </a:rPr>
              <a:t>What works today, and what we build next.</a:t>
            </a:r>
          </a:p>
        </p:txBody>
      </p:sp>
      <p:cxnSp>
        <p:nvCxnSpPr>
          <p:cNvPr id="24" name="Google-Shape-2259-p159-4"/>
          <p:cNvCxnSpPr/>
          <p:nvPr/>
        </p:nvCxnSpPr>
        <p:spPr>
          <a:xfrm xmlns:a="http://schemas.openxmlformats.org/drawingml/2006/main">
            <a:off x="337757" y="3373755"/>
            <a:ext cx="12245435" cy="286"/>
          </a:xfrm>
          <a:prstGeom xmlns:a="http://schemas.openxmlformats.org/drawingml/2006/main" prst="straightConnector1">
            <a:avLst/>
          </a:prstGeom>
          <a:ln xmlns:a="http://schemas.openxmlformats.org/drawingml/2006/main" w="9525">
            <a:solidFill>
              <a:srgbClr val="000000"/>
            </a:solidFill>
            <a:prstDash val="solid"/>
          </a:ln>
        </p:spPr>
      </p:cxnSp>
      <p:sp>
        <p:nvSpPr>
          <p:cNvPr id="4" name="Google-Shape-2260-p159-5">
            <a:extLst xmlns:a="http://schemas.openxmlformats.org/drawingml/2006/main">
              <a:ext uri="{FF2B5EF4-FFF2-40B4-BE49-F238E27FC236}">
                <a16:creationId xmlns:a16="http://schemas.microsoft.com/office/drawing/2014/main" id="{FB88570F-2AD6-41D1-8406-171EC41EB5F0}"/>
              </a:ext>
            </a:extLst>
          </p:cNvPr>
          <p:cNvSpPr>
            <a:spLocks xmlns:a="http://schemas.openxmlformats.org/drawingml/2006/main" noGrp="1"/>
          </p:cNvSpPr>
          <p:nvPr/>
        </p:nvSpPr>
        <p:spPr>
          <a:xfrm xmlns:a="http://schemas.openxmlformats.org/drawingml/2006/main">
            <a:off x="337757" y="3320225"/>
            <a:ext cx="107061" cy="107061"/>
          </a:xfrm>
          <a:prstGeom xmlns:a="http://schemas.openxmlformats.org/drawingml/2006/main" prst="ellipse">
            <a:avLst/>
          </a:prstGeom>
          <a:solidFill xmlns:a="http://schemas.openxmlformats.org/drawingml/2006/main">
            <a:srgbClr val="000000"/>
          </a:solidFill>
        </p:spPr>
      </p:sp>
      <p:sp>
        <p:nvSpPr>
          <p:cNvPr id="5" name="Google-Shape-2261-p159-6">
            <a:extLst xmlns:a="http://schemas.openxmlformats.org/drawingml/2006/main">
              <a:ext uri="{FF2B5EF4-FFF2-40B4-BE49-F238E27FC236}">
                <a16:creationId xmlns:a16="http://schemas.microsoft.com/office/drawing/2014/main" id="{DBD5556A-F633-493C-BAAD-7108C504B5F3}"/>
              </a:ext>
            </a:extLst>
          </p:cNvPr>
          <p:cNvSpPr>
            <a:spLocks xmlns:a="http://schemas.openxmlformats.org/drawingml/2006/main" noGrp="1"/>
          </p:cNvSpPr>
          <p:nvPr/>
        </p:nvSpPr>
        <p:spPr>
          <a:xfrm xmlns:a="http://schemas.openxmlformats.org/drawingml/2006/main">
            <a:off x="4251770" y="3320225"/>
            <a:ext cx="107061" cy="107061"/>
          </a:xfrm>
          <a:prstGeom xmlns:a="http://schemas.openxmlformats.org/drawingml/2006/main" prst="ellipse">
            <a:avLst/>
          </a:prstGeom>
          <a:solidFill xmlns:a="http://schemas.openxmlformats.org/drawingml/2006/main">
            <a:srgbClr val="000000"/>
          </a:solidFill>
        </p:spPr>
      </p:sp>
      <p:sp>
        <p:nvSpPr>
          <p:cNvPr id="6" name="Google-Shape-2262-p159-7">
            <a:extLst xmlns:a="http://schemas.openxmlformats.org/drawingml/2006/main">
              <a:ext uri="{FF2B5EF4-FFF2-40B4-BE49-F238E27FC236}">
                <a16:creationId xmlns:a16="http://schemas.microsoft.com/office/drawing/2014/main" id="{DB2CD4E4-5AA2-4CFC-BA40-9EDE03A8D2A8}"/>
              </a:ext>
            </a:extLst>
          </p:cNvPr>
          <p:cNvSpPr>
            <a:spLocks xmlns:a="http://schemas.openxmlformats.org/drawingml/2006/main" noGrp="1"/>
          </p:cNvSpPr>
          <p:nvPr/>
        </p:nvSpPr>
        <p:spPr>
          <a:xfrm xmlns:a="http://schemas.openxmlformats.org/drawingml/2006/main">
            <a:off x="8176070" y="3320225"/>
            <a:ext cx="107061" cy="107061"/>
          </a:xfrm>
          <a:prstGeom xmlns:a="http://schemas.openxmlformats.org/drawingml/2006/main" prst="ellipse">
            <a:avLst/>
          </a:prstGeom>
          <a:solidFill xmlns:a="http://schemas.openxmlformats.org/drawingml/2006/main">
            <a:srgbClr val="000000"/>
          </a:solidFill>
        </p:spPr>
      </p:sp>
      <p:sp>
        <p:nvSpPr>
          <p:cNvPr id="7" name="Content-Placeholder-15-8">
            <a:extLst xmlns:a="http://schemas.openxmlformats.org/drawingml/2006/main">
              <a:ext uri="{FF2B5EF4-FFF2-40B4-BE49-F238E27FC236}">
                <a16:creationId xmlns:a16="http://schemas.microsoft.com/office/drawing/2014/main" id="{5F14BB2A-647F-40A9-A496-F6BC9AC47DBB}"/>
              </a:ext>
            </a:extLst>
          </p:cNvPr>
          <p:cNvSpPr>
            <a:spLocks xmlns:a="http://schemas.openxmlformats.org/drawingml/2006/main" noGrp="1"/>
          </p:cNvSpPr>
          <p:nvPr/>
        </p:nvSpPr>
        <p:spPr>
          <a:xfrm xmlns:a="http://schemas.openxmlformats.org/drawingml/2006/main">
            <a:off x="393668" y="2843308"/>
            <a:ext cx="1612868" cy="262414"/>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lnSpc>
                <a:spcPct val="108000"/>
              </a:lnSpc>
              <a:spcBef>
                <a:spcPts val="0"/>
              </a:spcBef>
              <a:spcAft>
                <a:spcPts val="0"/>
              </a:spcAft>
              <a:buNone/>
              <a:defRPr sz="1600">
                <a:solidFill>
                  <a:srgbClr val="000000"/>
                </a:solidFill>
                <a:latin typeface="Helvetica Neue"/>
                <a:ea typeface="Helvetica Neue"/>
                <a:cs typeface="Helvetica Neue"/>
              </a:defRPr>
            </a:pPr>
            <a:r>
              <a:rPr sz="1650" b="1">
                <a:solidFill>
                  <a:srgbClr val="B53E31"/>
                </a:solidFill>
                <a:latin typeface="Helvetica Neue"/>
                <a:ea typeface="Helvetica Neue"/>
                <a:cs typeface="Helvetica Neue"/>
              </a:rPr>
              <a:t>TODAY</a:t>
            </a:r>
          </a:p>
        </p:txBody>
      </p:sp>
      <p:sp>
        <p:nvSpPr>
          <p:cNvPr id="8" name="Content-Placeholder-15-9">
            <a:extLst xmlns:a="http://schemas.openxmlformats.org/drawingml/2006/main">
              <a:ext uri="{FF2B5EF4-FFF2-40B4-BE49-F238E27FC236}">
                <a16:creationId xmlns:a16="http://schemas.microsoft.com/office/drawing/2014/main" id="{BB1C28AC-921A-4508-AADD-C6328ED7FFCD}"/>
              </a:ext>
            </a:extLst>
          </p:cNvPr>
          <p:cNvSpPr>
            <a:spLocks xmlns:a="http://schemas.openxmlformats.org/drawingml/2006/main" noGrp="1"/>
          </p:cNvSpPr>
          <p:nvPr/>
        </p:nvSpPr>
        <p:spPr>
          <a:xfrm xmlns:a="http://schemas.openxmlformats.org/drawingml/2006/main">
            <a:off x="4294156" y="2843308"/>
            <a:ext cx="1612868" cy="262414"/>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lnSpc>
                <a:spcPct val="108000"/>
              </a:lnSpc>
              <a:spcBef>
                <a:spcPts val="0"/>
              </a:spcBef>
              <a:spcAft>
                <a:spcPts val="0"/>
              </a:spcAft>
              <a:buNone/>
              <a:defRPr sz="1600">
                <a:solidFill>
                  <a:srgbClr val="000000"/>
                </a:solidFill>
                <a:latin typeface="Helvetica Neue"/>
                <a:ea typeface="Helvetica Neue"/>
                <a:cs typeface="Helvetica Neue"/>
              </a:defRPr>
            </a:pPr>
            <a:r>
              <a:rPr sz="1650" b="1">
                <a:solidFill>
                  <a:srgbClr val="B53E31"/>
                </a:solidFill>
                <a:latin typeface="Helvetica Neue"/>
                <a:ea typeface="Helvetica Neue"/>
                <a:cs typeface="Helvetica Neue"/>
              </a:rPr>
              <a:t>NEXT</a:t>
            </a:r>
          </a:p>
        </p:txBody>
      </p:sp>
      <p:sp>
        <p:nvSpPr>
          <p:cNvPr id="9" name="Content-Placeholder-15-10">
            <a:extLst xmlns:a="http://schemas.openxmlformats.org/drawingml/2006/main">
              <a:ext uri="{FF2B5EF4-FFF2-40B4-BE49-F238E27FC236}">
                <a16:creationId xmlns:a16="http://schemas.microsoft.com/office/drawing/2014/main" id="{8AC5B0F3-0892-4CDC-B9E4-128C2430ABD0}"/>
              </a:ext>
            </a:extLst>
          </p:cNvPr>
          <p:cNvSpPr>
            <a:spLocks xmlns:a="http://schemas.openxmlformats.org/drawingml/2006/main" noGrp="1"/>
          </p:cNvSpPr>
          <p:nvPr/>
        </p:nvSpPr>
        <p:spPr>
          <a:xfrm xmlns:a="http://schemas.openxmlformats.org/drawingml/2006/main">
            <a:off x="8223218" y="2843308"/>
            <a:ext cx="1612868" cy="262414"/>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lnSpc>
                <a:spcPct val="108000"/>
              </a:lnSpc>
              <a:spcBef>
                <a:spcPts val="0"/>
              </a:spcBef>
              <a:spcAft>
                <a:spcPts val="0"/>
              </a:spcAft>
              <a:buNone/>
              <a:defRPr sz="1600">
                <a:solidFill>
                  <a:srgbClr val="000000"/>
                </a:solidFill>
                <a:latin typeface="Helvetica Neue"/>
                <a:ea typeface="Helvetica Neue"/>
                <a:cs typeface="Helvetica Neue"/>
              </a:defRPr>
            </a:pPr>
            <a:r>
              <a:rPr sz="1650" b="1">
                <a:solidFill>
                  <a:srgbClr val="B53E31"/>
                </a:solidFill>
                <a:latin typeface="Helvetica Neue"/>
                <a:ea typeface="Helvetica Neue"/>
                <a:cs typeface="Helvetica Neue"/>
              </a:rPr>
              <a:t>LATER</a:t>
            </a:r>
          </a:p>
        </p:txBody>
      </p:sp>
      <p:sp>
        <p:nvSpPr>
          <p:cNvPr id="10" name="Text-Placeholder-16-11">
            <a:extLst xmlns:a="http://schemas.openxmlformats.org/drawingml/2006/main">
              <a:ext uri="{FF2B5EF4-FFF2-40B4-BE49-F238E27FC236}">
                <a16:creationId xmlns:a16="http://schemas.microsoft.com/office/drawing/2014/main" id="{BC115C14-42D6-4A31-A9D7-724F702FF067}"/>
              </a:ext>
            </a:extLst>
          </p:cNvPr>
          <p:cNvSpPr>
            <a:spLocks xmlns:a="http://schemas.openxmlformats.org/drawingml/2006/main" noGrp="1"/>
          </p:cNvSpPr>
          <p:nvPr/>
        </p:nvSpPr>
        <p:spPr>
          <a:xfrm xmlns:a="http://schemas.openxmlformats.org/drawingml/2006/main">
            <a:off x="4317111" y="3822668"/>
            <a:ext cx="3156109" cy="1586294"/>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lnSpc>
                <a:spcPct val="108000"/>
              </a:lnSpc>
              <a:spcBef>
                <a:spcPts val="0"/>
              </a:spcBef>
              <a:spcAft>
                <a:spcPts val="700"/>
              </a:spcAft>
              <a:buNone/>
              <a:defRPr sz="2400">
                <a:solidFill>
                  <a:srgbClr val="000000"/>
                </a:solidFill>
                <a:latin typeface="Helvetica Neue"/>
                <a:ea typeface="Helvetica Neue"/>
                <a:cs typeface="Helvetica Neue"/>
              </a:defRPr>
            </a:pPr>
            <a:r>
              <a:rPr sz="2250" b="1">
                <a:solidFill>
                  <a:srgbClr val="0B0D0E"/>
                </a:solidFill>
                <a:latin typeface="Helvetica Neue"/>
                <a:ea typeface="Helvetica Neue"/>
                <a:cs typeface="Helvetica Neue"/>
              </a:rPr>
              <a:t>Creator-ready</a:t>
            </a:r>
          </a:p>
          <a:p xmlns:a="http://schemas.openxmlformats.org/drawingml/2006/main">
            <a:pPr algn="l">
              <a:lnSpc>
                <a:spcPct val="108000"/>
              </a:lnSpc>
              <a:spcBef>
                <a:spcPts val="0"/>
              </a:spcBef>
              <a:spcAft>
                <a:spcPts val="0"/>
              </a:spcAft>
              <a:buNone/>
              <a:defRPr sz="2400">
                <a:solidFill>
                  <a:srgbClr val="000000"/>
                </a:solidFill>
                <a:latin typeface="Helvetica Neue"/>
                <a:ea typeface="Helvetica Neue"/>
                <a:cs typeface="Helvetica Neue"/>
              </a:defRPr>
            </a:pPr>
            <a:r>
              <a:rPr sz="1650" b="0">
                <a:solidFill>
                  <a:srgbClr val="5C6368"/>
                </a:solidFill>
                <a:latin typeface="Helvetica Neue"/>
                <a:ea typeface="Helvetica Neue"/>
                <a:cs typeface="Helvetica Neue"/>
              </a:rPr>
              <a:t>Saved accounts, live platform data, and creator-owned history.</a:t>
            </a:r>
          </a:p>
        </p:txBody>
      </p:sp>
      <p:sp>
        <p:nvSpPr>
          <p:cNvPr id="11" name="Text-Placeholder-16-12">
            <a:extLst xmlns:a="http://schemas.openxmlformats.org/drawingml/2006/main">
              <a:ext uri="{FF2B5EF4-FFF2-40B4-BE49-F238E27FC236}">
                <a16:creationId xmlns:a16="http://schemas.microsoft.com/office/drawing/2014/main" id="{E266697C-FDCF-48A3-900B-4136978F9411}"/>
              </a:ext>
            </a:extLst>
          </p:cNvPr>
          <p:cNvSpPr>
            <a:spLocks xmlns:a="http://schemas.openxmlformats.org/drawingml/2006/main" noGrp="1"/>
          </p:cNvSpPr>
          <p:nvPr/>
        </p:nvSpPr>
        <p:spPr>
          <a:xfrm xmlns:a="http://schemas.openxmlformats.org/drawingml/2006/main">
            <a:off x="399859" y="3822668"/>
            <a:ext cx="3156109" cy="1586294"/>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lnSpc>
                <a:spcPct val="108000"/>
              </a:lnSpc>
              <a:spcBef>
                <a:spcPts val="0"/>
              </a:spcBef>
              <a:spcAft>
                <a:spcPts val="700"/>
              </a:spcAft>
              <a:buNone/>
              <a:defRPr sz="2400">
                <a:solidFill>
                  <a:srgbClr val="000000"/>
                </a:solidFill>
                <a:latin typeface="Helvetica Neue"/>
                <a:ea typeface="Helvetica Neue"/>
                <a:cs typeface="Helvetica Neue"/>
              </a:defRPr>
            </a:pPr>
            <a:r>
              <a:rPr sz="2250" b="1">
                <a:solidFill>
                  <a:srgbClr val="0B0D0E"/>
                </a:solidFill>
                <a:latin typeface="Helvetica Neue"/>
                <a:ea typeface="Helvetica Neue"/>
                <a:cs typeface="Helvetica Neue"/>
              </a:rPr>
              <a:t>Working V1</a:t>
            </a:r>
          </a:p>
          <a:p xmlns:a="http://schemas.openxmlformats.org/drawingml/2006/main">
            <a:pPr algn="l">
              <a:lnSpc>
                <a:spcPct val="108000"/>
              </a:lnSpc>
              <a:spcBef>
                <a:spcPts val="0"/>
              </a:spcBef>
              <a:spcAft>
                <a:spcPts val="0"/>
              </a:spcAft>
              <a:buNone/>
              <a:defRPr sz="2400">
                <a:solidFill>
                  <a:srgbClr val="000000"/>
                </a:solidFill>
                <a:latin typeface="Helvetica Neue"/>
                <a:ea typeface="Helvetica Neue"/>
                <a:cs typeface="Helvetica Neue"/>
              </a:defRPr>
            </a:pPr>
            <a:r>
              <a:rPr sz="1650" b="0">
                <a:solidFill>
                  <a:srgbClr val="5C6368"/>
                </a:solidFill>
                <a:latin typeface="Helvetica Neue"/>
                <a:ea typeface="Helvetica Neue"/>
                <a:cs typeface="Helvetica Neue"/>
              </a:rPr>
              <a:t>Real ingest, clipping, memory, Studio approval, and a results loop.</a:t>
            </a:r>
          </a:p>
        </p:txBody>
      </p:sp>
      <p:sp>
        <p:nvSpPr>
          <p:cNvPr id="12" name="Text-Placeholder-16-13">
            <a:extLst xmlns:a="http://schemas.openxmlformats.org/drawingml/2006/main">
              <a:ext uri="{FF2B5EF4-FFF2-40B4-BE49-F238E27FC236}">
                <a16:creationId xmlns:a16="http://schemas.microsoft.com/office/drawing/2014/main" id="{541A28F2-872C-4705-BE10-842CD471E94B}"/>
              </a:ext>
            </a:extLst>
          </p:cNvPr>
          <p:cNvSpPr>
            <a:spLocks xmlns:a="http://schemas.openxmlformats.org/drawingml/2006/main" noGrp="1"/>
          </p:cNvSpPr>
          <p:nvPr/>
        </p:nvSpPr>
        <p:spPr>
          <a:xfrm xmlns:a="http://schemas.openxmlformats.org/drawingml/2006/main">
            <a:off x="8177879" y="3822668"/>
            <a:ext cx="3156109" cy="1586294"/>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lnSpc>
                <a:spcPct val="108000"/>
              </a:lnSpc>
              <a:spcBef>
                <a:spcPts val="0"/>
              </a:spcBef>
              <a:spcAft>
                <a:spcPts val="700"/>
              </a:spcAft>
              <a:buNone/>
              <a:defRPr sz="2400">
                <a:solidFill>
                  <a:srgbClr val="000000"/>
                </a:solidFill>
                <a:latin typeface="Helvetica Neue"/>
                <a:ea typeface="Helvetica Neue"/>
                <a:cs typeface="Helvetica Neue"/>
              </a:defRPr>
            </a:pPr>
            <a:r>
              <a:rPr sz="2250" b="1">
                <a:solidFill>
                  <a:srgbClr val="0B0D0E"/>
                </a:solidFill>
                <a:latin typeface="Helvetica Neue"/>
                <a:ea typeface="Helvetica Neue"/>
                <a:cs typeface="Helvetica Neue"/>
              </a:rPr>
              <a:t>Live action</a:t>
            </a:r>
          </a:p>
          <a:p xmlns:a="http://schemas.openxmlformats.org/drawingml/2006/main">
            <a:pPr algn="l">
              <a:lnSpc>
                <a:spcPct val="108000"/>
              </a:lnSpc>
              <a:spcBef>
                <a:spcPts val="0"/>
              </a:spcBef>
              <a:spcAft>
                <a:spcPts val="0"/>
              </a:spcAft>
              <a:buNone/>
              <a:defRPr sz="2400">
                <a:solidFill>
                  <a:srgbClr val="000000"/>
                </a:solidFill>
                <a:latin typeface="Helvetica Neue"/>
                <a:ea typeface="Helvetica Neue"/>
                <a:cs typeface="Helvetica Neue"/>
              </a:defRPr>
            </a:pPr>
            <a:r>
              <a:rPr sz="1650" b="0">
                <a:solidFill>
                  <a:srgbClr val="5C6368"/>
                </a:solidFill>
                <a:latin typeface="Helvetica Neue"/>
                <a:ea typeface="Helvetica Neue"/>
                <a:cs typeface="Helvetica Neue"/>
              </a:rPr>
              <a:t>Riff joins approved moments live and records how the audience responds.</a:t>
            </a:r>
          </a:p>
        </p:txBody>
      </p:sp>
      <p:sp>
        <p:nvSpPr>
          <p:cNvPr id="13" name="afterplay-accent-rule">
            <a:extLst xmlns:a="http://schemas.openxmlformats.org/drawingml/2006/main">
              <a:ext uri="{FF2B5EF4-FFF2-40B4-BE49-F238E27FC236}">
                <a16:creationId xmlns:a16="http://schemas.microsoft.com/office/drawing/2014/main" id="{9874E3E9-C99C-49CD-A7F2-BF59407EFC46}"/>
              </a:ext>
            </a:extLst>
          </p:cNvPr>
          <p:cNvSpPr>
            <a:spLocks xmlns:a="http://schemas.openxmlformats.org/drawingml/2006/main" noGrp="1"/>
          </p:cNvSpPr>
          <p:nvPr/>
        </p:nvSpPr>
        <p:spPr>
          <a:xfrm xmlns:a="http://schemas.openxmlformats.org/drawingml/2006/main">
            <a:off x="393668" y="1457325"/>
            <a:ext cx="876300" cy="57150"/>
          </a:xfrm>
          <a:prstGeom xmlns:a="http://schemas.openxmlformats.org/drawingml/2006/main" prst="rect">
            <a:avLst/>
          </a:prstGeom>
          <a:solidFill xmlns:a="http://schemas.openxmlformats.org/drawingml/2006/main">
            <a:srgbClr val="FF6B57"/>
          </a:solidFill>
          <a:ln xmlns:a="http://schemas.openxmlformats.org/drawingml/2006/main" w="0">
            <a:solidFill>
              <a:srgbClr val="FF6B57"/>
            </a:solidFill>
            <a:prstDash val="solid"/>
          </a:ln>
        </p:spPr>
      </p:sp>
      <p:sp>
        <p:nvSpPr>
          <p:cNvPr id="14" name="afterplay-coral-mark">
            <a:extLst xmlns:a="http://schemas.openxmlformats.org/drawingml/2006/main">
              <a:ext uri="{FF2B5EF4-FFF2-40B4-BE49-F238E27FC236}">
                <a16:creationId xmlns:a16="http://schemas.microsoft.com/office/drawing/2014/main" id="{7B8199DD-DDF6-40CF-AD1A-DDF71FF14A65}"/>
              </a:ext>
            </a:extLst>
          </p:cNvPr>
          <p:cNvSpPr>
            <a:spLocks xmlns:a="http://schemas.openxmlformats.org/drawingml/2006/main" noGrp="1"/>
          </p:cNvSpPr>
          <p:nvPr/>
        </p:nvSpPr>
        <p:spPr>
          <a:xfrm xmlns:a="http://schemas.openxmlformats.org/drawingml/2006/main">
            <a:off x="393668" y="6343650"/>
            <a:ext cx="95250" cy="95250"/>
          </a:xfrm>
          <a:prstGeom xmlns:a="http://schemas.openxmlformats.org/drawingml/2006/main" prst="rect">
            <a:avLst/>
          </a:prstGeom>
          <a:solidFill xmlns:a="http://schemas.openxmlformats.org/drawingml/2006/main">
            <a:srgbClr val="FF6B57"/>
          </a:solidFill>
          <a:ln xmlns:a="http://schemas.openxmlformats.org/drawingml/2006/main" w="0">
            <a:solidFill>
              <a:srgbClr val="FF6B57"/>
            </a:solidFill>
            <a:prstDash val="solid"/>
          </a:ln>
        </p:spPr>
      </p:sp>
      <p:sp>
        <p:nvSpPr>
          <p:cNvPr id="15" name="afterplay-wordmark">
            <a:extLst xmlns:a="http://schemas.openxmlformats.org/drawingml/2006/main">
              <a:ext uri="{FF2B5EF4-FFF2-40B4-BE49-F238E27FC236}">
                <a16:creationId xmlns:a16="http://schemas.microsoft.com/office/drawing/2014/main" id="{2164A727-8CD8-40D8-8D07-D9902E50CD95}"/>
              </a:ext>
            </a:extLst>
          </p:cNvPr>
          <p:cNvSpPr>
            <a:spLocks xmlns:a="http://schemas.openxmlformats.org/drawingml/2006/main" noGrp="1"/>
          </p:cNvSpPr>
          <p:nvPr/>
        </p:nvSpPr>
        <p:spPr>
          <a:xfrm xmlns:a="http://schemas.openxmlformats.org/drawingml/2006/main">
            <a:off x="552450" y="6267450"/>
            <a:ext cx="114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050" b="1">
                <a:solidFill>
                  <a:srgbClr val="5C6368"/>
                </a:solidFill>
              </a:defRPr>
            </a:pPr>
            <a:r>
              <a:rPr sz="1050" b="1">
                <a:solidFill>
                  <a:srgbClr val="5C6368"/>
                </a:solidFill>
              </a:rPr>
              <a:t>AFTERPLAY</a:t>
            </a:r>
          </a:p>
        </p:txBody>
      </p:sp>
    </p:spTree>
    <p:extLst>
      <p:ext uri="{BB962C8B-B14F-4D97-AF65-F5344CB8AC3E}">
        <p14:creationId xmlns:p14="http://schemas.microsoft.com/office/powerpoint/2010/main" val="649068447"/>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3-1">
            <a:extLst xmlns:a="http://schemas.openxmlformats.org/drawingml/2006/main">
              <a:ext uri="{FF2B5EF4-FFF2-40B4-BE49-F238E27FC236}">
                <a16:creationId xmlns:a16="http://schemas.microsoft.com/office/drawing/2014/main" id="{0E669386-A750-4C2C-ACD9-A0842B031867}"/>
              </a:ext>
            </a:extLst>
          </p:cNvPr>
          <p:cNvSpPr>
            <a:spLocks xmlns:a="http://schemas.openxmlformats.org/drawingml/2006/main" noGrp="1"/>
          </p:cNvSpPr>
          <p:nvPr/>
        </p:nvSpPr>
        <p:spPr>
          <a:xfrm xmlns:a="http://schemas.openxmlformats.org/drawingml/2006/main">
            <a:off x="393668" y="1738789"/>
            <a:ext cx="9448800" cy="2491454"/>
          </a:xfrm>
          <a:prstGeom xmlns:a="http://schemas.openxmlformats.org/drawingml/2006/main" prst="rect">
            <a:avLst/>
          </a:prstGeom>
        </p:spPr>
        <p:txBody>
          <a:bodyPr xmlns:a="http://schemas.openxmlformats.org/drawingml/2006/main" lIns="0" tIns="0" rIns="0" bIns="0" anchor="b">
            <a:noAutofit/>
          </a:bodyPr>
          <a:lstStyle xmlns:a="http://schemas.openxmlformats.org/drawingml/2006/main"/>
          <a:p xmlns:a="http://schemas.openxmlformats.org/drawingml/2006/main">
            <a:pPr algn="l">
              <a:lnSpc>
                <a:spcPct val="92000"/>
              </a:lnSpc>
              <a:spcBef>
                <a:spcPts val="0"/>
              </a:spcBef>
              <a:spcAft>
                <a:spcPts val="0"/>
              </a:spcAft>
              <a:buNone/>
              <a:defRPr sz="6000">
                <a:solidFill>
                  <a:srgbClr val="000000"/>
                </a:solidFill>
                <a:latin typeface="Helvetica Neue"/>
                <a:ea typeface="Helvetica Neue"/>
                <a:cs typeface="Helvetica Neue"/>
              </a:defRPr>
            </a:pPr>
            <a:r>
              <a:rPr sz="4950" b="1">
                <a:solidFill>
                  <a:srgbClr val="0B0D0E"/>
                </a:solidFill>
                <a:latin typeface="Helvetica Neue"/>
                <a:ea typeface="Helvetica Neue"/>
                <a:cs typeface="Helvetica Neue"/>
              </a:rPr>
              <a:t>Afterplay helps gaming creators learn what makes viewers come back.</a:t>
            </a:r>
          </a:p>
        </p:txBody>
      </p:sp>
      <p:sp>
        <p:nvSpPr>
          <p:cNvPr id="2" name="Subtitle-4-2">
            <a:extLst xmlns:a="http://schemas.openxmlformats.org/drawingml/2006/main">
              <a:ext uri="{FF2B5EF4-FFF2-40B4-BE49-F238E27FC236}">
                <a16:creationId xmlns:a16="http://schemas.microsoft.com/office/drawing/2014/main" id="{67337A5C-322D-4A91-8334-88B51B9B0287}"/>
              </a:ext>
            </a:extLst>
          </p:cNvPr>
          <p:cNvSpPr>
            <a:spLocks xmlns:a="http://schemas.openxmlformats.org/drawingml/2006/main" noGrp="1"/>
          </p:cNvSpPr>
          <p:nvPr/>
        </p:nvSpPr>
        <p:spPr>
          <a:xfrm xmlns:a="http://schemas.openxmlformats.org/drawingml/2006/main">
            <a:off x="393668" y="4973288"/>
            <a:ext cx="3568732" cy="1080230"/>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lnSpc>
                <a:spcPct val="108000"/>
              </a:lnSpc>
              <a:spcBef>
                <a:spcPts val="0"/>
              </a:spcBef>
              <a:spcAft>
                <a:spcPts val="0"/>
              </a:spcAft>
              <a:buNone/>
              <a:defRPr sz="2400">
                <a:solidFill>
                  <a:srgbClr val="000000"/>
                </a:solidFill>
                <a:latin typeface="Helvetica Neue"/>
                <a:ea typeface="Helvetica Neue"/>
                <a:cs typeface="Helvetica Neue"/>
              </a:defRPr>
            </a:pPr>
            <a:r>
              <a:rPr sz="1950" b="1">
                <a:solidFill>
                  <a:srgbClr val="0B0D0E"/>
                </a:solidFill>
                <a:latin typeface="Helvetica Neue"/>
                <a:ea typeface="Helvetica Neue"/>
                <a:cs typeface="Helvetica Neue"/>
              </a:rPr>
              <a:t>Remember the channel.</a:t>
            </a:r>
          </a:p>
          <a:p xmlns:a="http://schemas.openxmlformats.org/drawingml/2006/main">
            <a:pPr algn="l">
              <a:lnSpc>
                <a:spcPct val="108000"/>
              </a:lnSpc>
              <a:spcBef>
                <a:spcPts val="0"/>
              </a:spcBef>
              <a:spcAft>
                <a:spcPts val="0"/>
              </a:spcAft>
              <a:buNone/>
              <a:defRPr sz="2400">
                <a:solidFill>
                  <a:srgbClr val="000000"/>
                </a:solidFill>
                <a:latin typeface="Helvetica Neue"/>
                <a:ea typeface="Helvetica Neue"/>
                <a:cs typeface="Helvetica Neue"/>
              </a:defRPr>
            </a:pPr>
            <a:r>
              <a:rPr sz="1950" b="1">
                <a:solidFill>
                  <a:srgbClr val="0B0D0E"/>
                </a:solidFill>
                <a:latin typeface="Helvetica Neue"/>
                <a:ea typeface="Helvetica Neue"/>
                <a:cs typeface="Helvetica Neue"/>
              </a:rPr>
              <a:t>Run the next test.</a:t>
            </a:r>
          </a:p>
          <a:p xmlns:a="http://schemas.openxmlformats.org/drawingml/2006/main">
            <a:pPr algn="l">
              <a:lnSpc>
                <a:spcPct val="108000"/>
              </a:lnSpc>
              <a:spcBef>
                <a:spcPts val="0"/>
              </a:spcBef>
              <a:spcAft>
                <a:spcPts val="0"/>
              </a:spcAft>
              <a:buNone/>
              <a:defRPr sz="2400">
                <a:solidFill>
                  <a:srgbClr val="000000"/>
                </a:solidFill>
                <a:latin typeface="Helvetica Neue"/>
                <a:ea typeface="Helvetica Neue"/>
                <a:cs typeface="Helvetica Neue"/>
              </a:defRPr>
            </a:pPr>
            <a:r>
              <a:rPr sz="1950" b="0">
                <a:solidFill>
                  <a:srgbClr val="5C6368"/>
                </a:solidFill>
                <a:latin typeface="Helvetica Neue"/>
                <a:ea typeface="Helvetica Neue"/>
                <a:cs typeface="Helvetica Neue"/>
              </a:rPr>
              <a:t>Learn from the result.</a:t>
            </a:r>
          </a:p>
        </p:txBody>
      </p:sp>
      <p:sp>
        <p:nvSpPr>
          <p:cNvPr id="3" name="Subtitle-4-3">
            <a:extLst xmlns:a="http://schemas.openxmlformats.org/drawingml/2006/main">
              <a:ext uri="{FF2B5EF4-FFF2-40B4-BE49-F238E27FC236}">
                <a16:creationId xmlns:a16="http://schemas.microsoft.com/office/drawing/2014/main" id="{4A6C18FA-9809-4F7E-A6BD-687E52AA8EE7}"/>
              </a:ext>
            </a:extLst>
          </p:cNvPr>
          <p:cNvSpPr>
            <a:spLocks xmlns:a="http://schemas.openxmlformats.org/drawingml/2006/main" noGrp="1"/>
          </p:cNvSpPr>
          <p:nvPr/>
        </p:nvSpPr>
        <p:spPr>
          <a:xfrm xmlns:a="http://schemas.openxmlformats.org/drawingml/2006/main">
            <a:off x="393668" y="392240"/>
            <a:ext cx="1612868" cy="649129"/>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lnSpc>
                <a:spcPct val="108000"/>
              </a:lnSpc>
              <a:spcBef>
                <a:spcPts val="0"/>
              </a:spcBef>
              <a:spcAft>
                <a:spcPts val="0"/>
              </a:spcAft>
              <a:buNone/>
              <a:defRPr sz="2400">
                <a:solidFill>
                  <a:srgbClr val="000000"/>
                </a:solidFill>
                <a:latin typeface="Helvetica Neue"/>
                <a:ea typeface="Helvetica Neue"/>
                <a:cs typeface="Helvetica Neue"/>
              </a:defRPr>
            </a:pPr>
            <a:r>
              <a:rPr sz="1800" b="1">
                <a:solidFill>
                  <a:srgbClr val="B53E31"/>
                </a:solidFill>
                <a:latin typeface="Helvetica Neue"/>
                <a:ea typeface="Helvetica Neue"/>
                <a:cs typeface="Helvetica Neue"/>
              </a:rPr>
              <a:t>AFTERPLAY</a:t>
            </a:r>
          </a:p>
        </p:txBody>
      </p:sp>
      <p:sp>
        <p:nvSpPr>
          <p:cNvPr id="4" name="closing-accent">
            <a:extLst xmlns:a="http://schemas.openxmlformats.org/drawingml/2006/main">
              <a:ext uri="{FF2B5EF4-FFF2-40B4-BE49-F238E27FC236}">
                <a16:creationId xmlns:a16="http://schemas.microsoft.com/office/drawing/2014/main" id="{A23FD773-4381-44A0-9F29-B8F82D081CEC}"/>
              </a:ext>
            </a:extLst>
          </p:cNvPr>
          <p:cNvSpPr>
            <a:spLocks xmlns:a="http://schemas.openxmlformats.org/drawingml/2006/main" noGrp="1"/>
          </p:cNvSpPr>
          <p:nvPr/>
        </p:nvSpPr>
        <p:spPr>
          <a:xfrm xmlns:a="http://schemas.openxmlformats.org/drawingml/2006/main">
            <a:off x="10572750" y="0"/>
            <a:ext cx="1619250" cy="6858000"/>
          </a:xfrm>
          <a:prstGeom xmlns:a="http://schemas.openxmlformats.org/drawingml/2006/main" prst="rect">
            <a:avLst/>
          </a:prstGeom>
          <a:solidFill xmlns:a="http://schemas.openxmlformats.org/drawingml/2006/main">
            <a:srgbClr val="FF6B57"/>
          </a:solidFill>
          <a:ln xmlns:a="http://schemas.openxmlformats.org/drawingml/2006/main" w="0">
            <a:solidFill>
              <a:srgbClr val="FF6B57"/>
            </a:solidFill>
            <a:prstDash val="solid"/>
          </a:ln>
        </p:spPr>
      </p:sp>
    </p:spTree>
    <p:extLst>
      <p:ext uri="{BB962C8B-B14F-4D97-AF65-F5344CB8AC3E}">
        <p14:creationId xmlns:p14="http://schemas.microsoft.com/office/powerpoint/2010/main" val="61306619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2026-08-09T15:50:28.0090000Z</dcterms:created>
  <dcterms:modified xsi:type="dcterms:W3CDTF">2026-08-09T15:50:28.0090000Z</dcterms:modified>
</coreProperties>
</file>