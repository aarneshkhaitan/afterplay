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e10f3f393f4e74" /><Relationship Type="http://schemas.openxmlformats.org/officeDocument/2006/relationships/extended-properties" Target="/docProps/app.xml" Id="R23d36fb4e4294e88" /><Relationship Type="http://schemas.openxmlformats.org/officeDocument/2006/relationships/officeDocument" Target="/ppt/presentation.xml" Id="Ra7eed5e374ed49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6ca94dd3a14131"/>
  </p:sldMasterIdLst>
  <p:notesMasterIdLst>
    <p:notesMasterId xmlns:r="http://schemas.openxmlformats.org/officeDocument/2006/relationships" r:id="R949e4e537a5541e8"/>
  </p:notesMasterIdLst>
  <p:sldIdLst>
    <p:sldId xmlns:r="http://schemas.openxmlformats.org/officeDocument/2006/relationships" id="256" r:id="Red9025d4880b4382"/>
    <p:sldId xmlns:r="http://schemas.openxmlformats.org/officeDocument/2006/relationships" id="257" r:id="R0004350cb52b4419"/>
    <p:sldId xmlns:r="http://schemas.openxmlformats.org/officeDocument/2006/relationships" id="258" r:id="R85fe23850db54a6b"/>
    <p:sldId xmlns:r="http://schemas.openxmlformats.org/officeDocument/2006/relationships" id="259" r:id="Reb4df55a191446cc"/>
    <p:sldId xmlns:r="http://schemas.openxmlformats.org/officeDocument/2006/relationships" id="260" r:id="Rb30370daedee40e8"/>
    <p:sldId xmlns:r="http://schemas.openxmlformats.org/officeDocument/2006/relationships" id="261" r:id="R1989d2ef19404b82"/>
    <p:sldId xmlns:r="http://schemas.openxmlformats.org/officeDocument/2006/relationships" id="262" r:id="R42c49de2a3c14916"/>
    <p:sldId xmlns:r="http://schemas.openxmlformats.org/officeDocument/2006/relationships" id="263" r:id="R2894770adf2a421c"/>
    <p:sldId xmlns:r="http://schemas.openxmlformats.org/officeDocument/2006/relationships" id="264" r:id="R216692db96734c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7811e69d514d64" /><Relationship Type="http://schemas.openxmlformats.org/officeDocument/2006/relationships/slideMaster" Target="/ppt/slideMasters/slideMaster1.xml" Id="Rd76ca94dd3a14131" /><Relationship Type="http://schemas.openxmlformats.org/officeDocument/2006/relationships/notesMaster" Target="/ppt/notesMasters/notesMaster1.xml" Id="R949e4e537a5541e8" /><Relationship Type="http://schemas.openxmlformats.org/officeDocument/2006/relationships/presProps" Target="/ppt/presProps.xml" Id="Rb04513a9d7904940" /><Relationship Type="http://schemas.openxmlformats.org/officeDocument/2006/relationships/tableStyles" Target="/ppt/tableStyles.xml" Id="Ra2642f17a2dc4fad" /><Relationship Type="http://schemas.openxmlformats.org/officeDocument/2006/relationships/slide" Target="/ppt/slides/slide1.xml" Id="Red9025d4880b4382" /><Relationship Type="http://schemas.openxmlformats.org/officeDocument/2006/relationships/slide" Target="/ppt/slides/slide2.xml" Id="R0004350cb52b4419" /><Relationship Type="http://schemas.openxmlformats.org/officeDocument/2006/relationships/slide" Target="/ppt/slides/slide3.xml" Id="R85fe23850db54a6b" /><Relationship Type="http://schemas.openxmlformats.org/officeDocument/2006/relationships/slide" Target="/ppt/slides/slide4.xml" Id="Reb4df55a191446cc" /><Relationship Type="http://schemas.openxmlformats.org/officeDocument/2006/relationships/slide" Target="/ppt/slides/slide5.xml" Id="Rb30370daedee40e8" /><Relationship Type="http://schemas.openxmlformats.org/officeDocument/2006/relationships/slide" Target="/ppt/slides/slide6.xml" Id="R1989d2ef19404b82" /><Relationship Type="http://schemas.openxmlformats.org/officeDocument/2006/relationships/slide" Target="/ppt/slides/slide7.xml" Id="R42c49de2a3c14916" /><Relationship Type="http://schemas.openxmlformats.org/officeDocument/2006/relationships/slide" Target="/ppt/slides/slide8.xml" Id="R2894770adf2a421c" /><Relationship Type="http://schemas.openxmlformats.org/officeDocument/2006/relationships/slide" Target="/ppt/slides/slide9.xml" Id="R216692db96734c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b25ccc4ab44c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6cb0eef0b1493b" /><Relationship Type="http://schemas.openxmlformats.org/officeDocument/2006/relationships/notesMaster" Target="/ppt/notesMasters/notesMaster1.xml" Id="Re2b8a6c725e54c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feec58b51e4046" /><Relationship Type="http://schemas.openxmlformats.org/officeDocument/2006/relationships/notesMaster" Target="/ppt/notesMasters/notesMaster1.xml" Id="R53e58fd80d2849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6ffd24a8654011" /><Relationship Type="http://schemas.openxmlformats.org/officeDocument/2006/relationships/notesMaster" Target="/ppt/notesMasters/notesMaster1.xml" Id="Rce2862369cdb40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c382915338478f" /><Relationship Type="http://schemas.openxmlformats.org/officeDocument/2006/relationships/notesMaster" Target="/ppt/notesMasters/notesMaster1.xml" Id="R5d89f1fa94d247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2a31cdfd684c21" /><Relationship Type="http://schemas.openxmlformats.org/officeDocument/2006/relationships/notesMaster" Target="/ppt/notesMasters/notesMaster1.xml" Id="Rbdb0245d89784d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5cc2dbea85414c" /><Relationship Type="http://schemas.openxmlformats.org/officeDocument/2006/relationships/notesMaster" Target="/ppt/notesMasters/notesMaster1.xml" Id="Re4ddb7465f374d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a3fcedd4314d85" /><Relationship Type="http://schemas.openxmlformats.org/officeDocument/2006/relationships/notesMaster" Target="/ppt/notesMasters/notesMaster1.xml" Id="R96074549329749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c41ca31f754d8f" /><Relationship Type="http://schemas.openxmlformats.org/officeDocument/2006/relationships/notesMaster" Target="/ppt/notesMasters/notesMaster1.xml" Id="Rbc6e95ba667543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dae256549f4789" /><Relationship Type="http://schemas.openxmlformats.org/officeDocument/2006/relationships/notesMaster" Target="/ppt/notesMasters/notesMaster1.xml" Id="R0a87db2bd54c43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Afterplay is not another clip generator. It is the team behind the player: a system that remembers channel context, runs growth experiments, and learns what to do next.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screenshot: deck/assets/screens/v1-latest/hq.png, origin/v1 commit 27f5cd1.</a:t>
            </a:r>
          </a:p>
          <a:p xmlns:a="http://schemas.openxmlformats.org/drawingml/2006/main">
            <a:r>
              <a:t>- Project README and product loop on origin/v1 commit 27f5cd1.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around learning, not production volume. Afterplay preserves the context that makes the next creative decision better.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problem framing and diagnosis loop: README.md on origin/v1 commit 27f5cd1.</a:t>
            </a:r>
          </a:p>
          <a:p xmlns:a="http://schemas.openxmlformats.org/drawingml/2006/main">
            <a:r>
              <a:t>- Project Memory and experiment domain code on origin/v1 commit 27f5cd1.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differentiator is the closed loop. Each product area is a projection of the same experiment state, rather than a disconnected AI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loop: README.md on origin/v1 commit 27f5cd1.</a:t>
            </a:r>
          </a:p>
          <a:p xmlns:a="http://schemas.openxmlformats.org/drawingml/2006/main">
            <a:r>
              <a:t>- Lifecycle, approval, receipts, and results: src/domain on origin/v1 commit 27f5cd1.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latest teammate push adds a browser-launched clipper job with real stage progress, then hands work to a revision-aware approval screen. The UI also reports missing data and keys honestly.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screenshots: deck/assets/screens/v1-latest/ingest.png and studio.png.</a:t>
            </a:r>
          </a:p>
          <a:p xmlns:a="http://schemas.openxmlformats.org/drawingml/2006/main">
            <a:r>
              <a:t>- V1 commits 21eca20, 5563d23, and 27f5cd1.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repository itself as proof. The branch contains an end-to-end product surface and a real media pipeline, with separate web and Python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diff --stat origin/main..origin/v1 at v1 commit 27f5cd1: 113 files changed, 19,796 insertions, 230 deletions.</a:t>
            </a:r>
          </a:p>
          <a:p xmlns:a="http://schemas.openxmlformats.org/drawingml/2006/main">
            <a:r>
              <a:t>- V1 commit messages report 57 Playwright production tests and 121 Python tests passing, with 1 Python test skipped.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Afterplay's defensibility comes from accumulated creator context. The latest V1 makes memory selection and competitive scans first-class product surfaces while refusing to substitute fake live reports when keys are missing.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screenshot: deck/assets/screens/v1-latest/intel.png, origin/v1 commit 27f5cd1.</a:t>
            </a:r>
          </a:p>
          <a:p xmlns:a="http://schemas.openxmlformats.org/drawingml/2006/main">
            <a:r>
              <a:t>- Competitive-intelligence implementation: src/domain/intel and docs/intel/INTELLIGENCE.md on origin/v1.</a:t>
            </a:r>
          </a:p>
          <a:p xmlns:a="http://schemas.openxmlformats.org/drawingml/2006/main">
            <a:r>
              <a:t>- Creator memory selection: src/domain/creators.ts and src/app/memory/page.tsx on origin/v1.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Riff is the 10x expansion: use the same experiment and memory system during the stream. The creator controls personality and intensity; the system can surface chat setups and recurring bits in real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screenshot: deck/assets/screens/riff/live.png from the local Riff live prototype.</a:t>
            </a:r>
          </a:p>
          <a:p xmlns:a="http://schemas.openxmlformats.org/drawingml/2006/main">
            <a:r>
              <a:t>- Local implementation: src/app/live/page.tsx and src/components/riff-live-console.tsx.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ambition is large, but the sequence is disciplined: prove the offline loop, harden the creator workspace, then move the same intelligence into the live stream.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Current-state evidence: origin/v1 commit 27f5cd1 and local Riff prototype.</a:t>
            </a:r>
          </a:p>
          <a:p xmlns:a="http://schemas.openxmlformats.org/drawingml/2006/main">
            <a:r>
              <a:t>- Roadmap language is the project team's forward plan;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product promise: Afterplay turns creator context into a repeatable reason to come back, with a credible path from today's build to a live AI-native experience.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positioning and implementation evidence from origin/v1 commit 27f5cd1 and the local Riff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23a63cfd84a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49c9f2a4554b14" /><Relationship Type="http://schemas.openxmlformats.org/officeDocument/2006/relationships/slideLayout" Target="/ppt/slideLayouts/slideLayout1.xml" Id="R47563459d0424d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563459d0424d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1374ee7714bff" /><Relationship Type="http://schemas.openxmlformats.org/officeDocument/2006/relationships/image" Target="/ppt/media/image.png" Id="Rdf159ae5261d4a63" /><Relationship Type="http://schemas.openxmlformats.org/officeDocument/2006/relationships/notesSlide" Target="/ppt/notesSlides/notesSlide1.xml" Id="R2e0a33d340044b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67211a5774bd4" /><Relationship Type="http://schemas.openxmlformats.org/officeDocument/2006/relationships/notesSlide" Target="/ppt/notesSlides/notesSlide2.xml" Id="R015343fd2de443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9f14012a34af3" /><Relationship Type="http://schemas.openxmlformats.org/officeDocument/2006/relationships/notesSlide" Target="/ppt/notesSlides/notesSlide3.xml" Id="Rbb64f8143f7e44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d9c17454c45f2" /><Relationship Type="http://schemas.openxmlformats.org/officeDocument/2006/relationships/image" Target="/ppt/media/image2.png" Id="R980e7f0d95a848c4" /><Relationship Type="http://schemas.openxmlformats.org/officeDocument/2006/relationships/image" Target="/ppt/media/image3.png" Id="Rca03c3227d634d8a" /><Relationship Type="http://schemas.openxmlformats.org/officeDocument/2006/relationships/notesSlide" Target="/ppt/notesSlides/notesSlide4.xml" Id="R28ccc910babe48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f7605dd6049c7" /><Relationship Type="http://schemas.openxmlformats.org/officeDocument/2006/relationships/notesSlide" Target="/ppt/notesSlides/notesSlide5.xml" Id="R1ff692c37a9c47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3a53759614e10" /><Relationship Type="http://schemas.openxmlformats.org/officeDocument/2006/relationships/image" Target="/ppt/media/image4.png" Id="Raeb8a0312a124a92" /><Relationship Type="http://schemas.openxmlformats.org/officeDocument/2006/relationships/notesSlide" Target="/ppt/notesSlides/notesSlide6.xml" Id="R75ae753d0fae49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1274ba86142d2" /><Relationship Type="http://schemas.openxmlformats.org/officeDocument/2006/relationships/image" Target="/ppt/media/image5.png" Id="Rad51eb2c400c45ce" /><Relationship Type="http://schemas.openxmlformats.org/officeDocument/2006/relationships/notesSlide" Target="/ppt/notesSlides/notesSlide7.xml" Id="R8ff460bd876344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a9e8b1d7748c7" /><Relationship Type="http://schemas.openxmlformats.org/officeDocument/2006/relationships/notesSlide" Target="/ppt/notesSlides/notesSlide8.xml" Id="R6bdbad31548f41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c29cfa6fe40a3" /><Relationship Type="http://schemas.openxmlformats.org/officeDocument/2006/relationships/notesSlide" Target="/ppt/notesSlides/notesSlide9.xml" Id="R0119bc77d0564b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B236ADA-0AB4-4465-A057-8D6D513D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36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0300A4B-5F74-4AFA-9CF3-4A8AC577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53E31"/>
                </a:solidFill>
                <a:latin typeface="Helvetica Neue"/>
                <a:ea typeface="Helvetica Neue"/>
                <a:cs typeface="Helvetica Neue"/>
              </a:rPr>
              <a:t>GARENA AI BUILD CHALLENGE · 2026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EAC09B78-D55A-466E-AD1D-B6519962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4DA87940-6655-478E-80F9-5761F043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>Afterplay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C6368"/>
                </a:solidFill>
                <a:latin typeface="Helvetica Neue"/>
                <a:ea typeface="Helvetica Neue"/>
                <a:cs typeface="Helvetica Neue"/>
              </a:rPr>
              <a:t>The AI growth team that turns every stream into the next reason viewers return.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59ae5261d4a63"/>
          <a:srcRect xmlns:a="http://schemas.openxmlformats.org/drawingml/2006/main" l="10548" t="0" r="105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063"/>
            </a:avLst>
          </a:prstGeom>
        </p:spPr>
      </p:pic>
      <p:sp>
        <p:nvSpPr>
          <p:cNvPr id="7" name="cover-built-label">
            <a:extLst xmlns:a="http://schemas.openxmlformats.org/drawingml/2006/main">
              <a:ext uri="{FF2B5EF4-FFF2-40B4-BE49-F238E27FC236}">
                <a16:creationId xmlns:a16="http://schemas.microsoft.com/office/drawing/2014/main" id="{07C28210-16BD-4026-9D3D-6E00FE3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42925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3E31"/>
                </a:solidFill>
              </a:defRPr>
            </a:pPr>
            <a:r>
              <a:rPr sz="1350" b="1">
                <a:solidFill>
                  <a:srgbClr val="B53E31"/>
                </a:solidFill>
              </a:rPr>
              <a:t>BUILT NOW  ·  COMPOUNDS NEXT</a:t>
            </a:r>
          </a:p>
        </p:txBody>
      </p:sp>
    </p:spTree>
    <p:extLst>
      <p:ext uri="{BB962C8B-B14F-4D97-AF65-F5344CB8AC3E}">
        <p14:creationId xmlns:p14="http://schemas.microsoft.com/office/powerpoint/2010/main" val="7069941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FAC76E8-56D0-44DF-9579-3591AECF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36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186B5B9-D535-4CFC-BF63-23469C10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>Creators do not need more clips. They need a learning loop.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4A6592F9-61A6-4A09-B320-AA96778E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>The workflow ends at publish</a:t>
            </a:r>
          </a:p>
          <a:p xmlns:a="http://schemas.openxmlformats.org/drawingml/2006/main"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368"/>
                </a:solidFill>
                <a:latin typeface="Helvetica Neue"/>
                <a:ea typeface="Helvetica Neue"/>
                <a:cs typeface="Helvetica Neue"/>
              </a:rPr>
              <a:t>A stream becomes dozens of assets, then disappears into feeds and dashboards. The next stream starts with almost none of that context.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FE5F3B58-AEA1-4C95-8B7F-DA0DB053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>The missing state is why people return</a:t>
            </a:r>
          </a:p>
          <a:p xmlns:a="http://schemas.openxmlformats.org/drawingml/2006/main"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368"/>
                </a:solidFill>
                <a:latin typeface="Helvetica Neue"/>
                <a:ea typeface="Helvetica Neue"/>
                <a:cs typeface="Helvetica Neue"/>
              </a:rPr>
              <a:t>Callbacks, recurring formats, viewer language, and experiment results are durable creator memory—not disposable content metadata.</a:t>
            </a:r>
          </a:p>
        </p:txBody>
      </p:sp>
      <p:sp>
        <p:nvSpPr>
          <p:cNvPr id="5" name="afterplay-accent-rule">
            <a:extLst xmlns:a="http://schemas.openxmlformats.org/drawingml/2006/main">
              <a:ext uri="{FF2B5EF4-FFF2-40B4-BE49-F238E27FC236}">
                <a16:creationId xmlns:a16="http://schemas.microsoft.com/office/drawing/2014/main" id="{AEF4C042-3A20-4F29-8144-547D45C7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73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solidFill>
              <a:srgbClr val="FF6B57"/>
            </a:solidFill>
            <a:prstDash val="solid"/>
          </a:ln>
        </p:spPr>
      </p:sp>
      <p:sp>
        <p:nvSpPr>
          <p:cNvPr id="6" name="afterplay-coral-mark">
            <a:extLst xmlns:a="http://schemas.openxmlformats.org/drawingml/2006/main">
              <a:ext uri="{FF2B5EF4-FFF2-40B4-BE49-F238E27FC236}">
                <a16:creationId xmlns:a16="http://schemas.microsoft.com/office/drawing/2014/main" id="{71153777-6195-42E9-ACCB-8E4E19AF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solidFill>
              <a:srgbClr val="FF6B57"/>
            </a:solidFill>
            <a:prstDash val="solid"/>
          </a:ln>
        </p:spPr>
      </p:sp>
      <p:sp>
        <p:nvSpPr>
          <p:cNvPr id="7" name="afterplay-wordmark">
            <a:extLst xmlns:a="http://schemas.openxmlformats.org/drawingml/2006/main">
              <a:ext uri="{FF2B5EF4-FFF2-40B4-BE49-F238E27FC236}">
                <a16:creationId xmlns:a16="http://schemas.microsoft.com/office/drawing/2014/main" id="{419200C4-F543-4A34-A3CB-4AB6B11F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368"/>
                </a:solidFill>
              </a:defRPr>
            </a:pPr>
            <a:r>
              <a:rPr sz="1050" b="1">
                <a:solidFill>
                  <a:srgbClr val="5C6368"/>
                </a:solidFill>
              </a:rPr>
              <a:t>AFTERPLAY</a:t>
            </a:r>
          </a:p>
        </p:txBody>
      </p:sp>
    </p:spTree>
    <p:extLst>
      <p:ext uri="{BB962C8B-B14F-4D97-AF65-F5344CB8AC3E}">
        <p14:creationId xmlns:p14="http://schemas.microsoft.com/office/powerpoint/2010/main" val="6312255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C10CD881-B305-4008-B645-9A90CAD8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36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57D2B9EE-AAA2-4EC4-A91F-E4F31E85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4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>Afterplay makes growth a governed, repeatable loop.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3404F664-18FE-48A1-A462-1F2C1901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53E31"/>
                </a:solidFill>
                <a:latin typeface="Helvetica Neue"/>
                <a:ea typeface="Helvetica Neue"/>
                <a:cs typeface="Helvetica Neue"/>
              </a:rPr>
              <a:t>01 — Decide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368"/>
                </a:solidFill>
                <a:latin typeface="Helvetica Neue"/>
                <a:ea typeface="Helvetica Neue"/>
                <a:cs typeface="Helvetica Neue"/>
              </a:rPr>
              <a:t>Diagnose the return problem and choose one falsifiable experiment.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37698D7-B3B6-4C60-AFE4-FE5DDC21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53E31"/>
                </a:solidFill>
                <a:latin typeface="Helvetica Neue"/>
                <a:ea typeface="Helvetica Neue"/>
                <a:cs typeface="Helvetica Neue"/>
              </a:rPr>
              <a:t>02 — Make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368"/>
                </a:solidFill>
                <a:latin typeface="Helvetica Neue"/>
                <a:ea typeface="Helvetica Neue"/>
                <a:cs typeface="Helvetica Neue"/>
              </a:rPr>
              <a:t>Clip the stream, draft coordinated assets, and attach evidence.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0FC2F75-6327-4F6D-A495-D0E13F10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53E31"/>
                </a:solidFill>
                <a:latin typeface="Helvetica Neue"/>
                <a:ea typeface="Helvetica Neue"/>
                <a:cs typeface="Helvetica Neue"/>
              </a:rPr>
              <a:t>03 — Approve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368"/>
                </a:solidFill>
                <a:latin typeface="Helvetica Neue"/>
                <a:ea typeface="Helvetica Neue"/>
                <a:cs typeface="Helvetica Neue"/>
              </a:rPr>
              <a:t>Gate every external action behind the creator's current revision.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6BC537EC-5FC6-4F4E-98DE-4E977AC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53E31"/>
                </a:solidFill>
                <a:latin typeface="Helvetica Neue"/>
                <a:ea typeface="Helvetica Neue"/>
                <a:cs typeface="Helvetica Neue"/>
              </a:rPr>
              <a:t>04 — Learn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368"/>
                </a:solidFill>
                <a:latin typeface="Helvetica Neue"/>
                <a:ea typeface="Helvetica Neue"/>
                <a:cs typeface="Helvetica Neue"/>
              </a:rPr>
              <a:t>Read the result, preserve limits, and change the next plan.</a:t>
            </a:r>
          </a:p>
        </p:txBody>
      </p:sp>
      <p:sp>
        <p:nvSpPr>
          <p:cNvPr id="7" name="afterplay-accent-rule">
            <a:extLst xmlns:a="http://schemas.openxmlformats.org/drawingml/2006/main">
              <a:ext uri="{FF2B5EF4-FFF2-40B4-BE49-F238E27FC236}">
                <a16:creationId xmlns:a16="http://schemas.microsoft.com/office/drawing/2014/main" id="{971677E7-0A16-4C14-949A-10AB7EF0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73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solidFill>
              <a:srgbClr val="FF6B57"/>
            </a:solidFill>
            <a:prstDash val="solid"/>
          </a:ln>
        </p:spPr>
      </p:sp>
      <p:sp>
        <p:nvSpPr>
          <p:cNvPr id="8" name="afterplay-coral-mark">
            <a:extLst xmlns:a="http://schemas.openxmlformats.org/drawingml/2006/main">
              <a:ext uri="{FF2B5EF4-FFF2-40B4-BE49-F238E27FC236}">
                <a16:creationId xmlns:a16="http://schemas.microsoft.com/office/drawing/2014/main" id="{D1660FF1-2AE8-402F-AD0D-AB45BA0D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solidFill>
              <a:srgbClr val="FF6B57"/>
            </a:solidFill>
            <a:prstDash val="solid"/>
          </a:ln>
        </p:spPr>
      </p:sp>
      <p:sp>
        <p:nvSpPr>
          <p:cNvPr id="9" name="afterplay-wordmark">
            <a:extLst xmlns:a="http://schemas.openxmlformats.org/drawingml/2006/main">
              <a:ext uri="{FF2B5EF4-FFF2-40B4-BE49-F238E27FC236}">
                <a16:creationId xmlns:a16="http://schemas.microsoft.com/office/drawing/2014/main" id="{BE4D1A49-D031-417B-8568-9C0B8EA7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368"/>
                </a:solidFill>
              </a:defRPr>
            </a:pPr>
            <a:r>
              <a:rPr sz="1050" b="1">
                <a:solidFill>
                  <a:srgbClr val="5C6368"/>
                </a:solidFill>
              </a:rPr>
              <a:t>AFTERPLAY</a:t>
            </a:r>
          </a:p>
        </p:txBody>
      </p:sp>
    </p:spTree>
    <p:extLst>
      <p:ext uri="{BB962C8B-B14F-4D97-AF65-F5344CB8AC3E}">
        <p14:creationId xmlns:p14="http://schemas.microsoft.com/office/powerpoint/2010/main" val="13465176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99C52FB-5D6D-4871-ADC8-CDDB03F8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36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5EC4A9D-D290-4EFB-B5A2-3AA24E14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>The newest V1 closes the operational loop with real work.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6819309F-F868-43DF-871E-0C7378D7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8EC2C88F-3781-4D3E-A4C7-25CFC16A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" name="afterplay-accent-rule">
            <a:extLst xmlns:a="http://schemas.openxmlformats.org/drawingml/2006/main">
              <a:ext uri="{FF2B5EF4-FFF2-40B4-BE49-F238E27FC236}">
                <a16:creationId xmlns:a16="http://schemas.microsoft.com/office/drawing/2014/main" id="{C8FF8946-8A20-4335-B695-17BCDDB8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73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solidFill>
              <a:srgbClr val="FF6B57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e7f0d95a848c4"/>
          <a:srcRect xmlns:a="http://schemas.openxmlformats.org/drawingml/2006/main" l="1048" t="0" r="10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oundRect">
            <a:avLst>
              <a:gd name="adj" fmla="val 3234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3c3227d634d8a"/>
          <a:srcRect xmlns:a="http://schemas.openxmlformats.org/drawingml/2006/main" l="0" t="10101" r="0" b="101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oundRect">
            <a:avLst>
              <a:gd name="adj" fmla="val 3234"/>
            </a:avLst>
          </a:prstGeom>
        </p:spPr>
      </p:pic>
      <p:sp>
        <p:nvSpPr>
          <p:cNvPr id="8" name="ingest-caption">
            <a:extLst xmlns:a="http://schemas.openxmlformats.org/drawingml/2006/main">
              <a:ext uri="{FF2B5EF4-FFF2-40B4-BE49-F238E27FC236}">
                <a16:creationId xmlns:a16="http://schemas.microsoft.com/office/drawing/2014/main" id="{64473142-10C9-4794-BF06-3C388DD7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219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REAL INGEST  ·  LOCAL OR YOUTUBE  ·  STAGE PROGRESS</a:t>
            </a:r>
          </a:p>
        </p:txBody>
      </p:sp>
      <p:sp>
        <p:nvSpPr>
          <p:cNvPr id="9" name="studio-caption">
            <a:extLst xmlns:a="http://schemas.openxmlformats.org/drawingml/2006/main">
              <a:ext uri="{FF2B5EF4-FFF2-40B4-BE49-F238E27FC236}">
                <a16:creationId xmlns:a16="http://schemas.microsoft.com/office/drawing/2014/main" id="{C07F4180-9EE1-4898-BFE4-602893E7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219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STUDIO  ·  EVIDENCE  ·  REVISION-AWARE APPROVAL</a:t>
            </a:r>
          </a:p>
        </p:txBody>
      </p:sp>
      <p:sp>
        <p:nvSpPr>
          <p:cNvPr id="10" name="afterplay-coral-mark">
            <a:extLst xmlns:a="http://schemas.openxmlformats.org/drawingml/2006/main">
              <a:ext uri="{FF2B5EF4-FFF2-40B4-BE49-F238E27FC236}">
                <a16:creationId xmlns:a16="http://schemas.microsoft.com/office/drawing/2014/main" id="{1AEACFCB-000E-49C1-9F22-18AE425F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solidFill>
              <a:srgbClr val="FF6B57"/>
            </a:solidFill>
            <a:prstDash val="solid"/>
          </a:ln>
        </p:spPr>
      </p:sp>
      <p:sp>
        <p:nvSpPr>
          <p:cNvPr id="11" name="afterplay-wordmark">
            <a:extLst xmlns:a="http://schemas.openxmlformats.org/drawingml/2006/main">
              <a:ext uri="{FF2B5EF4-FFF2-40B4-BE49-F238E27FC236}">
                <a16:creationId xmlns:a16="http://schemas.microsoft.com/office/drawing/2014/main" id="{56732500-6E53-4833-BF48-2BA15D47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368"/>
                </a:solidFill>
              </a:defRPr>
            </a:pPr>
            <a:r>
              <a:rPr sz="1050" b="1">
                <a:solidFill>
                  <a:srgbClr val="5C6368"/>
                </a:solidFill>
              </a:rPr>
              <a:t>AFTERPLAY</a:t>
            </a:r>
          </a:p>
        </p:txBody>
      </p:sp>
    </p:spTree>
    <p:extLst>
      <p:ext uri="{BB962C8B-B14F-4D97-AF65-F5344CB8AC3E}">
        <p14:creationId xmlns:p14="http://schemas.microsoft.com/office/powerpoint/2010/main" val="2690413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F94FCCCB-B341-4F9A-B27D-B7D6DD64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0F0F6B52-EF0E-4B1D-9DE9-B27FE163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A6C99AC8-C497-417F-836F-DBD15BE3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9E60A23B-615F-479E-9564-A926C69D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36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8B6D8CE3-67D9-47D6-8A13-534A6A07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>A working system—not a scripted click-through.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B07086F-2077-43D9-B8B3-C9849B08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368"/>
                </a:solidFill>
                <a:latin typeface="Helvetica Neue"/>
                <a:ea typeface="Helvetica Neue"/>
                <a:cs typeface="Helvetica Neue"/>
              </a:rPr>
              <a:t>files changed from main to V1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3A3FAAD-420F-49ED-AA2B-42F3325A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368"/>
                </a:solidFill>
                <a:latin typeface="Helvetica Neue"/>
                <a:ea typeface="Helvetica Neue"/>
                <a:cs typeface="Helvetica Neue"/>
              </a:rPr>
              <a:t>browser + Python tests reported passing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A9603F39-BB22-472B-8538-FF3EAF91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368"/>
                </a:solidFill>
                <a:latin typeface="Helvetica Neue"/>
                <a:ea typeface="Helvetica Neue"/>
                <a:cs typeface="Helvetica Neue"/>
              </a:rPr>
              <a:t>lines added across app + clipper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F966A541-211E-484C-8166-CF5F38C0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>113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A17D18BD-1ABF-4EFB-8066-B4484412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>19.8k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2B52711E-A76F-452F-A928-1572724A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>57 + 121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AA741FFD-553F-49B4-8382-101543D7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53E31"/>
                </a:solidFill>
                <a:latin typeface="Helvetica Neue"/>
                <a:ea typeface="Helvetica Neue"/>
                <a:cs typeface="Helvetica Neue"/>
              </a:rPr>
              <a:t>REPOSITORY PROOF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368"/>
                </a:solidFill>
                <a:latin typeface="Helvetica Neue"/>
                <a:ea typeface="Helvetica Neue"/>
                <a:cs typeface="Helvetica Neue"/>
              </a:rPr>
              <a:t>V1 expands the merged prototype into a full web application, Python clipper service, competitive-intelligence console, and public browser test surface.</a:t>
            </a:r>
          </a:p>
        </p:txBody>
      </p:sp>
      <p:sp>
        <p:nvSpPr>
          <p:cNvPr id="13" name="afterplay-accent-rule">
            <a:extLst xmlns:a="http://schemas.openxmlformats.org/drawingml/2006/main">
              <a:ext uri="{FF2B5EF4-FFF2-40B4-BE49-F238E27FC236}">
                <a16:creationId xmlns:a16="http://schemas.microsoft.com/office/drawing/2014/main" id="{ACB6D040-EC6E-48B0-9A8D-4AE26168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73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solidFill>
              <a:srgbClr val="FF6B57"/>
            </a:solidFill>
            <a:prstDash val="solid"/>
          </a:ln>
        </p:spPr>
      </p:sp>
      <p:sp>
        <p:nvSpPr>
          <p:cNvPr id="14" name="afterplay-coral-mark">
            <a:extLst xmlns:a="http://schemas.openxmlformats.org/drawingml/2006/main">
              <a:ext uri="{FF2B5EF4-FFF2-40B4-BE49-F238E27FC236}">
                <a16:creationId xmlns:a16="http://schemas.microsoft.com/office/drawing/2014/main" id="{5877A740-BA6E-451B-B08F-C9DBA8D5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solidFill>
              <a:srgbClr val="FF6B57"/>
            </a:solidFill>
            <a:prstDash val="solid"/>
          </a:ln>
        </p:spPr>
      </p:sp>
      <p:sp>
        <p:nvSpPr>
          <p:cNvPr id="15" name="afterplay-wordmark">
            <a:extLst xmlns:a="http://schemas.openxmlformats.org/drawingml/2006/main">
              <a:ext uri="{FF2B5EF4-FFF2-40B4-BE49-F238E27FC236}">
                <a16:creationId xmlns:a16="http://schemas.microsoft.com/office/drawing/2014/main" id="{832D162D-8C7F-456F-B6FF-B0616FC3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368"/>
                </a:solidFill>
              </a:defRPr>
            </a:pPr>
            <a:r>
              <a:rPr sz="1050" b="1">
                <a:solidFill>
                  <a:srgbClr val="5C6368"/>
                </a:solidFill>
              </a:rPr>
              <a:t>AFTERPLAY</a:t>
            </a:r>
          </a:p>
        </p:txBody>
      </p:sp>
    </p:spTree>
    <p:extLst>
      <p:ext uri="{BB962C8B-B14F-4D97-AF65-F5344CB8AC3E}">
        <p14:creationId xmlns:p14="http://schemas.microsoft.com/office/powerpoint/2010/main" val="2938006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1FDFB9B-734C-48E2-BAEA-B970BD32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36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5D47921-65C3-4A97-96F9-6E13F245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>Context compounds.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E2270CEB-D8C4-47B8-BD66-D1B9AB74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9EE7EFBC-4F89-45CA-9FC7-C44D4FD2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>The moat is creator-specific state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C6368"/>
                </a:solidFill>
                <a:latin typeface="Helvetica Neue"/>
                <a:ea typeface="Helvetica Neue"/>
                <a:cs typeface="Helvetica Neue"/>
              </a:rPr>
              <a:t>Channel memory makes callbacks findable. Competitive intelligence measures what is moving adjacent audiences. Experiment history records what changed—and what did not.
The moat is not a model call. It is the creator-specific state built across streams.</a:t>
            </a:r>
          </a:p>
        </p:txBody>
      </p:sp>
      <p:sp>
        <p:nvSpPr>
          <p:cNvPr id="6" name="afterplay-accent-rule">
            <a:extLst xmlns:a="http://schemas.openxmlformats.org/drawingml/2006/main">
              <a:ext uri="{FF2B5EF4-FFF2-40B4-BE49-F238E27FC236}">
                <a16:creationId xmlns:a16="http://schemas.microsoft.com/office/drawing/2014/main" id="{9AE57B76-C415-4E2D-BA24-9922EEDB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73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solidFill>
              <a:srgbClr val="FF6B57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8a0312a124a92"/>
          <a:srcRect xmlns:a="http://schemas.openxmlformats.org/drawingml/2006/main" l="10101" t="0" r="10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063"/>
            </a:avLst>
          </a:prstGeom>
        </p:spPr>
      </p:pic>
      <p:sp>
        <p:nvSpPr>
          <p:cNvPr id="8" name="moat-label">
            <a:extLst xmlns:a="http://schemas.openxmlformats.org/drawingml/2006/main">
              <a:ext uri="{FF2B5EF4-FFF2-40B4-BE49-F238E27FC236}">
                <a16:creationId xmlns:a16="http://schemas.microsoft.com/office/drawing/2014/main" id="{33CE6B15-8428-4A83-AD5B-134EB596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429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3E31"/>
                </a:solidFill>
              </a:defRPr>
            </a:pPr>
            <a:r>
              <a:rPr sz="1350" b="1">
                <a:solidFill>
                  <a:srgbClr val="B53E31"/>
                </a:solidFill>
              </a:rPr>
              <a:t>MEMORY  ×  MARKET SIGNAL  ×  RESULTS</a:t>
            </a:r>
          </a:p>
        </p:txBody>
      </p:sp>
      <p:sp>
        <p:nvSpPr>
          <p:cNvPr id="9" name="afterplay-coral-mark">
            <a:extLst xmlns:a="http://schemas.openxmlformats.org/drawingml/2006/main">
              <a:ext uri="{FF2B5EF4-FFF2-40B4-BE49-F238E27FC236}">
                <a16:creationId xmlns:a16="http://schemas.microsoft.com/office/drawing/2014/main" id="{5ABF0359-E76E-45C6-A486-29181583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solidFill>
              <a:srgbClr val="FF6B57"/>
            </a:solidFill>
            <a:prstDash val="solid"/>
          </a:ln>
        </p:spPr>
      </p:sp>
      <p:sp>
        <p:nvSpPr>
          <p:cNvPr id="10" name="afterplay-wordmark">
            <a:extLst xmlns:a="http://schemas.openxmlformats.org/drawingml/2006/main">
              <a:ext uri="{FF2B5EF4-FFF2-40B4-BE49-F238E27FC236}">
                <a16:creationId xmlns:a16="http://schemas.microsoft.com/office/drawing/2014/main" id="{85F2F4D5-E6B2-4F38-8024-D9E0D811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368"/>
                </a:solidFill>
              </a:defRPr>
            </a:pPr>
            <a:r>
              <a:rPr sz="1050" b="1">
                <a:solidFill>
                  <a:srgbClr val="5C6368"/>
                </a:solidFill>
              </a:rPr>
              <a:t>AFTERPLAY</a:t>
            </a:r>
          </a:p>
        </p:txBody>
      </p:sp>
    </p:spTree>
    <p:extLst>
      <p:ext uri="{BB962C8B-B14F-4D97-AF65-F5344CB8AC3E}">
        <p14:creationId xmlns:p14="http://schemas.microsoft.com/office/powerpoint/2010/main" val="10526769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40BFE5C-0863-41A3-8B41-89C85D6A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36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4F38705-3E41-4C07-B043-1444799F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>The 10× move is to act while the stream is still alive.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B96553BE-BBDB-4C04-ACE5-B74742F6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56E825D8-A7BF-4A1C-AB39-B44C767E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>Riff turns the growth loop into a live cohost</a:t>
            </a:r>
          </a:p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368"/>
                </a:solidFill>
                <a:latin typeface="Helvetica Neue"/>
                <a:ea typeface="Helvetica Neue"/>
                <a:cs typeface="Helvetica Neue"/>
              </a:rPr>
              <a:t>It hears the creator, watches for a live experiment's trigger, and responds in the personality the creator approves.
Afterplay stops being post-production software and becomes a programmable audience experience.</a:t>
            </a:r>
          </a:p>
        </p:txBody>
      </p:sp>
      <p:sp>
        <p:nvSpPr>
          <p:cNvPr id="5" name="afterplay-accent-rule">
            <a:extLst xmlns:a="http://schemas.openxmlformats.org/drawingml/2006/main">
              <a:ext uri="{FF2B5EF4-FFF2-40B4-BE49-F238E27FC236}">
                <a16:creationId xmlns:a16="http://schemas.microsoft.com/office/drawing/2014/main" id="{076B8FD8-E89D-474F-AE3D-E9DBEEBA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73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solidFill>
              <a:srgbClr val="FF6B57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1eb2c400c45ce"/>
          <a:srcRect xmlns:a="http://schemas.openxmlformats.org/drawingml/2006/main" l="0" t="4716" r="0" b="47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oundRect">
            <a:avLst>
              <a:gd name="adj" fmla="val 3234"/>
            </a:avLst>
          </a:prstGeom>
        </p:spPr>
      </p:pic>
      <p:sp>
        <p:nvSpPr>
          <p:cNvPr id="7" name="riff-caption">
            <a:extLst xmlns:a="http://schemas.openxmlformats.org/drawingml/2006/main">
              <a:ext uri="{FF2B5EF4-FFF2-40B4-BE49-F238E27FC236}">
                <a16:creationId xmlns:a16="http://schemas.microsoft.com/office/drawing/2014/main" id="{1DEBA4D7-3A7B-4B87-AF13-515D22E2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219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LIVE GAMEPLAY  ·  SIMULATED CHAT  ·  LIVE AI COHOST</a:t>
            </a:r>
          </a:p>
        </p:txBody>
      </p:sp>
      <p:sp>
        <p:nvSpPr>
          <p:cNvPr id="8" name="afterplay-coral-mark">
            <a:extLst xmlns:a="http://schemas.openxmlformats.org/drawingml/2006/main">
              <a:ext uri="{FF2B5EF4-FFF2-40B4-BE49-F238E27FC236}">
                <a16:creationId xmlns:a16="http://schemas.microsoft.com/office/drawing/2014/main" id="{2D1C9576-741F-485C-A7B8-72E69B26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solidFill>
              <a:srgbClr val="FF6B57"/>
            </a:solidFill>
            <a:prstDash val="solid"/>
          </a:ln>
        </p:spPr>
      </p:sp>
      <p:sp>
        <p:nvSpPr>
          <p:cNvPr id="9" name="afterplay-wordmark">
            <a:extLst xmlns:a="http://schemas.openxmlformats.org/drawingml/2006/main">
              <a:ext uri="{FF2B5EF4-FFF2-40B4-BE49-F238E27FC236}">
                <a16:creationId xmlns:a16="http://schemas.microsoft.com/office/drawing/2014/main" id="{E56C68C6-E907-4659-AFB1-45C5B1D9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368"/>
                </a:solidFill>
              </a:defRPr>
            </a:pPr>
            <a:r>
              <a:rPr sz="1050" b="1">
                <a:solidFill>
                  <a:srgbClr val="5C6368"/>
                </a:solidFill>
              </a:rPr>
              <a:t>AFTERPLAY</a:t>
            </a:r>
          </a:p>
        </p:txBody>
      </p:sp>
    </p:spTree>
    <p:extLst>
      <p:ext uri="{BB962C8B-B14F-4D97-AF65-F5344CB8AC3E}">
        <p14:creationId xmlns:p14="http://schemas.microsoft.com/office/powerpoint/2010/main" val="10086169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BD18B91-CCD5-41F1-9471-60207602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36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F2E5922-2598-4C0D-8D7B-A7DBA121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4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>The path from hackathon build to category-defining product is concrete.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5F798061-F2DB-4353-812F-4008C193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4B2D9F29-2D3A-4D63-B680-160D4ED7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252807ED-AEE8-4849-A86D-52E5FD29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D1C534D6-91DA-441B-B91E-AF1C4693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53E31"/>
                </a:solidFill>
                <a:latin typeface="Helvetica Neue"/>
                <a:ea typeface="Helvetica Neue"/>
                <a:cs typeface="Helvetica Neue"/>
              </a:rPr>
              <a:t>NOW · V1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50448C8-1848-43B3-944E-A51F08D3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53E31"/>
                </a:solidFill>
                <a:latin typeface="Helvetica Neue"/>
                <a:ea typeface="Helvetica Neue"/>
                <a:cs typeface="Helvetica Neue"/>
              </a:rPr>
              <a:t>NEXT · 30 DAYS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3D2759BB-0B3F-4157-B77C-9A0E6FB2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53E31"/>
                </a:solidFill>
                <a:latin typeface="Helvetica Neue"/>
                <a:ea typeface="Helvetica Neue"/>
                <a:cs typeface="Helvetica Neue"/>
              </a:rPr>
              <a:t>THEN · 90 DAYS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1106759A-1FE5-4BE8-B02C-DFB36265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>Make it creator-ready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368"/>
                </a:solidFill>
                <a:latin typeface="Helvetica Neue"/>
                <a:ea typeface="Helvetica Neue"/>
                <a:cs typeface="Helvetica Neue"/>
              </a:rPr>
              <a:t>Durable accounts, platform connectors, replayable experiments, stronger observability.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746784B2-A36D-4CFB-A1F2-E7501D49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>Prove the loop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368"/>
                </a:solidFill>
                <a:latin typeface="Helvetica Neue"/>
                <a:ea typeface="Helvetica Neue"/>
                <a:cs typeface="Helvetica Neue"/>
              </a:rPr>
              <a:t>Real ingest, memory-aware clips, approval gates, labelled results.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04D55F2A-EC17-45C2-A707-60A11D67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>Move into live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368"/>
                </a:solidFill>
                <a:latin typeface="Helvetica Neue"/>
                <a:ea typeface="Helvetica Neue"/>
                <a:cs typeface="Helvetica Neue"/>
              </a:rPr>
              <a:t>Riff cohosts approved formats and closes the signal-to-action delay.</a:t>
            </a:r>
          </a:p>
        </p:txBody>
      </p:sp>
      <p:sp>
        <p:nvSpPr>
          <p:cNvPr id="13" name="afterplay-accent-rule">
            <a:extLst xmlns:a="http://schemas.openxmlformats.org/drawingml/2006/main">
              <a:ext uri="{FF2B5EF4-FFF2-40B4-BE49-F238E27FC236}">
                <a16:creationId xmlns:a16="http://schemas.microsoft.com/office/drawing/2014/main" id="{A448B456-A02C-433C-B6F8-9EE03BB1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73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solidFill>
              <a:srgbClr val="FF6B57"/>
            </a:solidFill>
            <a:prstDash val="solid"/>
          </a:ln>
        </p:spPr>
      </p:sp>
      <p:sp>
        <p:nvSpPr>
          <p:cNvPr id="14" name="afterplay-coral-mark">
            <a:extLst xmlns:a="http://schemas.openxmlformats.org/drawingml/2006/main">
              <a:ext uri="{FF2B5EF4-FFF2-40B4-BE49-F238E27FC236}">
                <a16:creationId xmlns:a16="http://schemas.microsoft.com/office/drawing/2014/main" id="{9117430C-E432-4DA0-A092-FB1F5DE7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solidFill>
              <a:srgbClr val="FF6B57"/>
            </a:solidFill>
            <a:prstDash val="solid"/>
          </a:ln>
        </p:spPr>
      </p:sp>
      <p:sp>
        <p:nvSpPr>
          <p:cNvPr id="15" name="afterplay-wordmark">
            <a:extLst xmlns:a="http://schemas.openxmlformats.org/drawingml/2006/main">
              <a:ext uri="{FF2B5EF4-FFF2-40B4-BE49-F238E27FC236}">
                <a16:creationId xmlns:a16="http://schemas.microsoft.com/office/drawing/2014/main" id="{276DD411-FF77-4F85-B532-27BD49BB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368"/>
                </a:solidFill>
              </a:defRPr>
            </a:pPr>
            <a:r>
              <a:rPr sz="1050" b="1">
                <a:solidFill>
                  <a:srgbClr val="5C6368"/>
                </a:solidFill>
              </a:rPr>
              <a:t>AFTERPLAY</a:t>
            </a:r>
          </a:p>
        </p:txBody>
      </p:sp>
    </p:spTree>
    <p:extLst>
      <p:ext uri="{BB962C8B-B14F-4D97-AF65-F5344CB8AC3E}">
        <p14:creationId xmlns:p14="http://schemas.microsoft.com/office/powerpoint/2010/main" val="14419851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6FB5430A-D9E9-4124-8B45-07AB18F3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>Turn every stream into the reason viewers return.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AC10792-71ED-49EE-AC66-1F7FA5A7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>Built now.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B0D0E"/>
                </a:solidFill>
                <a:latin typeface="Helvetica Neue"/>
                <a:ea typeface="Helvetica Neue"/>
                <a:cs typeface="Helvetica Neue"/>
              </a:rPr>
              <a:t>Compounds next.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368"/>
                </a:solidFill>
                <a:latin typeface="Helvetica Neue"/>
                <a:ea typeface="Helvetica Neue"/>
                <a:cs typeface="Helvetica Neue"/>
              </a:rPr>
              <a:t>Garena AI Build Challenge 2026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550C23D-8DD2-4A05-BD5D-4D909CB5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53E31"/>
                </a:solidFill>
                <a:latin typeface="Helvetica Neue"/>
                <a:ea typeface="Helvetica Neue"/>
                <a:cs typeface="Helvetica Neue"/>
              </a:rPr>
              <a:t>AFTERPLAY</a:t>
            </a:r>
          </a:p>
        </p:txBody>
      </p:sp>
      <p:sp>
        <p:nvSpPr>
          <p:cNvPr id="4" name="closing-accent">
            <a:extLst xmlns:a="http://schemas.openxmlformats.org/drawingml/2006/main">
              <a:ext uri="{FF2B5EF4-FFF2-40B4-BE49-F238E27FC236}">
                <a16:creationId xmlns:a16="http://schemas.microsoft.com/office/drawing/2014/main" id="{EE8C7D2A-3646-41AE-A231-E490806D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solidFill>
              <a:srgbClr val="FF6B5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22124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2026-08-09T15:22:22.9380000Z</dcterms:created>
  <dcterms:modified xsi:type="dcterms:W3CDTF">2026-08-09T15:22:22.9380000Z</dcterms:modified>
</coreProperties>
</file>