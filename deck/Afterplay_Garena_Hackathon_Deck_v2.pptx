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e2d612bb5b44e4" /><Relationship Type="http://schemas.openxmlformats.org/officeDocument/2006/relationships/extended-properties" Target="/docProps/app.xml" Id="R76192c3c31934079" /><Relationship Type="http://schemas.openxmlformats.org/officeDocument/2006/relationships/officeDocument" Target="/ppt/presentation.xml" Id="R58a637e97fac4943" /></Relationships>
</file>

<file path=ppt/presentation.xml><?xml version="1.0" encoding="utf-8"?>
<p:presentation xmlns:p="http://schemas.openxmlformats.org/presentationml/2006/main">
  <p:sldMasterIdLst>
    <p:sldMasterId xmlns:r="http://schemas.openxmlformats.org/officeDocument/2006/relationships" id="2147483648" r:id="R9b14e25fc3644514"/>
  </p:sldMasterIdLst>
  <p:notesMasterIdLst>
    <p:notesMasterId xmlns:r="http://schemas.openxmlformats.org/officeDocument/2006/relationships" r:id="R3ddad27b816a4b57"/>
  </p:notesMasterIdLst>
  <p:sldIdLst>
    <p:sldId xmlns:r="http://schemas.openxmlformats.org/officeDocument/2006/relationships" id="256" r:id="R61e6f6e40461458c"/>
    <p:sldId xmlns:r="http://schemas.openxmlformats.org/officeDocument/2006/relationships" id="257" r:id="Rf3726ed512344d62"/>
    <p:sldId xmlns:r="http://schemas.openxmlformats.org/officeDocument/2006/relationships" id="258" r:id="R812544f2d443488a"/>
    <p:sldId xmlns:r="http://schemas.openxmlformats.org/officeDocument/2006/relationships" id="259" r:id="Rcb9420c90452431c"/>
    <p:sldId xmlns:r="http://schemas.openxmlformats.org/officeDocument/2006/relationships" id="260" r:id="Rd81dc4a01c1c4361"/>
    <p:sldId xmlns:r="http://schemas.openxmlformats.org/officeDocument/2006/relationships" id="261" r:id="Rdff42b9087ae48d5"/>
    <p:sldId xmlns:r="http://schemas.openxmlformats.org/officeDocument/2006/relationships" id="262" r:id="R33464850f4d54ec8"/>
    <p:sldId xmlns:r="http://schemas.openxmlformats.org/officeDocument/2006/relationships" id="263" r:id="R5f7ecf2ddc84470d"/>
    <p:sldId xmlns:r="http://schemas.openxmlformats.org/officeDocument/2006/relationships" id="264" r:id="Rf3138de76c9441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6166c11570488e" /><Relationship Type="http://schemas.openxmlformats.org/officeDocument/2006/relationships/slideMaster" Target="/ppt/slideMasters/slideMaster1.xml" Id="R9b14e25fc3644514" /><Relationship Type="http://schemas.openxmlformats.org/officeDocument/2006/relationships/notesMaster" Target="/ppt/notesMasters/notesMaster1.xml" Id="R3ddad27b816a4b57" /><Relationship Type="http://schemas.openxmlformats.org/officeDocument/2006/relationships/presProps" Target="/ppt/presProps.xml" Id="R0b76dbf2bb014e01" /><Relationship Type="http://schemas.openxmlformats.org/officeDocument/2006/relationships/tableStyles" Target="/ppt/tableStyles.xml" Id="Ra6a2b7d8e3584c1d" /><Relationship Type="http://schemas.openxmlformats.org/officeDocument/2006/relationships/slide" Target="/ppt/slides/slide1.xml" Id="R61e6f6e40461458c" /><Relationship Type="http://schemas.openxmlformats.org/officeDocument/2006/relationships/slide" Target="/ppt/slides/slide2.xml" Id="Rf3726ed512344d62" /><Relationship Type="http://schemas.openxmlformats.org/officeDocument/2006/relationships/slide" Target="/ppt/slides/slide3.xml" Id="R812544f2d443488a" /><Relationship Type="http://schemas.openxmlformats.org/officeDocument/2006/relationships/slide" Target="/ppt/slides/slide4.xml" Id="Rcb9420c90452431c" /><Relationship Type="http://schemas.openxmlformats.org/officeDocument/2006/relationships/slide" Target="/ppt/slides/slide5.xml" Id="Rd81dc4a01c1c4361" /><Relationship Type="http://schemas.openxmlformats.org/officeDocument/2006/relationships/slide" Target="/ppt/slides/slide6.xml" Id="Rdff42b9087ae48d5" /><Relationship Type="http://schemas.openxmlformats.org/officeDocument/2006/relationships/slide" Target="/ppt/slides/slide7.xml" Id="R33464850f4d54ec8" /><Relationship Type="http://schemas.openxmlformats.org/officeDocument/2006/relationships/slide" Target="/ppt/slides/slide8.xml" Id="R5f7ecf2ddc84470d" /><Relationship Type="http://schemas.openxmlformats.org/officeDocument/2006/relationships/slide" Target="/ppt/slides/slide9.xml" Id="Rf3138de76c9441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839e9b96104a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d8b0bce4834d42" /><Relationship Type="http://schemas.openxmlformats.org/officeDocument/2006/relationships/notesMaster" Target="/ppt/notesMasters/notesMaster1.xml" Id="R84a35fb5962f4f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66520bd1ed4d78" /><Relationship Type="http://schemas.openxmlformats.org/officeDocument/2006/relationships/notesMaster" Target="/ppt/notesMasters/notesMaster1.xml" Id="Rfed843074d6f4a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b034058e894f4b" /><Relationship Type="http://schemas.openxmlformats.org/officeDocument/2006/relationships/notesMaster" Target="/ppt/notesMasters/notesMaster1.xml" Id="R55f61b9cb3f547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a382c3c7324314" /><Relationship Type="http://schemas.openxmlformats.org/officeDocument/2006/relationships/notesMaster" Target="/ppt/notesMasters/notesMaster1.xml" Id="R8b8aa808234e42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34c696d5da4fb0" /><Relationship Type="http://schemas.openxmlformats.org/officeDocument/2006/relationships/notesMaster" Target="/ppt/notesMasters/notesMaster1.xml" Id="R3b5424fd87624a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81973da8ec4eaa" /><Relationship Type="http://schemas.openxmlformats.org/officeDocument/2006/relationships/notesMaster" Target="/ppt/notesMasters/notesMaster1.xml" Id="Rcba7590bef9949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c1c04ba0f1402f" /><Relationship Type="http://schemas.openxmlformats.org/officeDocument/2006/relationships/notesMaster" Target="/ppt/notesMasters/notesMaster1.xml" Id="Re44bd4e1787c48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7c4fa608f4e05" /><Relationship Type="http://schemas.openxmlformats.org/officeDocument/2006/relationships/notesMaster" Target="/ppt/notesMasters/notesMaster1.xml" Id="R96a2c904b32940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2ca08727654b51" /><Relationship Type="http://schemas.openxmlformats.org/officeDocument/2006/relationships/notesMaster" Target="/ppt/notesMasters/notesMaster1.xml" Id="Rff2cf94f422f45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 helps gaming creators learn what makes viewers come back. It keeps a record of the channel, plans one clear test at a time, and uses the result to choose what happens next.</a:t>
            </a:r>
          </a:p>
          <a:p xmlns:a="http://schemas.openxmlformats.org/drawingml/2006/main">
            <a:r>
              <a:t/>
            </a:r>
          </a:p>
          <a:p xmlns:a="http://schemas.openxmlformats.org/drawingml/2006/main">
            <a:r>
              <a:t>[Sources]</a:t>
            </a:r>
          </a:p>
          <a:p xmlns:a="http://schemas.openxmlformats.org/drawingml/2006/main">
            <a:r>
              <a:t>- Project screenshot: deck/assets/screens/v1-latest/hq.png, origin/v1 commit 27f5cd1.</a:t>
            </a:r>
          </a:p>
          <a:p xmlns:a="http://schemas.openxmlformats.org/drawingml/2006/main">
            <a:r>
              <a:t>- Project README and product loop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creator can see every clip and chart and still lack a clear next move. The useful clues are split across footage, chat, comments, and analytics, so the next stream often depends on memory and guesswork.</a:t>
            </a:r>
          </a:p>
          <a:p xmlns:a="http://schemas.openxmlformats.org/drawingml/2006/main">
            <a:r>
              <a:t/>
            </a:r>
          </a:p>
          <a:p xmlns:a="http://schemas.openxmlformats.org/drawingml/2006/main">
            <a:r>
              <a:t>[Sources]</a:t>
            </a:r>
          </a:p>
          <a:p xmlns:a="http://schemas.openxmlformats.org/drawingml/2006/main">
            <a:r>
              <a:t>- Project problem framing and diagnosis loop: README.md on origin/v1 commit 27f5cd1.</a:t>
            </a:r>
          </a:p>
          <a:p xmlns:a="http://schemas.openxmlformats.org/drawingml/2006/main">
            <a:r>
              <a:t>- Project Memory and experiment domain code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supply is enormous, loyal audiences are hard to build, and creator revenue is already a large market. YouTube says viewers who return regularly are more likely to be recommended more videos from that channel. That is the behavior Afterplay targets.</a:t>
            </a:r>
          </a:p>
          <a:p xmlns:a="http://schemas.openxmlformats.org/drawingml/2006/main">
            <a:r>
              <a:t/>
            </a:r>
          </a:p>
          <a:p xmlns:a="http://schemas.openxmlformats.org/drawingml/2006/main">
            <a:r>
              <a:t>[Sources]</a:t>
            </a:r>
          </a:p>
          <a:p xmlns:a="http://schemas.openxmlformats.org/drawingml/2006/main">
            <a:r>
              <a:t>- YouTube Blog, 1 Dec 2022: https://blog.youtube/culture-and-trends/youtube-podcast-launch-like-and-describe/</a:t>
            </a:r>
          </a:p>
          <a:p xmlns:a="http://schemas.openxmlformats.org/drawingml/2006/main">
            <a:r>
              <a:t>- YouTube Help, current page: https://support.google.com/youtube/answer/10246996?hl=en</a:t>
            </a:r>
          </a:p>
          <a:p xmlns:a="http://schemas.openxmlformats.org/drawingml/2006/main">
            <a:r>
              <a:t>- IAB 2025 Creator Economy Ad Spend &amp; Strategy Report: https://www.iab.com/insights/2025-creator-economy-ad-spend-strategy-report/</a:t>
            </a:r>
          </a:p>
          <a:p xmlns:a="http://schemas.openxmlformats.org/drawingml/2006/main">
            <a:r>
              <a:t>- Goldman Sachs Research, 19 Apr 2023: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starts a real clipper job from the browser, reports its actual stages, and sends the output to Studio. The creator sees the clips, evidence, and copy before approving the current revision. Nothing is posted at this step.</a:t>
            </a:r>
          </a:p>
          <a:p xmlns:a="http://schemas.openxmlformats.org/drawingml/2006/main">
            <a:r>
              <a:t/>
            </a:r>
          </a:p>
          <a:p xmlns:a="http://schemas.openxmlformats.org/drawingml/2006/main">
            <a:r>
              <a:t>[Sources]</a:t>
            </a:r>
          </a:p>
          <a:p xmlns:a="http://schemas.openxmlformats.org/drawingml/2006/main">
            <a:r>
              <a:t>- Project screenshots: deck/assets/screens/v1-latest/ingest.png and studio.png.</a:t>
            </a:r>
          </a:p>
          <a:p xmlns:a="http://schemas.openxmlformats.org/drawingml/2006/main">
            <a:r>
              <a:t>- V1 commits 21eca20, 5563d23, and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finds a useful signal in the current stream and channel history. It turns that signal into one test for the creator to approve. After the test, it saves the result and recommends the next move.</a:t>
            </a:r>
          </a:p>
          <a:p xmlns:a="http://schemas.openxmlformats.org/drawingml/2006/main">
            <a:r>
              <a:t/>
            </a:r>
          </a:p>
          <a:p xmlns:a="http://schemas.openxmlformats.org/drawingml/2006/main">
            <a:r>
              <a:t>[Sources]</a:t>
            </a:r>
          </a:p>
          <a:p xmlns:a="http://schemas.openxmlformats.org/drawingml/2006/main">
            <a:r>
              <a:t>- Project loop and product behavior: README.md and src/domain on origin/v1 commit 27f5cd1.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 keeps the specific facts a creator would otherwise have to remember. V1 stores channel threads, exposes the selected creator across the workspace, and can scan adjacent channels without substituting a fake report when live data is unavailable.</a:t>
            </a:r>
          </a:p>
          <a:p xmlns:a="http://schemas.openxmlformats.org/drawingml/2006/main">
            <a:r>
              <a:t/>
            </a:r>
          </a:p>
          <a:p xmlns:a="http://schemas.openxmlformats.org/drawingml/2006/main">
            <a:r>
              <a:t>[Sources]</a:t>
            </a:r>
          </a:p>
          <a:p xmlns:a="http://schemas.openxmlformats.org/drawingml/2006/main">
            <a:r>
              <a:t>- Project screenshot: deck/assets/screens/v1-latest/intel.png, origin/v1 commit 27f5cd1.</a:t>
            </a:r>
          </a:p>
          <a:p xmlns:a="http://schemas.openxmlformats.org/drawingml/2006/main">
            <a:r>
              <a:t>- Competitive-intelligence implementation: src/domain/intel and docs/intel/INTELLIGENCE.md on origin/v1.</a:t>
            </a:r>
          </a:p>
          <a:p xmlns:a="http://schemas.openxmlformats.org/drawingml/2006/main">
            <a:r>
              <a:t>- Creator memory selection: src/domain/creators.ts and src/app/memory/page.tsx on origin/v1.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Riff is the live extension of Afterplay. The creator sets the personality, intensity, and experiment. Riff listens for the approved trigger and can surface chat setups or recurring bits during the stream.</a:t>
            </a:r>
          </a:p>
          <a:p xmlns:a="http://schemas.openxmlformats.org/drawingml/2006/main">
            <a:r>
              <a:t/>
            </a:r>
          </a:p>
          <a:p xmlns:a="http://schemas.openxmlformats.org/drawingml/2006/main">
            <a:r>
              <a:t>[Sources]</a:t>
            </a:r>
          </a:p>
          <a:p xmlns:a="http://schemas.openxmlformats.org/drawingml/2006/main">
            <a:r>
              <a:t>- Project screenshot: deck/assets/screens/riff/live.png from the local Riff live prototype.</a:t>
            </a:r>
          </a:p>
          <a:p xmlns:a="http://schemas.openxmlformats.org/drawingml/2006/main">
            <a:r>
              <a:t>- Local implementation: src/app/live/page.tsx and src/components/riff-live-console.tsx.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already covers the full offline job. The next work is durability and platform connection. Riff follows once the creator can trust the stored history and approval rules.</a:t>
            </a:r>
          </a:p>
          <a:p xmlns:a="http://schemas.openxmlformats.org/drawingml/2006/main">
            <a:r>
              <a:t/>
            </a:r>
          </a:p>
          <a:p xmlns:a="http://schemas.openxmlformats.org/drawingml/2006/main">
            <a:r>
              <a:t>[Sources]</a:t>
            </a:r>
          </a:p>
          <a:p xmlns:a="http://schemas.openxmlformats.org/drawingml/2006/main">
            <a:r>
              <a:t>- Current-state evidence: origin/v1 commit 27f5cd1 and local Riff prototype.</a:t>
            </a:r>
          </a:p>
          <a:p xmlns:a="http://schemas.openxmlformats.org/drawingml/2006/main">
            <a:r>
              <a:t>- Roadmap language is the project team's forward plan;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Afterplay's promise is straightforward: remember the channel, run one approved test, and use the result to choose the next move.</a:t>
            </a:r>
          </a:p>
          <a:p xmlns:a="http://schemas.openxmlformats.org/drawingml/2006/main">
            <a:r>
              <a:t/>
            </a:r>
          </a:p>
          <a:p xmlns:a="http://schemas.openxmlformats.org/drawingml/2006/main">
            <a:r>
              <a:t>[Sources]</a:t>
            </a:r>
          </a:p>
          <a:p xmlns:a="http://schemas.openxmlformats.org/drawingml/2006/main">
            <a:r>
              <a:t>- Project positioning and implementation evidence from origin/v1 commit 27f5cd1 and the local Riff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a1d7c37ba641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5b7f2e676d4dd9" /><Relationship Type="http://schemas.openxmlformats.org/officeDocument/2006/relationships/slideLayout" Target="/ppt/slideLayouts/slideLayout1.xml" Id="Re021db1f20b74d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21db1f20b74d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ccad295e4d4075" /><Relationship Type="http://schemas.openxmlformats.org/officeDocument/2006/relationships/image" Target="/ppt/media/image.png" Id="Rd7d4f48120774a57" /><Relationship Type="http://schemas.openxmlformats.org/officeDocument/2006/relationships/notesSlide" Target="/ppt/notesSlides/notesSlide1.xml" Id="R9dd8a8ddb8084d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04381d480c4bdf" /><Relationship Type="http://schemas.openxmlformats.org/officeDocument/2006/relationships/notesSlide" Target="/ppt/notesSlides/notesSlide2.xml" Id="Re10b8d8a43b747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bfc29babb14d21" /><Relationship Type="http://schemas.openxmlformats.org/officeDocument/2006/relationships/notesSlide" Target="/ppt/notesSlides/notesSlide3.xml" Id="R843e896f6e2041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d5fa315e974775" /><Relationship Type="http://schemas.openxmlformats.org/officeDocument/2006/relationships/image" Target="/ppt/media/image2.png" Id="R2ebca5a67898419d" /><Relationship Type="http://schemas.openxmlformats.org/officeDocument/2006/relationships/image" Target="/ppt/media/image3.png" Id="R6cb6e0806a764baf" /><Relationship Type="http://schemas.openxmlformats.org/officeDocument/2006/relationships/notesSlide" Target="/ppt/notesSlides/notesSlide4.xml" Id="R7043d40494a64a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341ae71c6247f3" /><Relationship Type="http://schemas.openxmlformats.org/officeDocument/2006/relationships/notesSlide" Target="/ppt/notesSlides/notesSlide5.xml" Id="R0993c630dc8a45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f58fd4a21d4db9" /><Relationship Type="http://schemas.openxmlformats.org/officeDocument/2006/relationships/image" Target="/ppt/media/image4.png" Id="Rec5dde3728634766" /><Relationship Type="http://schemas.openxmlformats.org/officeDocument/2006/relationships/notesSlide" Target="/ppt/notesSlides/notesSlide6.xml" Id="R7fbf06b8884a41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c3617fdfd0472b" /><Relationship Type="http://schemas.openxmlformats.org/officeDocument/2006/relationships/image" Target="/ppt/media/image5.png" Id="Rf25ea5f2b5954aa7" /><Relationship Type="http://schemas.openxmlformats.org/officeDocument/2006/relationships/notesSlide" Target="/ppt/notesSlides/notesSlide7.xml" Id="R8017bf900d424a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ffd71db9a44c96" /><Relationship Type="http://schemas.openxmlformats.org/officeDocument/2006/relationships/notesSlide" Target="/ppt/notesSlides/notesSlide8.xml" Id="R15bd5283c72a41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7fe4bc66934c4e" /><Relationship Type="http://schemas.openxmlformats.org/officeDocument/2006/relationships/notesSlide" Target="/ppt/notesSlides/notesSlide9.xml" Id="Re7dbcbafa97b489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F3726127-45F2-4BFF-98E4-A25417BC828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01</a:t>
            </a:r>
          </a:p>
        </p:txBody>
      </p:sp>
      <p:sp>
        <p:nvSpPr>
          <p:cNvPr id="2" name="Google-Shape-533-p58-3">
            <a:extLst xmlns:a="http://schemas.openxmlformats.org/drawingml/2006/main">
              <a:ext uri="{FF2B5EF4-FFF2-40B4-BE49-F238E27FC236}">
                <a16:creationId xmlns:a16="http://schemas.microsoft.com/office/drawing/2014/main" id="{E9C86832-51A6-4618-B46F-DC4507B66D9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900">
                <a:solidFill>
                  <a:srgbClr val="000000"/>
                </a:solidFill>
                <a:latin typeface="Helvetica Neue"/>
                <a:ea typeface="Helvetica Neue"/>
                <a:cs typeface="Helvetica Neue"/>
              </a:defRPr>
            </a:pPr>
            <a:r>
              <a:rPr sz="1500" b="1">
                <a:solidFill>
                  <a:srgbClr val="B53E31"/>
                </a:solidFill>
                <a:latin typeface="Helvetica Neue"/>
                <a:ea typeface="Helvetica Neue"/>
                <a:cs typeface="Helvetica Neue"/>
              </a:rPr>
              <a:t>GARENA AI BUILD CHALLENGE · 2026</a:t>
            </a:r>
          </a:p>
        </p:txBody>
      </p:sp>
      <p:sp>
        <p:nvSpPr>
          <p:cNvPr id="3" name="Picture-3-4-backing">
            <a:extLst xmlns:a="http://schemas.openxmlformats.org/drawingml/2006/main">
              <a:ext uri="{FF2B5EF4-FFF2-40B4-BE49-F238E27FC236}">
                <a16:creationId xmlns:a16="http://schemas.microsoft.com/office/drawing/2014/main" id="{EB8548ED-7C1C-4F06-B974-C2693D6ECABC}"/>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59118DD6-B88B-4C0D-A7B7-014E7F9CB7B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Bef>
                <a:spcPts val="0"/>
              </a:spcBef>
              <a:spcAft>
                <a:spcPts val="1800"/>
              </a:spcAft>
              <a:buNone/>
              <a:defRPr sz="2400">
                <a:solidFill>
                  <a:srgbClr val="000000"/>
                </a:solidFill>
                <a:latin typeface="Helvetica Neue"/>
                <a:ea typeface="Helvetica Neue"/>
                <a:cs typeface="Helvetica Neue"/>
              </a:defRPr>
            </a:pPr>
            <a:r>
              <a:rPr sz="5700" b="1">
                <a:solidFill>
                  <a:srgbClr val="0B0D0E"/>
                </a:solidFill>
                <a:latin typeface="Helvetica Neue"/>
                <a:ea typeface="Helvetica Neue"/>
                <a:cs typeface="Helvetica Neue"/>
              </a:rPr>
              <a:t>Afterplay</a:t>
            </a:r>
          </a:p>
          <a:p xmlns:a="http://schemas.openxmlformats.org/drawingml/2006/main">
            <a:pPr algn="l">
              <a:lnSpc>
                <a:spcPct val="112000"/>
              </a:lnSpc>
              <a:spcBef>
                <a:spcPts val="0"/>
              </a:spcBef>
              <a:spcAft>
                <a:spcPts val="0"/>
              </a:spcAft>
              <a:buNone/>
              <a:defRPr sz="2400">
                <a:solidFill>
                  <a:srgbClr val="000000"/>
                </a:solidFill>
                <a:latin typeface="Helvetica Neue"/>
                <a:ea typeface="Helvetica Neue"/>
                <a:cs typeface="Helvetica Neue"/>
              </a:defRPr>
            </a:pPr>
            <a:r>
              <a:rPr sz="2100" b="0">
                <a:solidFill>
                  <a:srgbClr val="5C6368"/>
                </a:solidFill>
                <a:latin typeface="Helvetica Neue"/>
                <a:ea typeface="Helvetica Neue"/>
                <a:cs typeface="Helvetica Neue"/>
              </a:rPr>
              <a:t>Afterplay remembers what made viewers come back, then plans one clear test for the next stream.</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7d4f48120774a57"/>
          <a:srcRect xmlns:a="http://schemas.openxmlformats.org/drawingml/2006/main" l="10548" t="0" r="10548"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
        <p:nvSpPr>
          <p:cNvPr id="7" name="cover-built-label">
            <a:extLst xmlns:a="http://schemas.openxmlformats.org/drawingml/2006/main">
              <a:ext uri="{FF2B5EF4-FFF2-40B4-BE49-F238E27FC236}">
                <a16:creationId xmlns:a16="http://schemas.microsoft.com/office/drawing/2014/main" id="{22EA5084-C7D3-40FD-8C8E-519D48BA6F20}"/>
              </a:ext>
            </a:extLst>
          </p:cNvPr>
          <p:cNvSpPr>
            <a:spLocks xmlns:a="http://schemas.openxmlformats.org/drawingml/2006/main" noGrp="1"/>
          </p:cNvSpPr>
          <p:nvPr/>
        </p:nvSpPr>
        <p:spPr>
          <a:xfrm xmlns:a="http://schemas.openxmlformats.org/drawingml/2006/main">
            <a:off x="393668" y="54292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53E31"/>
                </a:solidFill>
              </a:defRPr>
            </a:pPr>
            <a:r>
              <a:rPr sz="1350" b="1">
                <a:solidFill>
                  <a:srgbClr val="B53E31"/>
                </a:solidFill>
              </a:rPr>
              <a:t>REMEMBER  ·  TEST  ·  LEARN</a:t>
            </a:r>
          </a:p>
        </p:txBody>
      </p:sp>
    </p:spTree>
    <p:extLst>
      <p:ext uri="{BB962C8B-B14F-4D97-AF65-F5344CB8AC3E}">
        <p14:creationId xmlns:p14="http://schemas.microsoft.com/office/powerpoint/2010/main" val="15579112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oogle-Shape-532-p58-2">
            <a:extLst xmlns:a="http://schemas.openxmlformats.org/drawingml/2006/main">
              <a:ext uri="{FF2B5EF4-FFF2-40B4-BE49-F238E27FC236}">
                <a16:creationId xmlns:a16="http://schemas.microsoft.com/office/drawing/2014/main" id="{5CA5E1C6-45C1-4C4F-ACDD-8D33259BD59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02</a:t>
            </a:r>
          </a:p>
        </p:txBody>
      </p:sp>
      <p:sp>
        <p:nvSpPr>
          <p:cNvPr id="2" name="Google-Shape-533-p58-3">
            <a:extLst xmlns:a="http://schemas.openxmlformats.org/drawingml/2006/main">
              <a:ext uri="{FF2B5EF4-FFF2-40B4-BE49-F238E27FC236}">
                <a16:creationId xmlns:a16="http://schemas.microsoft.com/office/drawing/2014/main" id="{ABDB364F-694B-48DD-B88A-431B9AF6F30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Creators can see what happened. They still have to guess what to do next.</a:t>
            </a:r>
          </a:p>
        </p:txBody>
      </p:sp>
      <p:sp>
        <p:nvSpPr>
          <p:cNvPr id="3" name="Google-Shape-534-p58-4">
            <a:extLst xmlns:a="http://schemas.openxmlformats.org/drawingml/2006/main">
              <a:ext uri="{FF2B5EF4-FFF2-40B4-BE49-F238E27FC236}">
                <a16:creationId xmlns:a16="http://schemas.microsoft.com/office/drawing/2014/main" id="{FCC22929-6F3A-4706-A409-A3D570C82AAD}"/>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400" b="1">
                <a:solidFill>
                  <a:srgbClr val="0B0D0E"/>
                </a:solidFill>
                <a:latin typeface="Helvetica Neue"/>
                <a:ea typeface="Helvetica Neue"/>
                <a:cs typeface="Helvetica Neue"/>
              </a:rPr>
              <a:t>What the tools show</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replay, clips, comments, and charts. Each lives in a different place.</a:t>
            </a:r>
          </a:p>
        </p:txBody>
      </p:sp>
      <p:sp>
        <p:nvSpPr>
          <p:cNvPr id="4" name="Content-Placeholder-3-5">
            <a:extLst xmlns:a="http://schemas.openxmlformats.org/drawingml/2006/main">
              <a:ext uri="{FF2B5EF4-FFF2-40B4-BE49-F238E27FC236}">
                <a16:creationId xmlns:a16="http://schemas.microsoft.com/office/drawing/2014/main" id="{3966253E-1328-413F-8DF2-40AADC61AD98}"/>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400" b="1">
                <a:solidFill>
                  <a:srgbClr val="0B0D0E"/>
                </a:solidFill>
                <a:latin typeface="Helvetica Neue"/>
                <a:ea typeface="Helvetica Neue"/>
                <a:cs typeface="Helvetica Neue"/>
              </a:rPr>
              <a:t>What the next stream needs</a:t>
            </a:r>
          </a:p>
          <a:p xmlns:a="http://schemas.openxmlformats.org/drawingml/2006/main">
            <a:pPr algn="l">
              <a:lnSpc>
                <a:spcPct val="116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Why did viewers care? What should carry into the next stream? Which idea is worth testing?</a:t>
            </a:r>
          </a:p>
        </p:txBody>
      </p:sp>
      <p:sp>
        <p:nvSpPr>
          <p:cNvPr id="5" name="afterplay-accent-rule">
            <a:extLst xmlns:a="http://schemas.openxmlformats.org/drawingml/2006/main">
              <a:ext uri="{FF2B5EF4-FFF2-40B4-BE49-F238E27FC236}">
                <a16:creationId xmlns:a16="http://schemas.microsoft.com/office/drawing/2014/main" id="{50637DAD-718E-4CBD-AA1E-AC6E8864DA13}"/>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6" name="afterplay-coral-mark">
            <a:extLst xmlns:a="http://schemas.openxmlformats.org/drawingml/2006/main">
              <a:ext uri="{FF2B5EF4-FFF2-40B4-BE49-F238E27FC236}">
                <a16:creationId xmlns:a16="http://schemas.microsoft.com/office/drawing/2014/main" id="{BB07B68C-3CB7-40C2-8BD9-5F2D0E68447A}"/>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7" name="afterplay-wordmark">
            <a:extLst xmlns:a="http://schemas.openxmlformats.org/drawingml/2006/main">
              <a:ext uri="{FF2B5EF4-FFF2-40B4-BE49-F238E27FC236}">
                <a16:creationId xmlns:a16="http://schemas.microsoft.com/office/drawing/2014/main" id="{39DB7E0B-704A-4773-9B48-99FF679EB839}"/>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8419153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Number-Placeholder-1-2">
            <a:extLst xmlns:a="http://schemas.openxmlformats.org/drawingml/2006/main">
              <a:ext uri="{FF2B5EF4-FFF2-40B4-BE49-F238E27FC236}">
                <a16:creationId xmlns:a16="http://schemas.microsoft.com/office/drawing/2014/main" id="{C9FAFABC-943F-477E-A996-3D3884AF87C8}"/>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03</a:t>
            </a:r>
          </a:p>
        </p:txBody>
      </p:sp>
      <p:sp>
        <p:nvSpPr>
          <p:cNvPr id="2" name="Title-2-3">
            <a:extLst xmlns:a="http://schemas.openxmlformats.org/drawingml/2006/main">
              <a:ext uri="{FF2B5EF4-FFF2-40B4-BE49-F238E27FC236}">
                <a16:creationId xmlns:a16="http://schemas.microsoft.com/office/drawing/2014/main" id="{05919C4F-A438-420F-BF33-8F76E723483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99437"/>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The creator market is large. Attention and loyalty are scarce.</a:t>
            </a:r>
          </a:p>
        </p:txBody>
      </p:sp>
      <p:sp>
        <p:nvSpPr>
          <p:cNvPr id="3" name="Content-Placeholder-9-4">
            <a:extLst xmlns:a="http://schemas.openxmlformats.org/drawingml/2006/main">
              <a:ext uri="{FF2B5EF4-FFF2-40B4-BE49-F238E27FC236}">
                <a16:creationId xmlns:a16="http://schemas.microsoft.com/office/drawing/2014/main" id="{901617FF-52A9-452F-9AD2-067D3DC92279}"/>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500 hrs/min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of new video is uploaded to YouTube.</a:t>
            </a:r>
          </a:p>
        </p:txBody>
      </p:sp>
      <p:sp>
        <p:nvSpPr>
          <p:cNvPr id="4" name="Content-Placeholder-10-5">
            <a:extLst xmlns:a="http://schemas.openxmlformats.org/drawingml/2006/main">
              <a:ext uri="{FF2B5EF4-FFF2-40B4-BE49-F238E27FC236}">
                <a16:creationId xmlns:a16="http://schemas.microsoft.com/office/drawing/2014/main" id="{F8330DD6-4095-43BD-B226-BA142E323CF6}"/>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&lt;1%</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regular viewers can make up less than 1% of viewers on newer or Shorts-heavy channels.</a:t>
            </a:r>
          </a:p>
        </p:txBody>
      </p:sp>
      <p:sp>
        <p:nvSpPr>
          <p:cNvPr id="5" name="Content-Placeholder-9-6">
            <a:extLst xmlns:a="http://schemas.openxmlformats.org/drawingml/2006/main">
              <a:ext uri="{FF2B5EF4-FFF2-40B4-BE49-F238E27FC236}">
                <a16:creationId xmlns:a16="http://schemas.microsoft.com/office/drawing/2014/main" id="{C07AC2BC-FFBD-47D7-9832-35CC252450D1}"/>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$44B</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projected U.S. creator ad spend in 2026.</a:t>
            </a:r>
          </a:p>
        </p:txBody>
      </p:sp>
      <p:sp>
        <p:nvSpPr>
          <p:cNvPr id="6" name="Content-Placeholder-10-7">
            <a:extLst xmlns:a="http://schemas.openxmlformats.org/drawingml/2006/main">
              <a:ext uri="{FF2B5EF4-FFF2-40B4-BE49-F238E27FC236}">
                <a16:creationId xmlns:a16="http://schemas.microsoft.com/office/drawing/2014/main" id="{1DD80551-BCA1-45EA-8BB5-1AA1E7704E9A}"/>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800"/>
              </a:spcAft>
              <a:buNone/>
              <a:defRPr sz="2400">
                <a:solidFill>
                  <a:srgbClr val="000000"/>
                </a:solidFill>
                <a:latin typeface="Helvetica Neue"/>
                <a:ea typeface="Helvetica Neue"/>
                <a:cs typeface="Helvetica Neue"/>
              </a:defRPr>
            </a:pPr>
            <a:r>
              <a:rPr sz="3000" b="1">
                <a:solidFill>
                  <a:srgbClr val="B53E31"/>
                </a:solidFill>
                <a:latin typeface="Helvetica Neue"/>
                <a:ea typeface="Helvetica Neue"/>
                <a:cs typeface="Helvetica Neue"/>
              </a:rPr>
              <a:t>~4%</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of global creators earn more than $100,000 a year.</a:t>
            </a:r>
          </a:p>
        </p:txBody>
      </p:sp>
      <p:sp>
        <p:nvSpPr>
          <p:cNvPr id="7" name="afterplay-accent-rule">
            <a:extLst xmlns:a="http://schemas.openxmlformats.org/drawingml/2006/main">
              <a:ext uri="{FF2B5EF4-FFF2-40B4-BE49-F238E27FC236}">
                <a16:creationId xmlns:a16="http://schemas.microsoft.com/office/drawing/2014/main" id="{7F54DEF8-5AB4-49AB-A22C-23A7EFD45B3D}"/>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8" name="evidence-source-footer">
            <a:extLst xmlns:a="http://schemas.openxmlformats.org/drawingml/2006/main">
              <a:ext uri="{FF2B5EF4-FFF2-40B4-BE49-F238E27FC236}">
                <a16:creationId xmlns:a16="http://schemas.microsoft.com/office/drawing/2014/main" id="{D4349321-A81B-46BD-98A0-BD863A2E060D}"/>
              </a:ext>
            </a:extLst>
          </p:cNvPr>
          <p:cNvSpPr>
            <a:spLocks xmlns:a="http://schemas.openxmlformats.org/drawingml/2006/main" noGrp="1"/>
          </p:cNvSpPr>
          <p:nvPr/>
        </p:nvSpPr>
        <p:spPr>
          <a:xfrm xmlns:a="http://schemas.openxmlformats.org/drawingml/2006/main">
            <a:off x="393668" y="58674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C6368"/>
                </a:solidFill>
              </a:defRPr>
            </a:pPr>
            <a:r>
              <a:rPr sz="975" b="0">
                <a:solidFill>
                  <a:srgbClr val="5C6368"/>
                </a:solidFill>
              </a:rPr>
              <a:t>Sources: YouTube Blog and Help · IAB 2025 Creator Economy Report · Goldman Sachs Research</a:t>
            </a:r>
          </a:p>
        </p:txBody>
      </p:sp>
      <p:sp>
        <p:nvSpPr>
          <p:cNvPr id="9" name="afterplay-coral-mark">
            <a:extLst xmlns:a="http://schemas.openxmlformats.org/drawingml/2006/main">
              <a:ext uri="{FF2B5EF4-FFF2-40B4-BE49-F238E27FC236}">
                <a16:creationId xmlns:a16="http://schemas.microsoft.com/office/drawing/2014/main" id="{3CA96C7C-586F-41F8-994C-E50FC6E00FC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444F8E6D-195D-4AAB-BCBC-24E36E038D54}"/>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0273834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DE11CE9C-2DD8-4521-8AB6-D70B4867F6B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04</a:t>
            </a:r>
          </a:p>
        </p:txBody>
      </p:sp>
      <p:sp>
        <p:nvSpPr>
          <p:cNvPr id="2" name="Google-Shape-533-p58-3">
            <a:extLst xmlns:a="http://schemas.openxmlformats.org/drawingml/2006/main">
              <a:ext uri="{FF2B5EF4-FFF2-40B4-BE49-F238E27FC236}">
                <a16:creationId xmlns:a16="http://schemas.microsoft.com/office/drawing/2014/main" id="{90F89E72-21C5-4E13-B65C-C2822D1F48F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A creator can go from stream URL to approved test in one workspace.</a:t>
            </a:r>
          </a:p>
        </p:txBody>
      </p:sp>
      <p:sp>
        <p:nvSpPr>
          <p:cNvPr id="3" name="Google-Shape-534-p58-4">
            <a:extLst xmlns:a="http://schemas.openxmlformats.org/drawingml/2006/main">
              <a:ext uri="{FF2B5EF4-FFF2-40B4-BE49-F238E27FC236}">
                <a16:creationId xmlns:a16="http://schemas.microsoft.com/office/drawing/2014/main" id="{6148BE4C-B737-4A49-AA5D-C378AABB277C}"/>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4" name="Content-Placeholder-3-5">
            <a:extLst xmlns:a="http://schemas.openxmlformats.org/drawingml/2006/main">
              <a:ext uri="{FF2B5EF4-FFF2-40B4-BE49-F238E27FC236}">
                <a16:creationId xmlns:a16="http://schemas.microsoft.com/office/drawing/2014/main" id="{39E53F34-E3C9-4024-A93B-2803FE4CC88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5" name="afterplay-accent-rule">
            <a:extLst xmlns:a="http://schemas.openxmlformats.org/drawingml/2006/main">
              <a:ext uri="{FF2B5EF4-FFF2-40B4-BE49-F238E27FC236}">
                <a16:creationId xmlns:a16="http://schemas.microsoft.com/office/drawing/2014/main" id="{C242A233-918E-4AED-83C9-391003DFD79F}"/>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ebca5a67898419d"/>
          <a:srcRect xmlns:a="http://schemas.openxmlformats.org/drawingml/2006/main" l="1048" t="0" r="1048" b="0"/>
          <a:stretch xmlns:a="http://schemas.openxmlformats.org/drawingml/2006/main">
            <a:fillRect l="0" t="0" r="0" b="0"/>
          </a:stretch>
        </p:blipFill>
        <p:spPr>
          <a:xfrm xmlns:a="http://schemas.openxmlformats.org/drawingml/2006/main">
            <a:off x="393668" y="2031968"/>
            <a:ext cx="5537168" cy="3534823"/>
          </a:xfrm>
          <a:prstGeom xmlns:a="http://schemas.openxmlformats.org/drawingml/2006/main" prst="roundRect">
            <a:avLst>
              <a:gd name="adj" fmla="val 3234"/>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cb6e0806a764baf"/>
          <a:srcRect xmlns:a="http://schemas.openxmlformats.org/drawingml/2006/main" l="0" t="10101" r="0" b="10101"/>
          <a:stretch xmlns:a="http://schemas.openxmlformats.org/drawingml/2006/main">
            <a:fillRect l="0" t="0" r="0" b="0"/>
          </a:stretch>
        </p:blipFill>
        <p:spPr>
          <a:xfrm xmlns:a="http://schemas.openxmlformats.org/drawingml/2006/main">
            <a:off x="6256592" y="2031968"/>
            <a:ext cx="5537168" cy="3534823"/>
          </a:xfrm>
          <a:prstGeom xmlns:a="http://schemas.openxmlformats.org/drawingml/2006/main" prst="roundRect">
            <a:avLst>
              <a:gd name="adj" fmla="val 3234"/>
            </a:avLst>
          </a:prstGeom>
        </p:spPr>
      </p:pic>
      <p:sp>
        <p:nvSpPr>
          <p:cNvPr id="8" name="ingest-caption">
            <a:extLst xmlns:a="http://schemas.openxmlformats.org/drawingml/2006/main">
              <a:ext uri="{FF2B5EF4-FFF2-40B4-BE49-F238E27FC236}">
                <a16:creationId xmlns:a16="http://schemas.microsoft.com/office/drawing/2014/main" id="{858AA5EF-7452-47E8-B2FF-ADA79A0D2AB3}"/>
              </a:ext>
            </a:extLst>
          </p:cNvPr>
          <p:cNvSpPr>
            <a:spLocks xmlns:a="http://schemas.openxmlformats.org/drawingml/2006/main" noGrp="1"/>
          </p:cNvSpPr>
          <p:nvPr/>
        </p:nvSpPr>
        <p:spPr>
          <a:xfrm xmlns:a="http://schemas.openxmlformats.org/drawingml/2006/main">
            <a:off x="581025" y="5219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1  INGEST THE STREAM AND REPORT REAL STAGES</a:t>
            </a:r>
          </a:p>
        </p:txBody>
      </p:sp>
      <p:sp>
        <p:nvSpPr>
          <p:cNvPr id="9" name="studio-caption">
            <a:extLst xmlns:a="http://schemas.openxmlformats.org/drawingml/2006/main">
              <a:ext uri="{FF2B5EF4-FFF2-40B4-BE49-F238E27FC236}">
                <a16:creationId xmlns:a16="http://schemas.microsoft.com/office/drawing/2014/main" id="{9C8B81E2-76C0-4376-B240-174B97F0A520}"/>
              </a:ext>
            </a:extLst>
          </p:cNvPr>
          <p:cNvSpPr>
            <a:spLocks xmlns:a="http://schemas.openxmlformats.org/drawingml/2006/main" noGrp="1"/>
          </p:cNvSpPr>
          <p:nvPr/>
        </p:nvSpPr>
        <p:spPr>
          <a:xfrm xmlns:a="http://schemas.openxmlformats.org/drawingml/2006/main">
            <a:off x="6448425" y="52197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2  REVIEW CLIPS, EVIDENCE, AND COPY BEFORE ACTION</a:t>
            </a:r>
          </a:p>
        </p:txBody>
      </p:sp>
      <p:sp>
        <p:nvSpPr>
          <p:cNvPr id="10" name="afterplay-coral-mark">
            <a:extLst xmlns:a="http://schemas.openxmlformats.org/drawingml/2006/main">
              <a:ext uri="{FF2B5EF4-FFF2-40B4-BE49-F238E27FC236}">
                <a16:creationId xmlns:a16="http://schemas.microsoft.com/office/drawing/2014/main" id="{38DFE6D1-DAA3-497B-ACC5-1E72956F238A}"/>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1" name="afterplay-wordmark">
            <a:extLst xmlns:a="http://schemas.openxmlformats.org/drawingml/2006/main">
              <a:ext uri="{FF2B5EF4-FFF2-40B4-BE49-F238E27FC236}">
                <a16:creationId xmlns:a16="http://schemas.microsoft.com/office/drawing/2014/main" id="{74B251F2-50DA-4920-801A-274DAEBBDA0C}"/>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7980863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ounded-Rectangle-5-1">
            <a:extLst xmlns:a="http://schemas.openxmlformats.org/drawingml/2006/main">
              <a:ext uri="{FF2B5EF4-FFF2-40B4-BE49-F238E27FC236}">
                <a16:creationId xmlns:a16="http://schemas.microsoft.com/office/drawing/2014/main" id="{AA68F9BF-4237-46D4-8389-4CC4050A2A72}"/>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97DBD756-1D66-4354-8D60-CD84A31A8702}"/>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4A09EAD6-8143-4335-A9E3-9887EC080E64}"/>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7ECB0BA-4BB9-480E-8491-FA778352ED5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05</a:t>
            </a:r>
          </a:p>
        </p:txBody>
      </p:sp>
      <p:sp>
        <p:nvSpPr>
          <p:cNvPr id="5" name="Title-2-5">
            <a:extLst xmlns:a="http://schemas.openxmlformats.org/drawingml/2006/main">
              <a:ext uri="{FF2B5EF4-FFF2-40B4-BE49-F238E27FC236}">
                <a16:creationId xmlns:a16="http://schemas.microsoft.com/office/drawing/2014/main" id="{599F0DD2-1B4A-4B29-9EF9-A60B5AB8225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Find a signal. Try one change. Learn.</a:t>
            </a:r>
          </a:p>
        </p:txBody>
      </p:sp>
      <p:sp>
        <p:nvSpPr>
          <p:cNvPr id="6" name="Content-Placeholder-9-6">
            <a:extLst xmlns:a="http://schemas.openxmlformats.org/drawingml/2006/main">
              <a:ext uri="{FF2B5EF4-FFF2-40B4-BE49-F238E27FC236}">
                <a16:creationId xmlns:a16="http://schemas.microsoft.com/office/drawing/2014/main" id="{5AEBE563-FDA7-4F5B-BC71-EBFA2B2A563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a callback viewers repeated in chat</a:t>
            </a:r>
          </a:p>
        </p:txBody>
      </p:sp>
      <p:sp>
        <p:nvSpPr>
          <p:cNvPr id="7" name="Content-Placeholder-10-7">
            <a:extLst xmlns:a="http://schemas.openxmlformats.org/drawingml/2006/main">
              <a:ext uri="{FF2B5EF4-FFF2-40B4-BE49-F238E27FC236}">
                <a16:creationId xmlns:a16="http://schemas.microsoft.com/office/drawing/2014/main" id="{296EFDC8-1D25-4A23-9559-A273DF5D48C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did more viewers come back or stay longer?</a:t>
            </a:r>
          </a:p>
        </p:txBody>
      </p:sp>
      <p:sp>
        <p:nvSpPr>
          <p:cNvPr id="8" name="Content-Placeholder-11-8">
            <a:extLst xmlns:a="http://schemas.openxmlformats.org/drawingml/2006/main">
              <a:ext uri="{FF2B5EF4-FFF2-40B4-BE49-F238E27FC236}">
                <a16:creationId xmlns:a16="http://schemas.microsoft.com/office/drawing/2014/main" id="{A1847440-4384-4ED5-A53D-86D7ECD01A3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open the next stream with that callback</a:t>
            </a:r>
          </a:p>
        </p:txBody>
      </p:sp>
      <p:sp>
        <p:nvSpPr>
          <p:cNvPr id="9" name="Content-Placeholder-9-9">
            <a:extLst xmlns:a="http://schemas.openxmlformats.org/drawingml/2006/main">
              <a:ext uri="{FF2B5EF4-FFF2-40B4-BE49-F238E27FC236}">
                <a16:creationId xmlns:a16="http://schemas.microsoft.com/office/drawing/2014/main" id="{AE14C4A8-2EDE-4434-B9ED-78930904CB39}"/>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FIND</a:t>
            </a:r>
          </a:p>
        </p:txBody>
      </p:sp>
      <p:sp>
        <p:nvSpPr>
          <p:cNvPr id="10" name="Content-Placeholder-9-10">
            <a:extLst xmlns:a="http://schemas.openxmlformats.org/drawingml/2006/main">
              <a:ext uri="{FF2B5EF4-FFF2-40B4-BE49-F238E27FC236}">
                <a16:creationId xmlns:a16="http://schemas.microsoft.com/office/drawing/2014/main" id="{3654227F-1285-464B-B8B3-EBD210AD121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TRY</a:t>
            </a:r>
          </a:p>
        </p:txBody>
      </p:sp>
      <p:sp>
        <p:nvSpPr>
          <p:cNvPr id="11" name="Content-Placeholder-9-11">
            <a:extLst xmlns:a="http://schemas.openxmlformats.org/drawingml/2006/main">
              <a:ext uri="{FF2B5EF4-FFF2-40B4-BE49-F238E27FC236}">
                <a16:creationId xmlns:a16="http://schemas.microsoft.com/office/drawing/2014/main" id="{A82545B2-5A98-41D5-932C-6AE74A6BFBE4}"/>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4050" b="1">
                <a:solidFill>
                  <a:srgbClr val="0B0D0E"/>
                </a:solidFill>
                <a:latin typeface="Helvetica Neue"/>
                <a:ea typeface="Helvetica Neue"/>
                <a:cs typeface="Helvetica Neue"/>
              </a:rPr>
              <a:t>LEARN</a:t>
            </a:r>
          </a:p>
        </p:txBody>
      </p:sp>
      <p:sp>
        <p:nvSpPr>
          <p:cNvPr id="12" name="Content-Placeholder-15-12">
            <a:extLst xmlns:a="http://schemas.openxmlformats.org/drawingml/2006/main">
              <a:ext uri="{FF2B5EF4-FFF2-40B4-BE49-F238E27FC236}">
                <a16:creationId xmlns:a16="http://schemas.microsoft.com/office/drawing/2014/main" id="{D37A0754-301F-4798-A972-EB4A1987DF7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1600">
                <a:solidFill>
                  <a:srgbClr val="000000"/>
                </a:solidFill>
                <a:latin typeface="Helvetica Neue"/>
                <a:ea typeface="Helvetica Neue"/>
                <a:cs typeface="Helvetica Neue"/>
              </a:defRPr>
            </a:pPr>
            <a:r>
              <a:rPr sz="1350" b="1">
                <a:solidFill>
                  <a:srgbClr val="B53E31"/>
                </a:solidFill>
                <a:latin typeface="Helvetica Neue"/>
                <a:ea typeface="Helvetica Neue"/>
                <a:cs typeface="Helvetica Neue"/>
              </a:rPr>
              <a:t>A CONCRETE EXAMPLE</a:t>
            </a:r>
          </a:p>
          <a:p xmlns:a="http://schemas.openxmlformats.org/drawingml/2006/main">
            <a:pPr algn="l">
              <a:lnSpc>
                <a:spcPct val="112000"/>
              </a:lnSpc>
              <a:spcBef>
                <a:spcPts val="0"/>
              </a:spcBef>
              <a:spcAft>
                <a:spcPts val="0"/>
              </a:spcAft>
              <a:buNone/>
              <a:defRPr sz="16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Viewers repeat an inside joke in chat. Afterplay suggests opening the next stream with that callback, then checks whether more viewers return.</a:t>
            </a:r>
          </a:p>
        </p:txBody>
      </p:sp>
      <p:sp>
        <p:nvSpPr>
          <p:cNvPr id="13" name="afterplay-accent-rule">
            <a:extLst xmlns:a="http://schemas.openxmlformats.org/drawingml/2006/main">
              <a:ext uri="{FF2B5EF4-FFF2-40B4-BE49-F238E27FC236}">
                <a16:creationId xmlns:a16="http://schemas.microsoft.com/office/drawing/2014/main" id="{CEFCC173-2583-4381-A34C-B8FD6B8E3047}"/>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50DFE4E9-DBF4-4B71-A0AB-79268158C543}"/>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98F870DE-1611-4BD0-A357-2768C79CA95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5466826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oogle-Shape-532-p58-2">
            <a:extLst xmlns:a="http://schemas.openxmlformats.org/drawingml/2006/main">
              <a:ext uri="{FF2B5EF4-FFF2-40B4-BE49-F238E27FC236}">
                <a16:creationId xmlns:a16="http://schemas.microsoft.com/office/drawing/2014/main" id="{9AF40C74-031E-41FC-B950-EAA2D427FD1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06</a:t>
            </a:r>
          </a:p>
        </p:txBody>
      </p:sp>
      <p:sp>
        <p:nvSpPr>
          <p:cNvPr id="2" name="Google-Shape-533-p58-3">
            <a:extLst xmlns:a="http://schemas.openxmlformats.org/drawingml/2006/main">
              <a:ext uri="{FF2B5EF4-FFF2-40B4-BE49-F238E27FC236}">
                <a16:creationId xmlns:a16="http://schemas.microsoft.com/office/drawing/2014/main" id="{EAAA5CDF-CED8-4571-B880-E2670EF0B08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000" b="1">
                <a:solidFill>
                  <a:srgbClr val="0B0D0E"/>
                </a:solidFill>
                <a:latin typeface="Helvetica Neue"/>
                <a:ea typeface="Helvetica Neue"/>
                <a:cs typeface="Helvetica Neue"/>
              </a:rPr>
              <a:t>Three records guide each test.</a:t>
            </a:r>
          </a:p>
        </p:txBody>
      </p:sp>
      <p:sp>
        <p:nvSpPr>
          <p:cNvPr id="3" name="Picture-3-4-backing">
            <a:extLst xmlns:a="http://schemas.openxmlformats.org/drawingml/2006/main">
              <a:ext uri="{FF2B5EF4-FFF2-40B4-BE49-F238E27FC236}">
                <a16:creationId xmlns:a16="http://schemas.microsoft.com/office/drawing/2014/main" id="{2FCD313A-B97B-421B-8A49-EF0D4B9BB25D}"/>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27ECE8F8-791A-473C-8923-F64C7227101C}"/>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1400"/>
              </a:spcAft>
              <a:buNone/>
              <a:defRPr sz="2400">
                <a:solidFill>
                  <a:srgbClr val="000000"/>
                </a:solidFill>
                <a:latin typeface="Helvetica Neue"/>
                <a:ea typeface="Helvetica Neue"/>
                <a:cs typeface="Helvetica Neue"/>
              </a:defRPr>
            </a:pPr>
            <a:r>
              <a:rPr sz="3000" b="1">
                <a:solidFill>
                  <a:srgbClr val="0B0D0E"/>
                </a:solidFill>
                <a:latin typeface="Helvetica Neue"/>
                <a:ea typeface="Helvetica Neue"/>
                <a:cs typeface="Helvetica Neue"/>
              </a:rPr>
              <a:t>The next test starts with evidence</a:t>
            </a:r>
          </a:p>
          <a:p xmlns:a="http://schemas.openxmlformats.org/drawingml/2006/main">
            <a:pPr algn="l">
              <a:lnSpc>
                <a:spcPct val="112000"/>
              </a:lnSpc>
              <a:spcBef>
                <a:spcPts val="0"/>
              </a:spcBef>
              <a:spcAft>
                <a:spcPts val="0"/>
              </a:spcAft>
              <a:buNone/>
              <a:defRPr sz="2400">
                <a:solidFill>
                  <a:srgbClr val="000000"/>
                </a:solidFill>
                <a:latin typeface="Helvetica Neue"/>
                <a:ea typeface="Helvetica Neue"/>
                <a:cs typeface="Helvetica Neue"/>
              </a:defRPr>
            </a:pPr>
            <a:r>
              <a:rPr sz="1725" b="0">
                <a:solidFill>
                  <a:srgbClr val="5C6368"/>
                </a:solidFill>
                <a:latin typeface="Helvetica Neue"/>
                <a:ea typeface="Helvetica Neue"/>
                <a:cs typeface="Helvetica Neue"/>
              </a:rPr>
              <a:t>Channel: recurring jokes, storylines, viewer quotes, and moments.
Audience: who returned, what they repeated, and when they left.
Market: what similar channels tried, which formats are growing, and where gaps remain.</a:t>
            </a:r>
          </a:p>
        </p:txBody>
      </p:sp>
      <p:sp>
        <p:nvSpPr>
          <p:cNvPr id="6" name="afterplay-accent-rule">
            <a:extLst xmlns:a="http://schemas.openxmlformats.org/drawingml/2006/main">
              <a:ext uri="{FF2B5EF4-FFF2-40B4-BE49-F238E27FC236}">
                <a16:creationId xmlns:a16="http://schemas.microsoft.com/office/drawing/2014/main" id="{B0C87901-8CB6-4C9B-A401-63E1667E07D9}"/>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c5dde3728634766"/>
          <a:srcRect xmlns:a="http://schemas.openxmlformats.org/drawingml/2006/main" l="10101" t="0" r="10101"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gd name="adj" fmla="val 2063"/>
            </a:avLst>
          </a:prstGeom>
        </p:spPr>
      </p:pic>
      <p:sp>
        <p:nvSpPr>
          <p:cNvPr id="8" name="moat-label">
            <a:extLst xmlns:a="http://schemas.openxmlformats.org/drawingml/2006/main">
              <a:ext uri="{FF2B5EF4-FFF2-40B4-BE49-F238E27FC236}">
                <a16:creationId xmlns:a16="http://schemas.microsoft.com/office/drawing/2014/main" id="{3E706104-9389-4372-A9D5-0430B49A6D18}"/>
              </a:ext>
            </a:extLst>
          </p:cNvPr>
          <p:cNvSpPr>
            <a:spLocks xmlns:a="http://schemas.openxmlformats.org/drawingml/2006/main" noGrp="1"/>
          </p:cNvSpPr>
          <p:nvPr/>
        </p:nvSpPr>
        <p:spPr>
          <a:xfrm xmlns:a="http://schemas.openxmlformats.org/drawingml/2006/main">
            <a:off x="393668" y="58102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53E31"/>
                </a:solidFill>
              </a:defRPr>
            </a:pPr>
            <a:r>
              <a:rPr sz="1350" b="1">
                <a:solidFill>
                  <a:srgbClr val="B53E31"/>
                </a:solidFill>
              </a:rPr>
              <a:t>CHANNEL  ·  AUDIENCE  ·  MARKET</a:t>
            </a:r>
          </a:p>
        </p:txBody>
      </p:sp>
      <p:sp>
        <p:nvSpPr>
          <p:cNvPr id="9" name="afterplay-coral-mark">
            <a:extLst xmlns:a="http://schemas.openxmlformats.org/drawingml/2006/main">
              <a:ext uri="{FF2B5EF4-FFF2-40B4-BE49-F238E27FC236}">
                <a16:creationId xmlns:a16="http://schemas.microsoft.com/office/drawing/2014/main" id="{8F04AFFF-B637-422A-BDA0-3C2D8674B6BD}"/>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0" name="afterplay-wordmark">
            <a:extLst xmlns:a="http://schemas.openxmlformats.org/drawingml/2006/main">
              <a:ext uri="{FF2B5EF4-FFF2-40B4-BE49-F238E27FC236}">
                <a16:creationId xmlns:a16="http://schemas.microsoft.com/office/drawing/2014/main" id="{1B4C351B-D0CD-402B-93D8-7B925DA886F2}"/>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4830626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FEF74B8-F5C6-41CF-9480-DCED472E462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07</a:t>
            </a:r>
          </a:p>
        </p:txBody>
      </p:sp>
      <p:sp>
        <p:nvSpPr>
          <p:cNvPr id="2" name="Google-Shape-533-p58-3">
            <a:extLst xmlns:a="http://schemas.openxmlformats.org/drawingml/2006/main">
              <a:ext uri="{FF2B5EF4-FFF2-40B4-BE49-F238E27FC236}">
                <a16:creationId xmlns:a16="http://schemas.microsoft.com/office/drawing/2014/main" id="{789360C7-23C8-4BB5-8701-741E9720AA7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Riff brings that history into the next live stream.</a:t>
            </a:r>
          </a:p>
        </p:txBody>
      </p:sp>
      <p:sp>
        <p:nvSpPr>
          <p:cNvPr id="3" name="Google-Shape-534-p58-4">
            <a:extLst xmlns:a="http://schemas.openxmlformats.org/drawingml/2006/main">
              <a:ext uri="{FF2B5EF4-FFF2-40B4-BE49-F238E27FC236}">
                <a16:creationId xmlns:a16="http://schemas.microsoft.com/office/drawing/2014/main" id="{289AE842-BC6F-4807-87F3-C87D09F668C2}"/>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0B0D0E"/>
                </a:solidFill>
                <a:latin typeface="Helvetica Neue"/>
                <a:ea typeface="Helvetica Neue"/>
                <a:cs typeface="Helvetica Neue"/>
              </a:rPr>
              <a:t/>
            </a:r>
          </a:p>
        </p:txBody>
      </p:sp>
      <p:sp>
        <p:nvSpPr>
          <p:cNvPr id="4" name="Content-Placeholder-3-5">
            <a:extLst xmlns:a="http://schemas.openxmlformats.org/drawingml/2006/main">
              <a:ext uri="{FF2B5EF4-FFF2-40B4-BE49-F238E27FC236}">
                <a16:creationId xmlns:a16="http://schemas.microsoft.com/office/drawing/2014/main" id="{C55707DD-9F56-4C53-9EA9-9EA3BA6A065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8000"/>
              </a:lnSpc>
              <a:spcBef>
                <a:spcPts val="0"/>
              </a:spcBef>
              <a:spcAft>
                <a:spcPts val="1200"/>
              </a:spcAft>
              <a:buNone/>
              <a:defRPr sz="2400">
                <a:solidFill>
                  <a:srgbClr val="000000"/>
                </a:solidFill>
                <a:latin typeface="Helvetica Neue"/>
                <a:ea typeface="Helvetica Neue"/>
                <a:cs typeface="Helvetica Neue"/>
              </a:defRPr>
            </a:pPr>
            <a:r>
              <a:rPr sz="2550" b="1">
                <a:solidFill>
                  <a:srgbClr val="0B0D0E"/>
                </a:solidFill>
                <a:latin typeface="Helvetica Neue"/>
                <a:ea typeface="Helvetica Neue"/>
                <a:cs typeface="Helvetica Neue"/>
              </a:rPr>
              <a:t>The live cohost knows the test</a:t>
            </a:r>
          </a:p>
          <a:p xmlns:a="http://schemas.openxmlformats.org/drawingml/2006/main">
            <a:pPr algn="l">
              <a:lnSpc>
                <a:spcPct val="114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Riff listens to the creator and live chat. When the approved moment arrives, it can speak, prompt the creator, or surface the right callback.
The history that planned the stream can now shape it while it is happening.</a:t>
            </a:r>
          </a:p>
        </p:txBody>
      </p:sp>
      <p:sp>
        <p:nvSpPr>
          <p:cNvPr id="5" name="afterplay-accent-rule">
            <a:extLst xmlns:a="http://schemas.openxmlformats.org/drawingml/2006/main">
              <a:ext uri="{FF2B5EF4-FFF2-40B4-BE49-F238E27FC236}">
                <a16:creationId xmlns:a16="http://schemas.microsoft.com/office/drawing/2014/main" id="{FF2464FE-53FA-432D-829E-DFA34E297565}"/>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25ea5f2b5954aa7"/>
          <a:srcRect xmlns:a="http://schemas.openxmlformats.org/drawingml/2006/main" l="0" t="4716" r="0" b="4716"/>
          <a:stretch xmlns:a="http://schemas.openxmlformats.org/drawingml/2006/main">
            <a:fillRect l="0" t="0" r="0" b="0"/>
          </a:stretch>
        </p:blipFill>
        <p:spPr>
          <a:xfrm xmlns:a="http://schemas.openxmlformats.org/drawingml/2006/main">
            <a:off x="393668" y="2031968"/>
            <a:ext cx="5537168" cy="3534823"/>
          </a:xfrm>
          <a:prstGeom xmlns:a="http://schemas.openxmlformats.org/drawingml/2006/main" prst="roundRect">
            <a:avLst>
              <a:gd name="adj" fmla="val 3234"/>
            </a:avLst>
          </a:prstGeom>
        </p:spPr>
      </p:pic>
      <p:sp>
        <p:nvSpPr>
          <p:cNvPr id="7" name="riff-caption">
            <a:extLst xmlns:a="http://schemas.openxmlformats.org/drawingml/2006/main">
              <a:ext uri="{FF2B5EF4-FFF2-40B4-BE49-F238E27FC236}">
                <a16:creationId xmlns:a16="http://schemas.microsoft.com/office/drawing/2014/main" id="{E8E12383-02DE-4738-99BD-03A069FDA83A}"/>
              </a:ext>
            </a:extLst>
          </p:cNvPr>
          <p:cNvSpPr>
            <a:spLocks xmlns:a="http://schemas.openxmlformats.org/drawingml/2006/main" noGrp="1"/>
          </p:cNvSpPr>
          <p:nvPr/>
        </p:nvSpPr>
        <p:spPr>
          <a:xfrm xmlns:a="http://schemas.openxmlformats.org/drawingml/2006/main">
            <a:off x="581025" y="52197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FFFFF"/>
                </a:solidFill>
              </a:defRPr>
            </a:pPr>
            <a:r>
              <a:rPr sz="1200" b="1">
                <a:solidFill>
                  <a:srgbClr val="FFFFFF"/>
                </a:solidFill>
              </a:rPr>
              <a:t>LIVE GAMEPLAY  ·  CHAT  ·  AI COHOST</a:t>
            </a:r>
          </a:p>
        </p:txBody>
      </p:sp>
      <p:sp>
        <p:nvSpPr>
          <p:cNvPr id="8" name="afterplay-coral-mark">
            <a:extLst xmlns:a="http://schemas.openxmlformats.org/drawingml/2006/main">
              <a:ext uri="{FF2B5EF4-FFF2-40B4-BE49-F238E27FC236}">
                <a16:creationId xmlns:a16="http://schemas.microsoft.com/office/drawing/2014/main" id="{7738D733-B861-4D41-993D-24568B7D2051}"/>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9" name="afterplay-wordmark">
            <a:extLst xmlns:a="http://schemas.openxmlformats.org/drawingml/2006/main">
              <a:ext uri="{FF2B5EF4-FFF2-40B4-BE49-F238E27FC236}">
                <a16:creationId xmlns:a16="http://schemas.microsoft.com/office/drawing/2014/main" id="{59DF049C-E855-4821-A69B-C33948A2A193}"/>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17856597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D31929E9-57ED-4464-83EC-4C1343E8B65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Bef>
                <a:spcPts val="0"/>
              </a:spcBef>
              <a:spcAft>
                <a:spcPts val="0"/>
              </a:spcAft>
              <a:buNone/>
              <a:defRPr sz="1000">
                <a:solidFill>
                  <a:srgbClr val="000000"/>
                </a:solidFill>
                <a:latin typeface="Helvetica Neue"/>
                <a:ea typeface="Helvetica Neue"/>
                <a:cs typeface="Helvetica Neue"/>
              </a:defRPr>
            </a:pPr>
            <a:r>
              <a:rPr sz="1050" b="0">
                <a:solidFill>
                  <a:srgbClr val="5C6368"/>
                </a:solidFill>
                <a:latin typeface="Helvetica Neue"/>
                <a:ea typeface="Helvetica Neue"/>
                <a:cs typeface="Helvetica Neue"/>
              </a:rPr>
              <a:t>08</a:t>
            </a:r>
          </a:p>
        </p:txBody>
      </p:sp>
      <p:sp>
        <p:nvSpPr>
          <p:cNvPr id="2" name="Title-10-3">
            <a:extLst xmlns:a="http://schemas.openxmlformats.org/drawingml/2006/main">
              <a:ext uri="{FF2B5EF4-FFF2-40B4-BE49-F238E27FC236}">
                <a16:creationId xmlns:a16="http://schemas.microsoft.com/office/drawing/2014/main" id="{C8B5F39B-5930-4097-B95A-B8907D1F6CE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spcBef>
                <a:spcPts val="0"/>
              </a:spcBef>
              <a:spcAft>
                <a:spcPts val="0"/>
              </a:spcAft>
              <a:buNone/>
              <a:defRPr sz="2900">
                <a:solidFill>
                  <a:srgbClr val="000000"/>
                </a:solidFill>
                <a:latin typeface="Helvetica Neue"/>
                <a:ea typeface="Helvetica Neue"/>
                <a:cs typeface="Helvetica Neue"/>
              </a:defRPr>
            </a:pPr>
            <a:r>
              <a:rPr sz="3600" b="1">
                <a:solidFill>
                  <a:srgbClr val="0B0D0E"/>
                </a:solidFill>
                <a:latin typeface="Helvetica Neue"/>
                <a:ea typeface="Helvetica Neue"/>
                <a:cs typeface="Helvetica Neue"/>
              </a:rPr>
              <a:t>What works today, and what we build next.</a:t>
            </a:r>
          </a:p>
        </p:txBody>
      </p:sp>
      <p:cxnSp>
        <p:nvCxnSpPr>
          <p:cNvPr id="18"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B88570F-2AD6-41D1-8406-171EC41EB5F0}"/>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BD5556A-F633-493C-BAAD-7108C504B5F3}"/>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DB2CD4E4-5AA2-4CFC-BA40-9EDE03A8D2A8}"/>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F14BB2A-647F-40A9-A496-F6BC9AC47DBB}"/>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TODAY</a:t>
            </a:r>
          </a:p>
        </p:txBody>
      </p:sp>
      <p:sp>
        <p:nvSpPr>
          <p:cNvPr id="8" name="Content-Placeholder-15-9">
            <a:extLst xmlns:a="http://schemas.openxmlformats.org/drawingml/2006/main">
              <a:ext uri="{FF2B5EF4-FFF2-40B4-BE49-F238E27FC236}">
                <a16:creationId xmlns:a16="http://schemas.microsoft.com/office/drawing/2014/main" id="{BB1C28AC-921A-4508-AADD-C6328ED7FFCD}"/>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NEXT</a:t>
            </a:r>
          </a:p>
        </p:txBody>
      </p:sp>
      <p:sp>
        <p:nvSpPr>
          <p:cNvPr id="9" name="Content-Placeholder-15-10">
            <a:extLst xmlns:a="http://schemas.openxmlformats.org/drawingml/2006/main">
              <a:ext uri="{FF2B5EF4-FFF2-40B4-BE49-F238E27FC236}">
                <a16:creationId xmlns:a16="http://schemas.microsoft.com/office/drawing/2014/main" id="{8AC5B0F3-0892-4CDC-B9E4-128C2430ABD0}"/>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1600">
                <a:solidFill>
                  <a:srgbClr val="000000"/>
                </a:solidFill>
                <a:latin typeface="Helvetica Neue"/>
                <a:ea typeface="Helvetica Neue"/>
                <a:cs typeface="Helvetica Neue"/>
              </a:defRPr>
            </a:pPr>
            <a:r>
              <a:rPr sz="1650" b="1">
                <a:solidFill>
                  <a:srgbClr val="B53E31"/>
                </a:solidFill>
                <a:latin typeface="Helvetica Neue"/>
                <a:ea typeface="Helvetica Neue"/>
                <a:cs typeface="Helvetica Neue"/>
              </a:rPr>
              <a:t>LATER</a:t>
            </a:r>
          </a:p>
        </p:txBody>
      </p:sp>
      <p:sp>
        <p:nvSpPr>
          <p:cNvPr id="10" name="Text-Placeholder-16-11">
            <a:extLst xmlns:a="http://schemas.openxmlformats.org/drawingml/2006/main">
              <a:ext uri="{FF2B5EF4-FFF2-40B4-BE49-F238E27FC236}">
                <a16:creationId xmlns:a16="http://schemas.microsoft.com/office/drawing/2014/main" id="{BC115C14-42D6-4A31-A9D7-724F702FF06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Creator-ready</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Saved accounts, live platform data, and creator-owned history.</a:t>
            </a:r>
          </a:p>
        </p:txBody>
      </p:sp>
      <p:sp>
        <p:nvSpPr>
          <p:cNvPr id="11" name="Text-Placeholder-16-12">
            <a:extLst xmlns:a="http://schemas.openxmlformats.org/drawingml/2006/main">
              <a:ext uri="{FF2B5EF4-FFF2-40B4-BE49-F238E27FC236}">
                <a16:creationId xmlns:a16="http://schemas.microsoft.com/office/drawing/2014/main" id="{E266697C-FDCF-48A3-900B-4136978F9411}"/>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Working V1</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Real ingest, clipping, memory, Studio approval, and a results loop.</a:t>
            </a:r>
          </a:p>
        </p:txBody>
      </p:sp>
      <p:sp>
        <p:nvSpPr>
          <p:cNvPr id="12" name="Text-Placeholder-16-13">
            <a:extLst xmlns:a="http://schemas.openxmlformats.org/drawingml/2006/main">
              <a:ext uri="{FF2B5EF4-FFF2-40B4-BE49-F238E27FC236}">
                <a16:creationId xmlns:a16="http://schemas.microsoft.com/office/drawing/2014/main" id="{541A28F2-872C-4705-BE10-842CD471E94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700"/>
              </a:spcAft>
              <a:buNone/>
              <a:defRPr sz="2400">
                <a:solidFill>
                  <a:srgbClr val="000000"/>
                </a:solidFill>
                <a:latin typeface="Helvetica Neue"/>
                <a:ea typeface="Helvetica Neue"/>
                <a:cs typeface="Helvetica Neue"/>
              </a:defRPr>
            </a:pPr>
            <a:r>
              <a:rPr sz="2250" b="1">
                <a:solidFill>
                  <a:srgbClr val="0B0D0E"/>
                </a:solidFill>
                <a:latin typeface="Helvetica Neue"/>
                <a:ea typeface="Helvetica Neue"/>
                <a:cs typeface="Helvetica Neue"/>
              </a:rPr>
              <a:t>Live action</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650" b="0">
                <a:solidFill>
                  <a:srgbClr val="5C6368"/>
                </a:solidFill>
                <a:latin typeface="Helvetica Neue"/>
                <a:ea typeface="Helvetica Neue"/>
                <a:cs typeface="Helvetica Neue"/>
              </a:rPr>
              <a:t>Riff joins approved moments live and records how the audience responds.</a:t>
            </a:r>
          </a:p>
        </p:txBody>
      </p:sp>
      <p:sp>
        <p:nvSpPr>
          <p:cNvPr id="13" name="afterplay-accent-rule">
            <a:extLst xmlns:a="http://schemas.openxmlformats.org/drawingml/2006/main">
              <a:ext uri="{FF2B5EF4-FFF2-40B4-BE49-F238E27FC236}">
                <a16:creationId xmlns:a16="http://schemas.microsoft.com/office/drawing/2014/main" id="{9874E3E9-C99C-49CD-A7F2-BF59407EFC46}"/>
              </a:ext>
            </a:extLst>
          </p:cNvPr>
          <p:cNvSpPr>
            <a:spLocks xmlns:a="http://schemas.openxmlformats.org/drawingml/2006/main" noGrp="1"/>
          </p:cNvSpPr>
          <p:nvPr/>
        </p:nvSpPr>
        <p:spPr>
          <a:xfrm xmlns:a="http://schemas.openxmlformats.org/drawingml/2006/main">
            <a:off x="393668" y="1457325"/>
            <a:ext cx="876300" cy="571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4" name="afterplay-coral-mark">
            <a:extLst xmlns:a="http://schemas.openxmlformats.org/drawingml/2006/main">
              <a:ext uri="{FF2B5EF4-FFF2-40B4-BE49-F238E27FC236}">
                <a16:creationId xmlns:a16="http://schemas.microsoft.com/office/drawing/2014/main" id="{7B8199DD-DDF6-40CF-AD1A-DDF71FF14A65}"/>
              </a:ext>
            </a:extLst>
          </p:cNvPr>
          <p:cNvSpPr>
            <a:spLocks xmlns:a="http://schemas.openxmlformats.org/drawingml/2006/main" noGrp="1"/>
          </p:cNvSpPr>
          <p:nvPr/>
        </p:nvSpPr>
        <p:spPr>
          <a:xfrm xmlns:a="http://schemas.openxmlformats.org/drawingml/2006/main">
            <a:off x="393668" y="6343650"/>
            <a:ext cx="95250" cy="9525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
        <p:nvSpPr>
          <p:cNvPr id="15" name="afterplay-wordmark">
            <a:extLst xmlns:a="http://schemas.openxmlformats.org/drawingml/2006/main">
              <a:ext uri="{FF2B5EF4-FFF2-40B4-BE49-F238E27FC236}">
                <a16:creationId xmlns:a16="http://schemas.microsoft.com/office/drawing/2014/main" id="{2164A727-8CD8-40D8-8D07-D9902E50CD95}"/>
              </a:ext>
            </a:extLst>
          </p:cNvPr>
          <p:cNvSpPr>
            <a:spLocks xmlns:a="http://schemas.openxmlformats.org/drawingml/2006/main" noGrp="1"/>
          </p:cNvSpPr>
          <p:nvPr/>
        </p:nvSpPr>
        <p:spPr>
          <a:xfrm xmlns:a="http://schemas.openxmlformats.org/drawingml/2006/main">
            <a:off x="552450" y="62674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C6368"/>
                </a:solidFill>
              </a:defRPr>
            </a:pPr>
            <a:r>
              <a:rPr sz="1050" b="1">
                <a:solidFill>
                  <a:srgbClr val="5C6368"/>
                </a:solidFill>
              </a:rPr>
              <a:t>AFTERPLAY</a:t>
            </a:r>
          </a:p>
        </p:txBody>
      </p:sp>
    </p:spTree>
    <p:extLst>
      <p:ext uri="{BB962C8B-B14F-4D97-AF65-F5344CB8AC3E}">
        <p14:creationId xmlns:p14="http://schemas.microsoft.com/office/powerpoint/2010/main" val="6490684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3-1">
            <a:extLst xmlns:a="http://schemas.openxmlformats.org/drawingml/2006/main">
              <a:ext uri="{FF2B5EF4-FFF2-40B4-BE49-F238E27FC236}">
                <a16:creationId xmlns:a16="http://schemas.microsoft.com/office/drawing/2014/main" id="{0E669386-A750-4C2C-ACD9-A0842B031867}"/>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2000"/>
              </a:lnSpc>
              <a:spcBef>
                <a:spcPts val="0"/>
              </a:spcBef>
              <a:spcAft>
                <a:spcPts val="0"/>
              </a:spcAft>
              <a:buNone/>
              <a:defRPr sz="6000">
                <a:solidFill>
                  <a:srgbClr val="000000"/>
                </a:solidFill>
                <a:latin typeface="Helvetica Neue"/>
                <a:ea typeface="Helvetica Neue"/>
                <a:cs typeface="Helvetica Neue"/>
              </a:defRPr>
            </a:pPr>
            <a:r>
              <a:rPr sz="4950" b="1">
                <a:solidFill>
                  <a:srgbClr val="0B0D0E"/>
                </a:solidFill>
                <a:latin typeface="Helvetica Neue"/>
                <a:ea typeface="Helvetica Neue"/>
                <a:cs typeface="Helvetica Neue"/>
              </a:rPr>
              <a:t>Afterplay helps gaming creators learn what makes viewers come back.</a:t>
            </a:r>
          </a:p>
        </p:txBody>
      </p:sp>
      <p:sp>
        <p:nvSpPr>
          <p:cNvPr id="2" name="Subtitle-4-2">
            <a:extLst xmlns:a="http://schemas.openxmlformats.org/drawingml/2006/main">
              <a:ext uri="{FF2B5EF4-FFF2-40B4-BE49-F238E27FC236}">
                <a16:creationId xmlns:a16="http://schemas.microsoft.com/office/drawing/2014/main" id="{67337A5C-322D-4A91-8334-88B51B9B0287}"/>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1">
                <a:solidFill>
                  <a:srgbClr val="0B0D0E"/>
                </a:solidFill>
                <a:latin typeface="Helvetica Neue"/>
                <a:ea typeface="Helvetica Neue"/>
                <a:cs typeface="Helvetica Neue"/>
              </a:rPr>
              <a:t>Remember the channel.</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1">
                <a:solidFill>
                  <a:srgbClr val="0B0D0E"/>
                </a:solidFill>
                <a:latin typeface="Helvetica Neue"/>
                <a:ea typeface="Helvetica Neue"/>
                <a:cs typeface="Helvetica Neue"/>
              </a:rPr>
              <a:t>Run the next test.</a:t>
            </a:r>
          </a:p>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950" b="0">
                <a:solidFill>
                  <a:srgbClr val="5C6368"/>
                </a:solidFill>
                <a:latin typeface="Helvetica Neue"/>
                <a:ea typeface="Helvetica Neue"/>
                <a:cs typeface="Helvetica Neue"/>
              </a:rPr>
              <a:t>Learn from the result.</a:t>
            </a:r>
          </a:p>
        </p:txBody>
      </p:sp>
      <p:sp>
        <p:nvSpPr>
          <p:cNvPr id="3" name="Subtitle-4-3">
            <a:extLst xmlns:a="http://schemas.openxmlformats.org/drawingml/2006/main">
              <a:ext uri="{FF2B5EF4-FFF2-40B4-BE49-F238E27FC236}">
                <a16:creationId xmlns:a16="http://schemas.microsoft.com/office/drawing/2014/main" id="{4A6C18FA-9809-4F7E-A6BD-687E52AA8EE7}"/>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8000"/>
              </a:lnSpc>
              <a:spcBef>
                <a:spcPts val="0"/>
              </a:spcBef>
              <a:spcAft>
                <a:spcPts val="0"/>
              </a:spcAft>
              <a:buNone/>
              <a:defRPr sz="2400">
                <a:solidFill>
                  <a:srgbClr val="000000"/>
                </a:solidFill>
                <a:latin typeface="Helvetica Neue"/>
                <a:ea typeface="Helvetica Neue"/>
                <a:cs typeface="Helvetica Neue"/>
              </a:defRPr>
            </a:pPr>
            <a:r>
              <a:rPr sz="1800" b="1">
                <a:solidFill>
                  <a:srgbClr val="B53E31"/>
                </a:solidFill>
                <a:latin typeface="Helvetica Neue"/>
                <a:ea typeface="Helvetica Neue"/>
                <a:cs typeface="Helvetica Neue"/>
              </a:rPr>
              <a:t>AFTERPLAY</a:t>
            </a:r>
          </a:p>
        </p:txBody>
      </p:sp>
      <p:sp>
        <p:nvSpPr>
          <p:cNvPr id="4" name="closing-accent">
            <a:extLst xmlns:a="http://schemas.openxmlformats.org/drawingml/2006/main">
              <a:ext uri="{FF2B5EF4-FFF2-40B4-BE49-F238E27FC236}">
                <a16:creationId xmlns:a16="http://schemas.microsoft.com/office/drawing/2014/main" id="{A23FD773-4381-44A0-9F29-B8F82D081CEC}"/>
              </a:ext>
            </a:extLst>
          </p:cNvPr>
          <p:cNvSpPr>
            <a:spLocks xmlns:a="http://schemas.openxmlformats.org/drawingml/2006/main" noGrp="1"/>
          </p:cNvSpPr>
          <p:nvPr/>
        </p:nvSpPr>
        <p:spPr>
          <a:xfrm xmlns:a="http://schemas.openxmlformats.org/drawingml/2006/main">
            <a:off x="10572750" y="0"/>
            <a:ext cx="1619250" cy="6858000"/>
          </a:xfrm>
          <a:prstGeom xmlns:a="http://schemas.openxmlformats.org/drawingml/2006/main" prst="rect">
            <a:avLst/>
          </a:prstGeom>
          <a:solidFill xmlns:a="http://schemas.openxmlformats.org/drawingml/2006/main">
            <a:srgbClr val="FF6B57"/>
          </a:solidFill>
          <a:ln xmlns:a="http://schemas.openxmlformats.org/drawingml/2006/main" w="0">
            <a:solidFill>
              <a:srgbClr val="FF6B57"/>
            </a:solidFill>
            <a:prstDash val="solid"/>
          </a:ln>
        </p:spPr>
      </p:sp>
    </p:spTree>
    <p:extLst>
      <p:ext uri="{BB962C8B-B14F-4D97-AF65-F5344CB8AC3E}">
        <p14:creationId xmlns:p14="http://schemas.microsoft.com/office/powerpoint/2010/main" val="613066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2026-08-09T15:38:22.5750000Z</dcterms:created>
  <dcterms:modified xsi:type="dcterms:W3CDTF">2026-08-09T15:38:22.5750000Z</dcterms:modified>
</coreProperties>
</file>