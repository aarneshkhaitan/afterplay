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906895365b4d70" /><Relationship Type="http://schemas.openxmlformats.org/officeDocument/2006/relationships/extended-properties" Target="/docProps/app.xml" Id="R15fdc1684d1e44ca" /><Relationship Type="http://schemas.openxmlformats.org/officeDocument/2006/relationships/officeDocument" Target="/ppt/presentation.xml" Id="Red79dbd9aa5b479f" /></Relationships>
</file>

<file path=ppt/presentation.xml><?xml version="1.0" encoding="utf-8"?>
<p:presentation xmlns:p="http://schemas.openxmlformats.org/presentationml/2006/main">
  <p:sldMasterIdLst>
    <p:sldMasterId xmlns:r="http://schemas.openxmlformats.org/officeDocument/2006/relationships" id="2147483648" r:id="Rc6a95ca1355d40a1"/>
  </p:sldMasterIdLst>
  <p:notesMasterIdLst>
    <p:notesMasterId xmlns:r="http://schemas.openxmlformats.org/officeDocument/2006/relationships" r:id="R64b724cdc5ef4732"/>
  </p:notesMasterIdLst>
  <p:sldIdLst>
    <p:sldId xmlns:r="http://schemas.openxmlformats.org/officeDocument/2006/relationships" id="256" r:id="Rf6ad7baf8fcf43c2"/>
    <p:sldId xmlns:r="http://schemas.openxmlformats.org/officeDocument/2006/relationships" id="257" r:id="R05ecb7a58a024252"/>
    <p:sldId xmlns:r="http://schemas.openxmlformats.org/officeDocument/2006/relationships" id="258" r:id="R6ed672c77448467c"/>
    <p:sldId xmlns:r="http://schemas.openxmlformats.org/officeDocument/2006/relationships" id="259" r:id="Rcbccbafa30954e71"/>
    <p:sldId xmlns:r="http://schemas.openxmlformats.org/officeDocument/2006/relationships" id="260" r:id="R84a1542bd07b4600"/>
    <p:sldId xmlns:r="http://schemas.openxmlformats.org/officeDocument/2006/relationships" id="261" r:id="R4963c3f73b42447b"/>
    <p:sldId xmlns:r="http://schemas.openxmlformats.org/officeDocument/2006/relationships" id="262" r:id="Rc9146e77c4af428e"/>
    <p:sldId xmlns:r="http://schemas.openxmlformats.org/officeDocument/2006/relationships" id="263" r:id="R7a7e718e7d704802"/>
    <p:sldId xmlns:r="http://schemas.openxmlformats.org/officeDocument/2006/relationships" id="264" r:id="R7d4ed2575b424d98"/>
    <p:sldId xmlns:r="http://schemas.openxmlformats.org/officeDocument/2006/relationships" id="265" r:id="R693a66fcd7754dd2"/>
    <p:sldId xmlns:r="http://schemas.openxmlformats.org/officeDocument/2006/relationships" id="266" r:id="R25294f3508ca4114"/>
    <p:sldId xmlns:r="http://schemas.openxmlformats.org/officeDocument/2006/relationships" id="267" r:id="R41ee7d21041c4490"/>
    <p:sldId xmlns:r="http://schemas.openxmlformats.org/officeDocument/2006/relationships" id="268" r:id="R6d68b514a9474f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d2f2b3c1244cda" /><Relationship Type="http://schemas.openxmlformats.org/officeDocument/2006/relationships/slideMaster" Target="/ppt/slideMasters/slideMaster1.xml" Id="Rc6a95ca1355d40a1" /><Relationship Type="http://schemas.openxmlformats.org/officeDocument/2006/relationships/notesMaster" Target="/ppt/notesMasters/notesMaster1.xml" Id="R64b724cdc5ef4732" /><Relationship Type="http://schemas.openxmlformats.org/officeDocument/2006/relationships/presProps" Target="/ppt/presProps.xml" Id="Rf763daea90c7456b" /><Relationship Type="http://schemas.openxmlformats.org/officeDocument/2006/relationships/tableStyles" Target="/ppt/tableStyles.xml" Id="R2773e6724f384715" /><Relationship Type="http://schemas.openxmlformats.org/officeDocument/2006/relationships/slide" Target="/ppt/slides/slide1.xml" Id="Rf6ad7baf8fcf43c2" /><Relationship Type="http://schemas.openxmlformats.org/officeDocument/2006/relationships/slide" Target="/ppt/slides/slide2.xml" Id="R05ecb7a58a024252" /><Relationship Type="http://schemas.openxmlformats.org/officeDocument/2006/relationships/slide" Target="/ppt/slides/slide3.xml" Id="R6ed672c77448467c" /><Relationship Type="http://schemas.openxmlformats.org/officeDocument/2006/relationships/slide" Target="/ppt/slides/slide4.xml" Id="Rcbccbafa30954e71" /><Relationship Type="http://schemas.openxmlformats.org/officeDocument/2006/relationships/slide" Target="/ppt/slides/slide5.xml" Id="R84a1542bd07b4600" /><Relationship Type="http://schemas.openxmlformats.org/officeDocument/2006/relationships/slide" Target="/ppt/slides/slide6.xml" Id="R4963c3f73b42447b" /><Relationship Type="http://schemas.openxmlformats.org/officeDocument/2006/relationships/slide" Target="/ppt/slides/slide7.xml" Id="Rc9146e77c4af428e" /><Relationship Type="http://schemas.openxmlformats.org/officeDocument/2006/relationships/slide" Target="/ppt/slides/slide8.xml" Id="R7a7e718e7d704802" /><Relationship Type="http://schemas.openxmlformats.org/officeDocument/2006/relationships/slide" Target="/ppt/slides/slide9.xml" Id="R7d4ed2575b424d98" /><Relationship Type="http://schemas.openxmlformats.org/officeDocument/2006/relationships/slide" Target="/ppt/slides/slide10.xml" Id="R693a66fcd7754dd2" /><Relationship Type="http://schemas.openxmlformats.org/officeDocument/2006/relationships/slide" Target="/ppt/slides/slide11.xml" Id="R25294f3508ca4114" /><Relationship Type="http://schemas.openxmlformats.org/officeDocument/2006/relationships/slide" Target="/ppt/slides/slide12.xml" Id="R41ee7d21041c4490" /><Relationship Type="http://schemas.openxmlformats.org/officeDocument/2006/relationships/slide" Target="/ppt/slides/slide13.xml" Id="R6d68b514a9474f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c40246a0b246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7f09197834154" /><Relationship Type="http://schemas.openxmlformats.org/officeDocument/2006/relationships/notesMaster" Target="/ppt/notesMasters/notesMaster1.xml" Id="R4474a8f5b26e47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163ad0b32e465a" /><Relationship Type="http://schemas.openxmlformats.org/officeDocument/2006/relationships/notesMaster" Target="/ppt/notesMasters/notesMaster1.xml" Id="R7ea4b9a5292d48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ff47e3f18e472d" /><Relationship Type="http://schemas.openxmlformats.org/officeDocument/2006/relationships/notesMaster" Target="/ppt/notesMasters/notesMaster1.xml" Id="Re38156571dc44d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330cef1fec46d9" /><Relationship Type="http://schemas.openxmlformats.org/officeDocument/2006/relationships/notesMaster" Target="/ppt/notesMasters/notesMaster1.xml" Id="R4eca705703ef4d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4701b5d5a14e9b" /><Relationship Type="http://schemas.openxmlformats.org/officeDocument/2006/relationships/notesMaster" Target="/ppt/notesMasters/notesMaster1.xml" Id="Rae2dfc6d281447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7eb50bd3834c9f" /><Relationship Type="http://schemas.openxmlformats.org/officeDocument/2006/relationships/notesMaster" Target="/ppt/notesMasters/notesMaster1.xml" Id="R1789e09451854f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f183ebafb84b64" /><Relationship Type="http://schemas.openxmlformats.org/officeDocument/2006/relationships/notesMaster" Target="/ppt/notesMasters/notesMaster1.xml" Id="R72df11dde0a942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0f9d6cded94cac" /><Relationship Type="http://schemas.openxmlformats.org/officeDocument/2006/relationships/notesMaster" Target="/ppt/notesMasters/notesMaster1.xml" Id="R0ebbd5259ee540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8349b8fb194a9e" /><Relationship Type="http://schemas.openxmlformats.org/officeDocument/2006/relationships/notesMaster" Target="/ppt/notesMasters/notesMaster1.xml" Id="R382ffa44965f4b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a8e8ad051f4dd9" /><Relationship Type="http://schemas.openxmlformats.org/officeDocument/2006/relationships/notesMaster" Target="/ppt/notesMasters/notesMaster1.xml" Id="R5a52ae4d615d40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267c5bc54d4fe3" /><Relationship Type="http://schemas.openxmlformats.org/officeDocument/2006/relationships/notesMaster" Target="/ppt/notesMasters/notesMaster1.xml" Id="Rb97c100294a047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09b928ea5148f8" /><Relationship Type="http://schemas.openxmlformats.org/officeDocument/2006/relationships/notesMaster" Target="/ppt/notesMasters/notesMaster1.xml" Id="R93487acf572142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c199b707c34fb2" /><Relationship Type="http://schemas.openxmlformats.org/officeDocument/2006/relationships/notesMaster" Target="/ppt/notesMasters/notesMaster1.xml" Id="R63942acee5b545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helps gaming creators learn what makes viewers come back. It keeps a record of the channel, plans one clear test at a time, and uses the result to choose what happens next.</a:t>
            </a:r>
          </a:p>
          <a:p xmlns:a="http://schemas.openxmlformats.org/drawingml/2006/main">
            <a:r>
              <a:t/>
            </a:r>
          </a:p>
          <a:p xmlns:a="http://schemas.openxmlformats.org/drawingml/2006/main">
            <a:r>
              <a:t>[Sources]</a:t>
            </a:r>
          </a:p>
          <a:p xmlns:a="http://schemas.openxmlformats.org/drawingml/2006/main">
            <a:r>
              <a:t>- Project screenshot: deck/assets/screens/v1-latest/hq.png, origin/v1 commit 27f5cd1.</a:t>
            </a:r>
          </a:p>
          <a:p xmlns:a="http://schemas.openxmlformats.org/drawingml/2006/main">
            <a:r>
              <a:t>- Project README and product loop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creator can see every clip and chart and still lack a clear next move. The useful clues are split across footage, chat, comments, and analytics, so the next stream often depends on memory and guesswork.</a:t>
            </a:r>
          </a:p>
          <a:p xmlns:a="http://schemas.openxmlformats.org/drawingml/2006/main">
            <a:r>
              <a:t/>
            </a:r>
          </a:p>
          <a:p xmlns:a="http://schemas.openxmlformats.org/drawingml/2006/main">
            <a:r>
              <a:t>[Sources]</a:t>
            </a:r>
          </a:p>
          <a:p xmlns:a="http://schemas.openxmlformats.org/drawingml/2006/main">
            <a:r>
              <a:t>- Project problem framing and diagnosis loop: README.md on origin/v1 commit 27f5cd1.</a:t>
            </a:r>
          </a:p>
          <a:p xmlns:a="http://schemas.openxmlformats.org/drawingml/2006/main">
            <a:r>
              <a:t>- Project Memory and experiment domain code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supply is enormous, loyal audiences are hard to build, and creator revenue is already a large market. YouTube says viewers who return regularly are more likely to be recommended more videos from that channel. That is the behavior Afterplay targets.</a:t>
            </a:r>
          </a:p>
          <a:p xmlns:a="http://schemas.openxmlformats.org/drawingml/2006/main">
            <a:r>
              <a:t/>
            </a:r>
          </a:p>
          <a:p xmlns:a="http://schemas.openxmlformats.org/drawingml/2006/main">
            <a:r>
              <a:t>[Sources]</a:t>
            </a:r>
          </a:p>
          <a:p xmlns:a="http://schemas.openxmlformats.org/drawingml/2006/main">
            <a:r>
              <a:t>- YouTube Blog, 1 Dec 2022: https://blog.youtube/culture-and-trends/youtube-podcast-launch-like-and-describe/</a:t>
            </a:r>
          </a:p>
          <a:p xmlns:a="http://schemas.openxmlformats.org/drawingml/2006/main">
            <a:r>
              <a:t>- YouTube Help, current page: https://support.google.com/youtube/answer/10246996?hl=en</a:t>
            </a:r>
          </a:p>
          <a:p xmlns:a="http://schemas.openxmlformats.org/drawingml/2006/main">
            <a:r>
              <a:t>- IAB 2025 Creator Economy Ad Spend &amp; Strategy Report: https://www.iab.com/insights/2025-creator-economy-ad-spend-strategy-report/</a:t>
            </a:r>
          </a:p>
          <a:p xmlns:a="http://schemas.openxmlformats.org/drawingml/2006/main">
            <a:r>
              <a:t>- Goldman Sachs Research, 19 Apr 2023: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 is a growing gaming creator who streams regularly without a full strategy team. Editors and managers need the same evidence and approval state. Creator programs benefit from a repeatable process across several channels.</a:t>
            </a:r>
          </a:p>
          <a:p xmlns:a="http://schemas.openxmlformats.org/drawingml/2006/main">
            <a:r>
              <a:t/>
            </a:r>
          </a:p>
          <a:p xmlns:a="http://schemas.openxmlformats.org/drawingml/2006/main">
            <a:r>
              <a:t>[Sources]</a:t>
            </a:r>
          </a:p>
          <a:p xmlns:a="http://schemas.openxmlformats.org/drawingml/2006/main">
            <a:r>
              <a:t>- Target-user and workspace contract: docs/product/PRODUCT.md on origin/v1 commit 27f5cd1.</a:t>
            </a:r>
          </a:p>
          <a:p xmlns:a="http://schemas.openxmlformats.org/drawingml/2006/main">
            <a:r>
              <a:t>- Reusable multi-account shell: README.md and src/domain/creators.ts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finds a useful signal in the current stream and channel history. It turns that signal into one test for the creator to approve. After the test, it saves the result and recommends the next move.</a:t>
            </a:r>
          </a:p>
          <a:p xmlns:a="http://schemas.openxmlformats.org/drawingml/2006/main">
            <a:r>
              <a:t/>
            </a:r>
          </a:p>
          <a:p xmlns:a="http://schemas.openxmlformats.org/drawingml/2006/main">
            <a:r>
              <a:t>[Sources]</a:t>
            </a:r>
          </a:p>
          <a:p xmlns:a="http://schemas.openxmlformats.org/drawingml/2006/main">
            <a:r>
              <a:t>- Project loop and product behavior: README.md and src/domain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starts a real clipper job from the browser, reports its actual stages, and sends the output to Studio. The creator sees the clips, evidence, and copy before approving the current revision. Nothing is posted at this step.</a:t>
            </a:r>
          </a:p>
          <a:p xmlns:a="http://schemas.openxmlformats.org/drawingml/2006/main">
            <a:r>
              <a:t/>
            </a:r>
          </a:p>
          <a:p xmlns:a="http://schemas.openxmlformats.org/drawingml/2006/main">
            <a:r>
              <a:t>[Sources]</a:t>
            </a:r>
          </a:p>
          <a:p xmlns:a="http://schemas.openxmlformats.org/drawingml/2006/main">
            <a:r>
              <a:t>- Project screenshots: deck/assets/screens/v1-latest/ingest.png and studio.png.</a:t>
            </a:r>
          </a:p>
          <a:p xmlns:a="http://schemas.openxmlformats.org/drawingml/2006/main">
            <a:r>
              <a:t>- V1 commits 21eca20, 5563d23, and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performs the semantic judgment that fixed analytics cannot: it connects meaning across streams, forms a falsifiable hypothesis, prepares creator-specific work, and interprets results in context. Code owns identity, validation, revisions, approval, action dispatch, and receipts.</a:t>
            </a:r>
          </a:p>
          <a:p xmlns:a="http://schemas.openxmlformats.org/drawingml/2006/main">
            <a:r>
              <a:t/>
            </a:r>
          </a:p>
          <a:p xmlns:a="http://schemas.openxmlformats.org/drawingml/2006/main">
            <a:r>
              <a:t>[Sources]</a:t>
            </a:r>
          </a:p>
          <a:p xmlns:a="http://schemas.openxmlformats.org/drawingml/2006/main">
            <a:r>
              <a:t>- AI responsibilities and boundaries: docs/AI.md on origin/v1 commit 27f5cd1.</a:t>
            </a:r>
          </a:p>
          <a:p xmlns:a="http://schemas.openxmlformats.org/drawingml/2006/main">
            <a:r>
              <a:t>- Two-stage director decision: docs/decisions/0003-two-stage-director-not-agent-theatre.md on origin/v1 commit 27f5cd1.</a:t>
            </a:r>
          </a:p>
          <a:p xmlns:a="http://schemas.openxmlformats.org/drawingml/2006/main">
            <a:r>
              <a:t>- Implemented strategy adapter: src/ai/strategy.ts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keeps the specific facts a creator would otherwise have to remember. V1 stores channel threads, exposes the selected creator across the workspace, and can scan adjacent channels without substituting a fake report when live data is unavailable.</a:t>
            </a:r>
          </a:p>
          <a:p xmlns:a="http://schemas.openxmlformats.org/drawingml/2006/main">
            <a:r>
              <a:t/>
            </a:r>
          </a:p>
          <a:p xmlns:a="http://schemas.openxmlformats.org/drawingml/2006/main">
            <a:r>
              <a:t>[Sources]</a:t>
            </a:r>
          </a:p>
          <a:p xmlns:a="http://schemas.openxmlformats.org/drawingml/2006/main">
            <a:r>
              <a:t>- Project screenshot: deck/assets/screens/v1-latest/intel.png, origin/v1 commit 27f5cd1.</a:t>
            </a:r>
          </a:p>
          <a:p xmlns:a="http://schemas.openxmlformats.org/drawingml/2006/main">
            <a:r>
              <a:t>- Competitive-intelligence implementation: src/domain/intel and docs/intel/INTELLIGENCE.md on origin/v1.</a:t>
            </a:r>
          </a:p>
          <a:p xmlns:a="http://schemas.openxmlformats.org/drawingml/2006/main">
            <a:r>
              <a:t>- Creator memory selection: src/domain/creators.ts and src/app/memory/page.tsx on origin/v1.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is one Next.js 16 application with framework-light TypeScript domain modules. Optional live planning uses the OpenAI Responses API with strict Structured Outputs, store false, and Zod validation. The separate Python clipper uses transcripts, creator memory, callback scoring, ffmpeg rendering, and quality checks. Demo state is seeded in process and distribution is simulated for a reliable judge run.</a:t>
            </a:r>
          </a:p>
          <a:p xmlns:a="http://schemas.openxmlformats.org/drawingml/2006/main">
            <a:r>
              <a:t/>
            </a:r>
          </a:p>
          <a:p xmlns:a="http://schemas.openxmlformats.org/drawingml/2006/main">
            <a:r>
              <a:t>[Sources]</a:t>
            </a:r>
          </a:p>
          <a:p xmlns:a="http://schemas.openxmlformats.org/drawingml/2006/main">
            <a:r>
              <a:t>- Runtime dependencies: package.json on origin/v1 commit 27f5cd1.</a:t>
            </a:r>
          </a:p>
          <a:p xmlns:a="http://schemas.openxmlformats.org/drawingml/2006/main">
            <a:r>
              <a:t>- Architecture and trade-offs: docs/architecture/ARCHITECTURE.md on origin/v1 commit 27f5cd1.</a:t>
            </a:r>
          </a:p>
          <a:p xmlns:a="http://schemas.openxmlformats.org/drawingml/2006/main">
            <a:r>
              <a:t>- Model configuration and validation: docs/AI.md on origin/v1 commit 27f5cd1.</a:t>
            </a:r>
          </a:p>
          <a:p xmlns:a="http://schemas.openxmlformats.org/drawingml/2006/main">
            <a:r>
              <a:t>- Media pipeline: services/video-clipper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working live prototype, not a setup mockup. Riff follows the creator, selected gameplay, chat context, creator history, and the accepted experiment. It can speak, challenge the creator, surface a callback, or stay silent. The screenshot visibly labels simulated chat and scripted demo beats.</a:t>
            </a:r>
          </a:p>
          <a:p xmlns:a="http://schemas.openxmlformats.org/drawingml/2006/main">
            <a:r>
              <a:t/>
            </a:r>
          </a:p>
          <a:p xmlns:a="http://schemas.openxmlformats.org/drawingml/2006/main">
            <a:r>
              <a:t>[Sources]</a:t>
            </a:r>
          </a:p>
          <a:p xmlns:a="http://schemas.openxmlformats.org/drawingml/2006/main">
            <a:r>
              <a:t>- User-provided project screenshot: /Users/vihaan/Documents/Screenshot 2026-08-09 at 9.18.42 PM.png.</a:t>
            </a:r>
          </a:p>
          <a:p xmlns:a="http://schemas.openxmlformats.org/drawingml/2006/main">
            <a:r>
              <a:t>- Local implementation: src/app/live, src/app/overlay/riff, src/app/api/live, src/app/api/realtime, src/components/riff-*, src/domain/live-session.ts, and electron.</a:t>
            </a:r>
          </a:p>
          <a:p xmlns:a="http://schemas.openxmlformats.org/drawingml/2006/main">
            <a:r>
              <a:t>- Prototype behavior and truth boundary: README.md, docs/product/PRODUCT.md, docs/AI.md, and docs/architecture/ARCHITECTURE.md in the current working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impact is less planning guesswork, more disciplined experiments, and a clearer path to a returning audience. We will measure time to decision, experiment cadence, returning behavior, and whether recommendations remain traceable to evidence. The prototype does not claim these outcomes have already been achieved.</a:t>
            </a:r>
          </a:p>
          <a:p xmlns:a="http://schemas.openxmlformats.org/drawingml/2006/main">
            <a:r>
              <a:t/>
            </a:r>
          </a:p>
          <a:p xmlns:a="http://schemas.openxmlformats.org/drawingml/2006/main">
            <a:r>
              <a:t>[Sources]</a:t>
            </a:r>
          </a:p>
          <a:p xmlns:a="http://schemas.openxmlformats.org/drawingml/2006/main">
            <a:r>
              <a:t>- Expected outcomes and truth boundary: README.md and docs/product/PRODUCT.md on origin/v1 commit 27f5cd1.</a:t>
            </a:r>
          </a:p>
          <a:p xmlns:a="http://schemas.openxmlformats.org/drawingml/2006/main">
            <a:r>
              <a:t>- YouTube returning-viewer definition and guidance: https://support.google.com/youtube/answer/10246996?hl=en</a:t>
            </a:r>
          </a:p>
          <a:p xmlns:a="http://schemas.openxmlformats.org/drawingml/2006/main">
            <a:r>
              <a:t>- Public measurement seams: docs/testing/TEST-SEAMS.md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stages are implemented in prototype form. Before the stream, Afterplay uses saved creator context, platform data, history, and an approved experiment. During the stream, Riff follows the live context and can speak. After the stream, Afterplay carries the moment into clipping, memory, approval, results, and the next experiment. Production hardening and real platform credentials remain future work; the core workflow is already built.</a:t>
            </a:r>
          </a:p>
          <a:p xmlns:a="http://schemas.openxmlformats.org/drawingml/2006/main">
            <a:r>
              <a:t/>
            </a:r>
          </a:p>
          <a:p xmlns:a="http://schemas.openxmlformats.org/drawingml/2006/main">
            <a:r>
              <a:t>[Sources]</a:t>
            </a:r>
          </a:p>
          <a:p xmlns:a="http://schemas.openxmlformats.org/drawingml/2006/main">
            <a:r>
              <a:t>- Latest v1 base: origin/v1 commit 27f5cd1b422ee63cbb524ac7622d80cc7b1e6e82.</a:t>
            </a:r>
          </a:p>
          <a:p xmlns:a="http://schemas.openxmlformats.org/drawingml/2006/main">
            <a:r>
              <a:t>- Working growth loop: README.md, docs/product/PRODUCT.md, src/domain/experiment.ts, src/domain/workspace.ts, and the existing product routes.</a:t>
            </a:r>
          </a:p>
          <a:p xmlns:a="http://schemas.openxmlformats.org/drawingml/2006/main">
            <a:r>
              <a:t>- Working Riff extension: README.md, docs/decisions/0004-riff-connects-the-live-show-to-afterplay.md, src/domain/live-session.ts, src/app/live, src/app/overlay/riff, and tests/e2e/riff-* in the current working tree.</a:t>
            </a:r>
          </a:p>
          <a:p xmlns:a="http://schemas.openxmlformats.org/drawingml/2006/main">
            <a:r>
              <a:t>- Prototype boundary: platform connections, public posting, performance outcomes, and some demo inputs remain simulated or local; no production-readiness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Afterplay's promise is straightforward: remember the channel, run one approved test, and use the result to choose the next move.</a:t>
            </a:r>
          </a:p>
          <a:p xmlns:a="http://schemas.openxmlformats.org/drawingml/2006/main">
            <a:r>
              <a:t/>
            </a:r>
          </a:p>
          <a:p xmlns:a="http://schemas.openxmlformats.org/drawingml/2006/main">
            <a:r>
              <a:t>[Sources]</a:t>
            </a:r>
          </a:p>
          <a:p xmlns:a="http://schemas.openxmlformats.org/drawingml/2006/main">
            <a:r>
              <a:t>- Project positioning and implementation evidence from origin/v1 commit 27f5cd1 and the local Riff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4f3a3c0beb4c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eb453f62a447c3" /><Relationship Type="http://schemas.openxmlformats.org/officeDocument/2006/relationships/slideLayout" Target="/ppt/slideLayouts/slideLayout1.xml" Id="R63a6b3bd0c7d4f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a6b3bd0c7d4f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868e8ad3d54407" /><Relationship Type="http://schemas.openxmlformats.org/officeDocument/2006/relationships/image" Target="/ppt/media/image.png" Id="R9ad1968254f44f0e" /><Relationship Type="http://schemas.openxmlformats.org/officeDocument/2006/relationships/notesSlide" Target="/ppt/notesSlides/notesSlide1.xml" Id="Rc2da6deb229449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e9b9550933410b" /><Relationship Type="http://schemas.openxmlformats.org/officeDocument/2006/relationships/notesSlide" Target="/ppt/notesSlides/notesSlide2.xml" Id="R53ca45e0ce8b4d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57eb16edf846b5" /><Relationship Type="http://schemas.openxmlformats.org/officeDocument/2006/relationships/notesSlide" Target="/ppt/notesSlides/notesSlide3.xml" Id="R940301482be843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4b90466bd74b0a" /><Relationship Type="http://schemas.openxmlformats.org/officeDocument/2006/relationships/notesSlide" Target="/ppt/notesSlides/notesSlide4.xml" Id="Re78d740d6bc9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7c771943584141" /><Relationship Type="http://schemas.openxmlformats.org/officeDocument/2006/relationships/notesSlide" Target="/ppt/notesSlides/notesSlide5.xml" Id="Rba5ea8f7cea142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ec5c137be04bf7" /><Relationship Type="http://schemas.openxmlformats.org/officeDocument/2006/relationships/image" Target="/ppt/media/image2.png" Id="Rbd4be3de01e44b6f" /><Relationship Type="http://schemas.openxmlformats.org/officeDocument/2006/relationships/image" Target="/ppt/media/image3.png" Id="R71ea721222c94f40" /><Relationship Type="http://schemas.openxmlformats.org/officeDocument/2006/relationships/notesSlide" Target="/ppt/notesSlides/notesSlide6.xml" Id="Rab002ca9214d4f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504f4f97744377" /><Relationship Type="http://schemas.openxmlformats.org/officeDocument/2006/relationships/notesSlide" Target="/ppt/notesSlides/notesSlide7.xml" Id="Ra1c0b181bb8c45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c22ba3dc334584" /><Relationship Type="http://schemas.openxmlformats.org/officeDocument/2006/relationships/image" Target="/ppt/media/image4.png" Id="R8b08b7ec54d84e38" /><Relationship Type="http://schemas.openxmlformats.org/officeDocument/2006/relationships/notesSlide" Target="/ppt/notesSlides/notesSlide8.xml" Id="Re46de481fed74a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8bb64279a14d0d" /><Relationship Type="http://schemas.openxmlformats.org/officeDocument/2006/relationships/notesSlide" Target="/ppt/notesSlides/notesSlide9.xml" Id="R8dd09c28968742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e4e4c551a84fce" /><Relationship Type="http://schemas.openxmlformats.org/officeDocument/2006/relationships/image" Target="/ppt/media/image5.png" Id="R9a6c11c30af2479d" /><Relationship Type="http://schemas.openxmlformats.org/officeDocument/2006/relationships/notesSlide" Target="/ppt/notesSlides/notesSlide10.xml" Id="Rc4bb0bd9165642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126a52e9fc4c7b" /><Relationship Type="http://schemas.openxmlformats.org/officeDocument/2006/relationships/notesSlide" Target="/ppt/notesSlides/notesSlide11.xml" Id="R7ed1533e57694b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1473edfd6b49ba" /><Relationship Type="http://schemas.openxmlformats.org/officeDocument/2006/relationships/notesSlide" Target="/ppt/notesSlides/notesSlide12.xml" Id="Rea090a7540f345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557bd2f9ab4aed" /><Relationship Type="http://schemas.openxmlformats.org/officeDocument/2006/relationships/notesSlide" Target="/ppt/notesSlides/notesSlide13.xml" Id="Rb8d71f1b32a747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F3726127-45F2-4BFF-98E4-A25417BC828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01</a:t>
            </a:r>
          </a:p>
        </p:txBody>
      </p:sp>
      <p:sp>
        <p:nvSpPr>
          <p:cNvPr id="2" name="Google-Shape-533-p58-3">
            <a:extLst xmlns:a="http://schemas.openxmlformats.org/drawingml/2006/main">
              <a:ext uri="{FF2B5EF4-FFF2-40B4-BE49-F238E27FC236}">
                <a16:creationId xmlns:a16="http://schemas.microsoft.com/office/drawing/2014/main" id="{E9C86832-51A6-4618-B46F-DC4507B66D9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1500" b="1">
                <a:solidFill>
                  <a:srgbClr val="B53E31"/>
                </a:solidFill>
                <a:latin typeface="Helvetica Neue"/>
                <a:ea typeface="Helvetica Neue"/>
                <a:cs typeface="Helvetica Neue"/>
              </a:rPr>
              <a:t>GARENA AI BUILD CHALLENGE · 2026</a:t>
            </a:r>
          </a:p>
        </p:txBody>
      </p:sp>
      <p:sp>
        <p:nvSpPr>
          <p:cNvPr id="3" name="Picture-3-4-backing">
            <a:extLst xmlns:a="http://schemas.openxmlformats.org/drawingml/2006/main">
              <a:ext uri="{FF2B5EF4-FFF2-40B4-BE49-F238E27FC236}">
                <a16:creationId xmlns:a16="http://schemas.microsoft.com/office/drawing/2014/main" id="{EB8548ED-7C1C-4F06-B974-C2693D6ECABC}"/>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59118DD6-B88B-4C0D-A7B7-014E7F9CB7B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Bef>
                <a:spcPts val="0"/>
              </a:spcBef>
              <a:spcAft>
                <a:spcPts val="1800"/>
              </a:spcAft>
              <a:buNone/>
              <a:defRPr sz="2400">
                <a:solidFill>
                  <a:srgbClr val="000000"/>
                </a:solidFill>
                <a:latin typeface="Helvetica Neue"/>
                <a:ea typeface="Helvetica Neue"/>
                <a:cs typeface="Helvetica Neue"/>
              </a:defRPr>
            </a:pPr>
            <a:r>
              <a:rPr sz="5700" b="1">
                <a:solidFill>
                  <a:srgbClr val="0B0D0E"/>
                </a:solidFill>
                <a:latin typeface="Helvetica Neue"/>
                <a:ea typeface="Helvetica Neue"/>
                <a:cs typeface="Helvetica Neue"/>
              </a:rPr>
              <a:t>Afterplay</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2100" b="0">
                <a:solidFill>
                  <a:srgbClr val="5C6368"/>
                </a:solidFill>
                <a:latin typeface="Helvetica Neue"/>
                <a:ea typeface="Helvetica Neue"/>
                <a:cs typeface="Helvetica Neue"/>
              </a:rPr>
              <a:t>Afterplay remembers what made viewers come back, then plans one clear test for the next stream.</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ad1968254f44f0e"/>
          <a:srcRect xmlns:a="http://schemas.openxmlformats.org/drawingml/2006/main" l="10548" t="0" r="10548"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7" name="cover-built-label">
            <a:extLst xmlns:a="http://schemas.openxmlformats.org/drawingml/2006/main">
              <a:ext uri="{FF2B5EF4-FFF2-40B4-BE49-F238E27FC236}">
                <a16:creationId xmlns:a16="http://schemas.microsoft.com/office/drawing/2014/main" id="{22EA5084-C7D3-40FD-8C8E-519D48BA6F20}"/>
              </a:ext>
            </a:extLst>
          </p:cNvPr>
          <p:cNvSpPr>
            <a:spLocks xmlns:a="http://schemas.openxmlformats.org/drawingml/2006/main" noGrp="1"/>
          </p:cNvSpPr>
          <p:nvPr/>
        </p:nvSpPr>
        <p:spPr>
          <a:xfrm xmlns:a="http://schemas.openxmlformats.org/drawingml/2006/main">
            <a:off x="393668" y="54292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53E31"/>
                </a:solidFill>
              </a:defRPr>
            </a:pPr>
            <a:r>
              <a:rPr sz="1350" b="1">
                <a:solidFill>
                  <a:srgbClr val="B53E31"/>
                </a:solidFill>
              </a:rPr>
              <a:t>REMEMBER  ·  TEST  ·  LEARN</a:t>
            </a:r>
          </a:p>
        </p:txBody>
      </p:sp>
    </p:spTree>
    <p:extLst>
      <p:ext uri="{BB962C8B-B14F-4D97-AF65-F5344CB8AC3E}">
        <p14:creationId xmlns:p14="http://schemas.microsoft.com/office/powerpoint/2010/main" val="15579112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5CA5E1C6-45C1-4C4F-ACDD-8D33259BD5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02</a:t>
            </a:r>
          </a:p>
        </p:txBody>
      </p:sp>
      <p:sp>
        <p:nvSpPr>
          <p:cNvPr id="2" name="Google-Shape-533-p58-3">
            <a:extLst xmlns:a="http://schemas.openxmlformats.org/drawingml/2006/main">
              <a:ext uri="{FF2B5EF4-FFF2-40B4-BE49-F238E27FC236}">
                <a16:creationId xmlns:a16="http://schemas.microsoft.com/office/drawing/2014/main" id="{ABDB364F-694B-48DD-B88A-431B9AF6F30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Creators can see what happened. They still have to guess what to do next.</a:t>
            </a:r>
          </a:p>
        </p:txBody>
      </p:sp>
      <p:sp>
        <p:nvSpPr>
          <p:cNvPr id="3" name="Google-Shape-534-p58-4">
            <a:extLst xmlns:a="http://schemas.openxmlformats.org/drawingml/2006/main">
              <a:ext uri="{FF2B5EF4-FFF2-40B4-BE49-F238E27FC236}">
                <a16:creationId xmlns:a16="http://schemas.microsoft.com/office/drawing/2014/main" id="{FCC22929-6F3A-4706-A409-A3D570C82AAD}"/>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tools show</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replay, clips, comments, and charts. Each lives in a different place.</a:t>
            </a:r>
          </a:p>
        </p:txBody>
      </p:sp>
      <p:sp>
        <p:nvSpPr>
          <p:cNvPr id="4" name="Content-Placeholder-3-5">
            <a:extLst xmlns:a="http://schemas.openxmlformats.org/drawingml/2006/main">
              <a:ext uri="{FF2B5EF4-FFF2-40B4-BE49-F238E27FC236}">
                <a16:creationId xmlns:a16="http://schemas.microsoft.com/office/drawing/2014/main" id="{3966253E-1328-413F-8DF2-40AADC61AD9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next stream needs</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Why did viewers care? What should carry into the next stream? Which idea is worth testing?</a:t>
            </a:r>
          </a:p>
        </p:txBody>
      </p:sp>
      <p:sp>
        <p:nvSpPr>
          <p:cNvPr id="5" name="afterplay-accent-rule">
            <a:extLst xmlns:a="http://schemas.openxmlformats.org/drawingml/2006/main">
              <a:ext uri="{FF2B5EF4-FFF2-40B4-BE49-F238E27FC236}">
                <a16:creationId xmlns:a16="http://schemas.microsoft.com/office/drawing/2014/main" id="{50637DAD-718E-4CBD-AA1E-AC6E8864DA13}"/>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6" name="afterplay-coral-mark">
            <a:extLst xmlns:a="http://schemas.openxmlformats.org/drawingml/2006/main">
              <a:ext uri="{FF2B5EF4-FFF2-40B4-BE49-F238E27FC236}">
                <a16:creationId xmlns:a16="http://schemas.microsoft.com/office/drawing/2014/main" id="{BB07B68C-3CB7-40C2-8BD9-5F2D0E68447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7" name="afterplay-wordmark">
            <a:extLst xmlns:a="http://schemas.openxmlformats.org/drawingml/2006/main">
              <a:ext uri="{FF2B5EF4-FFF2-40B4-BE49-F238E27FC236}">
                <a16:creationId xmlns:a16="http://schemas.microsoft.com/office/drawing/2014/main" id="{39DB7E0B-704A-4773-9B48-99FF679EB839}"/>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841915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Number-Placeholder-1-2">
            <a:extLst xmlns:a="http://schemas.openxmlformats.org/drawingml/2006/main">
              <a:ext uri="{FF2B5EF4-FFF2-40B4-BE49-F238E27FC236}">
                <a16:creationId xmlns:a16="http://schemas.microsoft.com/office/drawing/2014/main" id="{C9FAFABC-943F-477E-A996-3D3884AF87C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03</a:t>
            </a:r>
          </a:p>
        </p:txBody>
      </p:sp>
      <p:sp>
        <p:nvSpPr>
          <p:cNvPr id="2" name="Title-2-3">
            <a:extLst xmlns:a="http://schemas.openxmlformats.org/drawingml/2006/main">
              <a:ext uri="{FF2B5EF4-FFF2-40B4-BE49-F238E27FC236}">
                <a16:creationId xmlns:a16="http://schemas.microsoft.com/office/drawing/2014/main" id="{05919C4F-A438-420F-BF33-8F76E72348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99437"/>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The creator market is large. Attention and loyalty are scarce.</a:t>
            </a:r>
          </a:p>
        </p:txBody>
      </p:sp>
      <p:sp>
        <p:nvSpPr>
          <p:cNvPr id="3" name="Content-Placeholder-9-4">
            <a:extLst xmlns:a="http://schemas.openxmlformats.org/drawingml/2006/main">
              <a:ext uri="{FF2B5EF4-FFF2-40B4-BE49-F238E27FC236}">
                <a16:creationId xmlns:a16="http://schemas.microsoft.com/office/drawing/2014/main" id="{901617FF-52A9-452F-9AD2-067D3DC92279}"/>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500 hrs/min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new video is uploaded to YouTube.</a:t>
            </a:r>
          </a:p>
        </p:txBody>
      </p:sp>
      <p:sp>
        <p:nvSpPr>
          <p:cNvPr id="4" name="Content-Placeholder-10-5">
            <a:extLst xmlns:a="http://schemas.openxmlformats.org/drawingml/2006/main">
              <a:ext uri="{FF2B5EF4-FFF2-40B4-BE49-F238E27FC236}">
                <a16:creationId xmlns:a16="http://schemas.microsoft.com/office/drawing/2014/main" id="{F8330DD6-4095-43BD-B226-BA142E323CF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&lt;1%</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regular viewers can make up less than 1% of viewers on newer or Shorts-heavy channels.</a:t>
            </a:r>
          </a:p>
        </p:txBody>
      </p:sp>
      <p:sp>
        <p:nvSpPr>
          <p:cNvPr id="5" name="Content-Placeholder-9-6">
            <a:extLst xmlns:a="http://schemas.openxmlformats.org/drawingml/2006/main">
              <a:ext uri="{FF2B5EF4-FFF2-40B4-BE49-F238E27FC236}">
                <a16:creationId xmlns:a16="http://schemas.microsoft.com/office/drawing/2014/main" id="{C07AC2BC-FFBD-47D7-9832-35CC252450D1}"/>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$44B</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projected U.S. creator ad spend in 2026.</a:t>
            </a:r>
          </a:p>
        </p:txBody>
      </p:sp>
      <p:sp>
        <p:nvSpPr>
          <p:cNvPr id="6" name="Content-Placeholder-10-7">
            <a:extLst xmlns:a="http://schemas.openxmlformats.org/drawingml/2006/main">
              <a:ext uri="{FF2B5EF4-FFF2-40B4-BE49-F238E27FC236}">
                <a16:creationId xmlns:a16="http://schemas.microsoft.com/office/drawing/2014/main" id="{1DD80551-BCA1-45EA-8BB5-1AA1E7704E9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global creators earn more than $100,000 a year.</a:t>
            </a:r>
          </a:p>
        </p:txBody>
      </p:sp>
      <p:sp>
        <p:nvSpPr>
          <p:cNvPr id="7" name="afterplay-accent-rule">
            <a:extLst xmlns:a="http://schemas.openxmlformats.org/drawingml/2006/main">
              <a:ext uri="{FF2B5EF4-FFF2-40B4-BE49-F238E27FC236}">
                <a16:creationId xmlns:a16="http://schemas.microsoft.com/office/drawing/2014/main" id="{7F54DEF8-5AB4-49AB-A22C-23A7EFD45B3D}"/>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8" name="evidence-source-footer">
            <a:extLst xmlns:a="http://schemas.openxmlformats.org/drawingml/2006/main">
              <a:ext uri="{FF2B5EF4-FFF2-40B4-BE49-F238E27FC236}">
                <a16:creationId xmlns:a16="http://schemas.microsoft.com/office/drawing/2014/main" id="{D4349321-A81B-46BD-98A0-BD863A2E060D}"/>
              </a:ext>
            </a:extLst>
          </p:cNvPr>
          <p:cNvSpPr>
            <a:spLocks xmlns:a="http://schemas.openxmlformats.org/drawingml/2006/main" noGrp="1"/>
          </p:cNvSpPr>
          <p:nvPr/>
        </p:nvSpPr>
        <p:spPr>
          <a:xfrm xmlns:a="http://schemas.openxmlformats.org/drawingml/2006/main">
            <a:off x="393668" y="58674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5C6368"/>
                </a:solidFill>
              </a:defRPr>
            </a:pPr>
            <a:r>
              <a:rPr sz="975" b="0">
                <a:solidFill>
                  <a:srgbClr val="5C6368"/>
                </a:solidFill>
              </a:rPr>
              <a:t>Sources: YouTube Blog and Help · IAB 2025 Creator Economy Report · Goldman Sachs Research</a:t>
            </a:r>
          </a:p>
        </p:txBody>
      </p:sp>
      <p:sp>
        <p:nvSpPr>
          <p:cNvPr id="9" name="afterplay-coral-mark">
            <a:extLst xmlns:a="http://schemas.openxmlformats.org/drawingml/2006/main">
              <a:ext uri="{FF2B5EF4-FFF2-40B4-BE49-F238E27FC236}">
                <a16:creationId xmlns:a16="http://schemas.microsoft.com/office/drawing/2014/main" id="{3CA96C7C-586F-41F8-994C-E50FC6E00FC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444F8E6D-195D-4AAB-BCBC-24E36E038D54}"/>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027383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04</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Afterplay is built for growing gaming creators.</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needs a clear next move after each stream</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supports many creators with one repeatable process</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reviews evidence, clips, copy, and approvals</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CREATOR</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TEAM</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PROGRAM</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WHO USES AFTERPLAY</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The primary user streams often but lacks a strategy team. Editors, managers, and creator programs share the same evidence and approval record.</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05</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Find a signal. Try one change. Learn.</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callback viewers repeated in chat</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did more viewers come back or stay longer?</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open the next stream with that callback</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FIND</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TRY</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LEARN</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A CONCRETE EXAMPLE</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Viewers repeat an inside joke in chat. Afterplay suggests opening the next stream with that callback, then checks whether more viewers return.</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DE11CE9C-2DD8-4521-8AB6-D70B4867F6B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06</a:t>
            </a:r>
          </a:p>
        </p:txBody>
      </p:sp>
      <p:sp>
        <p:nvSpPr>
          <p:cNvPr id="2" name="Google-Shape-533-p58-3">
            <a:extLst xmlns:a="http://schemas.openxmlformats.org/drawingml/2006/main">
              <a:ext uri="{FF2B5EF4-FFF2-40B4-BE49-F238E27FC236}">
                <a16:creationId xmlns:a16="http://schemas.microsoft.com/office/drawing/2014/main" id="{90F89E72-21C5-4E13-B65C-C2822D1F48F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 creator can go from stream URL to approved test in one workspace.</a:t>
            </a:r>
          </a:p>
        </p:txBody>
      </p:sp>
      <p:sp>
        <p:nvSpPr>
          <p:cNvPr id="3" name="Google-Shape-534-p58-4">
            <a:extLst xmlns:a="http://schemas.openxmlformats.org/drawingml/2006/main">
              <a:ext uri="{FF2B5EF4-FFF2-40B4-BE49-F238E27FC236}">
                <a16:creationId xmlns:a16="http://schemas.microsoft.com/office/drawing/2014/main" id="{6148BE4C-B737-4A49-AA5D-C378AABB277C}"/>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5" name="afterplay-accent-rule">
            <a:extLst xmlns:a="http://schemas.openxmlformats.org/drawingml/2006/main">
              <a:ext uri="{FF2B5EF4-FFF2-40B4-BE49-F238E27FC236}">
                <a16:creationId xmlns:a16="http://schemas.microsoft.com/office/drawing/2014/main" id="{C242A233-918E-4AED-83C9-391003DFD79F}"/>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d4be3de01e44b6f"/>
          <a:srcRect xmlns:a="http://schemas.openxmlformats.org/drawingml/2006/main" l="1048" t="0" r="1048" b="0"/>
          <a:stretch xmlns:a="http://schemas.openxmlformats.org/drawingml/2006/main">
            <a:fillRect l="0" t="0" r="0" b="0"/>
          </a:stretch>
        </p:blipFill>
        <p:spPr>
          <a:xfrm xmlns:a="http://schemas.openxmlformats.org/drawingml/2006/main">
            <a:off x="393668" y="2031968"/>
            <a:ext cx="5537168" cy="3534823"/>
          </a:xfrm>
          <a:prstGeom xmlns:a="http://schemas.openxmlformats.org/drawingml/2006/main" prst="roundRect">
            <a:avLst>
              <a:gd name="adj" fmla="val 3234"/>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1ea721222c94f40"/>
          <a:srcRect xmlns:a="http://schemas.openxmlformats.org/drawingml/2006/main" l="0" t="10101" r="0" b="10101"/>
          <a:stretch xmlns:a="http://schemas.openxmlformats.org/drawingml/2006/main">
            <a:fillRect l="0" t="0" r="0" b="0"/>
          </a:stretch>
        </p:blipFill>
        <p:spPr>
          <a:xfrm xmlns:a="http://schemas.openxmlformats.org/drawingml/2006/main">
            <a:off x="6256592" y="2031968"/>
            <a:ext cx="5537168" cy="3534823"/>
          </a:xfrm>
          <a:prstGeom xmlns:a="http://schemas.openxmlformats.org/drawingml/2006/main" prst="roundRect">
            <a:avLst>
              <a:gd name="adj" fmla="val 3234"/>
            </a:avLst>
          </a:prstGeom>
        </p:spPr>
      </p:pic>
      <p:sp>
        <p:nvSpPr>
          <p:cNvPr id="8" name="ingest-caption">
            <a:extLst xmlns:a="http://schemas.openxmlformats.org/drawingml/2006/main">
              <a:ext uri="{FF2B5EF4-FFF2-40B4-BE49-F238E27FC236}">
                <a16:creationId xmlns:a16="http://schemas.microsoft.com/office/drawing/2014/main" id="{858AA5EF-7452-47E8-B2FF-ADA79A0D2AB3}"/>
              </a:ext>
            </a:extLst>
          </p:cNvPr>
          <p:cNvSpPr>
            <a:spLocks xmlns:a="http://schemas.openxmlformats.org/drawingml/2006/main" noGrp="1"/>
          </p:cNvSpPr>
          <p:nvPr/>
        </p:nvSpPr>
        <p:spPr>
          <a:xfrm xmlns:a="http://schemas.openxmlformats.org/drawingml/2006/main">
            <a:off x="581025" y="5219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1  INGEST THE STREAM AND REPORT REAL STAGES</a:t>
            </a:r>
          </a:p>
        </p:txBody>
      </p:sp>
      <p:sp>
        <p:nvSpPr>
          <p:cNvPr id="9" name="studio-caption">
            <a:extLst xmlns:a="http://schemas.openxmlformats.org/drawingml/2006/main">
              <a:ext uri="{FF2B5EF4-FFF2-40B4-BE49-F238E27FC236}">
                <a16:creationId xmlns:a16="http://schemas.microsoft.com/office/drawing/2014/main" id="{9C8B81E2-76C0-4376-B240-174B97F0A520}"/>
              </a:ext>
            </a:extLst>
          </p:cNvPr>
          <p:cNvSpPr>
            <a:spLocks xmlns:a="http://schemas.openxmlformats.org/drawingml/2006/main" noGrp="1"/>
          </p:cNvSpPr>
          <p:nvPr/>
        </p:nvSpPr>
        <p:spPr>
          <a:xfrm xmlns:a="http://schemas.openxmlformats.org/drawingml/2006/main">
            <a:off x="6448425" y="52197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2  REVIEW CLIPS, EVIDENCE, AND COPY BEFORE ACTION</a:t>
            </a:r>
          </a:p>
        </p:txBody>
      </p:sp>
      <p:sp>
        <p:nvSpPr>
          <p:cNvPr id="10" name="afterplay-coral-mark">
            <a:extLst xmlns:a="http://schemas.openxmlformats.org/drawingml/2006/main">
              <a:ext uri="{FF2B5EF4-FFF2-40B4-BE49-F238E27FC236}">
                <a16:creationId xmlns:a16="http://schemas.microsoft.com/office/drawing/2014/main" id="{38DFE6D1-DAA3-497B-ACC5-1E72956F238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1" name="afterplay-wordmark">
            <a:extLst xmlns:a="http://schemas.openxmlformats.org/drawingml/2006/main">
              <a:ext uri="{FF2B5EF4-FFF2-40B4-BE49-F238E27FC236}">
                <a16:creationId xmlns:a16="http://schemas.microsoft.com/office/drawing/2014/main" id="{74B251F2-50DA-4920-801A-274DAEBBDA0C}"/>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980863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07</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AI turns channel history into one test.</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history + current stream → diagnosis</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results → memory update and next test</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diagnosis → hypothesis, clips, and copy</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CONNECT</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PLAN</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LEARN</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WHERE AI CONTRIBUTES</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The model reads evidence across streams, writes a testable plan, and later explains what the result should change. Code enforces approval and action rules.</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oogle-Shape-532-p58-2">
            <a:extLst xmlns:a="http://schemas.openxmlformats.org/drawingml/2006/main">
              <a:ext uri="{FF2B5EF4-FFF2-40B4-BE49-F238E27FC236}">
                <a16:creationId xmlns:a16="http://schemas.microsoft.com/office/drawing/2014/main" id="{9AF40C74-031E-41FC-B950-EAA2D427FD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08</a:t>
            </a:r>
          </a:p>
        </p:txBody>
      </p:sp>
      <p:sp>
        <p:nvSpPr>
          <p:cNvPr id="2" name="Google-Shape-533-p58-3">
            <a:extLst xmlns:a="http://schemas.openxmlformats.org/drawingml/2006/main">
              <a:ext uri="{FF2B5EF4-FFF2-40B4-BE49-F238E27FC236}">
                <a16:creationId xmlns:a16="http://schemas.microsoft.com/office/drawing/2014/main" id="{EAAA5CDF-CED8-4571-B880-E2670EF0B08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Three records guide each test.</a:t>
            </a:r>
          </a:p>
        </p:txBody>
      </p:sp>
      <p:sp>
        <p:nvSpPr>
          <p:cNvPr id="3" name="Picture-3-4-backing">
            <a:extLst xmlns:a="http://schemas.openxmlformats.org/drawingml/2006/main">
              <a:ext uri="{FF2B5EF4-FFF2-40B4-BE49-F238E27FC236}">
                <a16:creationId xmlns:a16="http://schemas.microsoft.com/office/drawing/2014/main" id="{2FCD313A-B97B-421B-8A49-EF0D4B9BB25D}"/>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27ECE8F8-791A-473C-8923-F64C7227101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400"/>
              </a:spcAft>
              <a:buNone/>
              <a:defRPr sz="24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The next test starts with evidence</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1725" b="0">
                <a:solidFill>
                  <a:srgbClr val="5C6368"/>
                </a:solidFill>
                <a:latin typeface="Helvetica Neue"/>
                <a:ea typeface="Helvetica Neue"/>
                <a:cs typeface="Helvetica Neue"/>
              </a:rPr>
              <a:t>Channel: recurring jokes, storylines, viewer quotes, and moments.
Audience: who returned, what they repeated, and when they left.
Market: what similar channels tried, which formats are growing, and where gaps remain.</a:t>
            </a:r>
          </a:p>
        </p:txBody>
      </p:sp>
      <p:sp>
        <p:nvSpPr>
          <p:cNvPr id="6" name="afterplay-accent-rule">
            <a:extLst xmlns:a="http://schemas.openxmlformats.org/drawingml/2006/main">
              <a:ext uri="{FF2B5EF4-FFF2-40B4-BE49-F238E27FC236}">
                <a16:creationId xmlns:a16="http://schemas.microsoft.com/office/drawing/2014/main" id="{B0C87901-8CB6-4C9B-A401-63E1667E07D9}"/>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08b7ec54d84e38"/>
          <a:srcRect xmlns:a="http://schemas.openxmlformats.org/drawingml/2006/main" l="10101" t="0" r="10101"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8" name="moat-label">
            <a:extLst xmlns:a="http://schemas.openxmlformats.org/drawingml/2006/main">
              <a:ext uri="{FF2B5EF4-FFF2-40B4-BE49-F238E27FC236}">
                <a16:creationId xmlns:a16="http://schemas.microsoft.com/office/drawing/2014/main" id="{3E706104-9389-4372-A9D5-0430B49A6D18}"/>
              </a:ext>
            </a:extLst>
          </p:cNvPr>
          <p:cNvSpPr>
            <a:spLocks xmlns:a="http://schemas.openxmlformats.org/drawingml/2006/main" noGrp="1"/>
          </p:cNvSpPr>
          <p:nvPr/>
        </p:nvSpPr>
        <p:spPr>
          <a:xfrm xmlns:a="http://schemas.openxmlformats.org/drawingml/2006/main">
            <a:off x="393668" y="58102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53E31"/>
                </a:solidFill>
              </a:defRPr>
            </a:pPr>
            <a:r>
              <a:rPr sz="1350" b="1">
                <a:solidFill>
                  <a:srgbClr val="B53E31"/>
                </a:solidFill>
              </a:rPr>
              <a:t>CHANNEL  ·  AUDIENCE  ·  MARKET</a:t>
            </a:r>
          </a:p>
        </p:txBody>
      </p:sp>
      <p:sp>
        <p:nvSpPr>
          <p:cNvPr id="9" name="afterplay-coral-mark">
            <a:extLst xmlns:a="http://schemas.openxmlformats.org/drawingml/2006/main">
              <a:ext uri="{FF2B5EF4-FFF2-40B4-BE49-F238E27FC236}">
                <a16:creationId xmlns:a16="http://schemas.microsoft.com/office/drawing/2014/main" id="{8F04AFFF-B637-422A-BDA0-3C2D8674B6BD}"/>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1B4C351B-D0CD-402B-93D8-7B925DA886F2}"/>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4830626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09</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Each technical layer has one clear job.</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Responses API + strict output + Zod</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Python + ffmpeg + transcript and callback scoring</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Next.js 16 + TypeScript + approval gates</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MODEL</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APP</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CLIPPER</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IMPLEMENTED V1 ARCHITECTURE</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Next.js app owns the experiment lifecycle. A Python service handles media. Both return validated records that the creator can inspect.</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FEF74B8-F5C6-41CF-9480-DCED472E462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10</a:t>
            </a:r>
          </a:p>
        </p:txBody>
      </p:sp>
      <p:sp>
        <p:nvSpPr>
          <p:cNvPr id="2" name="Google-Shape-533-p58-3">
            <a:extLst xmlns:a="http://schemas.openxmlformats.org/drawingml/2006/main">
              <a:ext uri="{FF2B5EF4-FFF2-40B4-BE49-F238E27FC236}">
                <a16:creationId xmlns:a16="http://schemas.microsoft.com/office/drawing/2014/main" id="{789360C7-23C8-4BB5-8701-741E9720AA7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Riff brings that history into the next live stream.</a:t>
            </a:r>
          </a:p>
        </p:txBody>
      </p:sp>
      <p:sp>
        <p:nvSpPr>
          <p:cNvPr id="3" name="Google-Shape-534-p58-4">
            <a:extLst xmlns:a="http://schemas.openxmlformats.org/drawingml/2006/main">
              <a:ext uri="{FF2B5EF4-FFF2-40B4-BE49-F238E27FC236}">
                <a16:creationId xmlns:a16="http://schemas.microsoft.com/office/drawing/2014/main" id="{289AE842-BC6F-4807-87F3-C87D09F668C2}"/>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4" name="Content-Placeholder-3-5">
            <a:extLst xmlns:a="http://schemas.openxmlformats.org/drawingml/2006/main">
              <a:ext uri="{FF2B5EF4-FFF2-40B4-BE49-F238E27FC236}">
                <a16:creationId xmlns:a16="http://schemas.microsoft.com/office/drawing/2014/main" id="{C55707DD-9F56-4C53-9EA9-9EA3BA6A065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550" b="1">
                <a:solidFill>
                  <a:srgbClr val="0B0D0E"/>
                </a:solidFill>
                <a:latin typeface="Helvetica Neue"/>
                <a:ea typeface="Helvetica Neue"/>
                <a:cs typeface="Helvetica Neue"/>
              </a:rPr>
              <a:t>The prototype is already live</a:t>
            </a:r>
          </a:p>
          <a:p xmlns:a="http://schemas.openxmlformats.org/drawingml/2006/main">
            <a:pPr algn="l">
              <a:lnSpc>
                <a:spcPct val="114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follows gameplay, the creator, chat, and the approved experiment. When a useful moment arrives, it speaks, challenges the creator, or recalls a callback.</a:t>
            </a:r>
            <a:r>
              <a:rPr sz="1650" b="0">
                <a:solidFill>
                  <a:srgbClr val="5C6368"/>
                </a:solidFill>
                <a:latin typeface="Helvetica Neue"/>
                <a:ea typeface="Helvetica Neue"/>
                <a:cs typeface="Helvetica Neue"/>
              </a:rPr>
              <a:t>
</a:t>
            </a:r>
            <a:r>
              <a:rPr sz="1650" b="0">
                <a:solidFill>
                  <a:srgbClr val="5C6368"/>
                </a:solidFill>
                <a:latin typeface="Helvetica Neue"/>
                <a:ea typeface="Helvetica Neue"/>
                <a:cs typeface="Helvetica Neue"/>
              </a:rPr>
              <a:t>The working demo keeps simulated chat and scripted beats clearly labelled.</a:t>
            </a:r>
          </a:p>
        </p:txBody>
      </p:sp>
      <p:sp>
        <p:nvSpPr>
          <p:cNvPr id="5" name="afterplay-accent-rule">
            <a:extLst xmlns:a="http://schemas.openxmlformats.org/drawingml/2006/main">
              <a:ext uri="{FF2B5EF4-FFF2-40B4-BE49-F238E27FC236}">
                <a16:creationId xmlns:a16="http://schemas.microsoft.com/office/drawing/2014/main" id="{FF2464FE-53FA-432D-829E-DFA34E297565}"/>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a6c11c30af2479d"/>
          <a:srcRect xmlns:a="http://schemas.openxmlformats.org/drawingml/2006/main" l="0" t="0" r="0" b="0"/>
          <a:stretch xmlns:a="http://schemas.openxmlformats.org/drawingml/2006/main">
            <a:fillRect l="0" t="0" r="0" b="0"/>
          </a:stretch>
        </p:blipFill>
        <p:spPr>
          <a:xfrm xmlns:a="http://schemas.openxmlformats.org/drawingml/2006/main" flipH="0" flipV="0">
            <a:off x="393668" y="2031968"/>
            <a:ext cx="5537168" cy="3534823"/>
          </a:xfrm>
          <a:prstGeom xmlns:a="http://schemas.openxmlformats.org/drawingml/2006/main" prst="roundRect">
            <a:avLst/>
          </a:prstGeom>
        </p:spPr>
      </p:pic>
      <p:sp>
        <p:nvSpPr>
          <p:cNvPr id="7" name="riff-caption">
            <a:extLst xmlns:a="http://schemas.openxmlformats.org/drawingml/2006/main">
              <a:ext uri="{FF2B5EF4-FFF2-40B4-BE49-F238E27FC236}">
                <a16:creationId xmlns:a16="http://schemas.microsoft.com/office/drawing/2014/main" id="{E8E12383-02DE-4738-99BD-03A069FDA83A}"/>
              </a:ext>
            </a:extLst>
          </p:cNvPr>
          <p:cNvSpPr>
            <a:spLocks xmlns:a="http://schemas.openxmlformats.org/drawingml/2006/main" noGrp="1"/>
          </p:cNvSpPr>
          <p:nvPr/>
        </p:nvSpPr>
        <p:spPr>
          <a:xfrm xmlns:a="http://schemas.openxmlformats.org/drawingml/2006/main">
            <a:off x="581025" y="52197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FFFFF"/>
                </a:solidFill>
              </a:defRPr>
            </a:pPr>
            <a:r>
              <a:rPr sz="1200" b="1">
                <a:solidFill>
                  <a:srgbClr val="FFFFFF"/>
                </a:solidFill>
              </a:rPr>
              <a:t>WORKING PROTOTYPE  ·  GAMEPLAY  ·  AI COHOST</a:t>
            </a:r>
          </a:p>
        </p:txBody>
      </p:sp>
      <p:sp>
        <p:nvSpPr>
          <p:cNvPr id="8" name="afterplay-coral-mark">
            <a:extLst xmlns:a="http://schemas.openxmlformats.org/drawingml/2006/main">
              <a:ext uri="{FF2B5EF4-FFF2-40B4-BE49-F238E27FC236}">
                <a16:creationId xmlns:a16="http://schemas.microsoft.com/office/drawing/2014/main" id="{7738D733-B861-4D41-993D-24568B7D2051}"/>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9" name="afterplay-wordmark">
            <a:extLst xmlns:a="http://schemas.openxmlformats.org/drawingml/2006/main">
              <a:ext uri="{FF2B5EF4-FFF2-40B4-BE49-F238E27FC236}">
                <a16:creationId xmlns:a16="http://schemas.microsoft.com/office/drawing/2014/main" id="{59DF049C-E855-4821-A69B-C33948A2A19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856597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Number-Placeholder-1-2">
            <a:extLst xmlns:a="http://schemas.openxmlformats.org/drawingml/2006/main">
              <a:ext uri="{FF2B5EF4-FFF2-40B4-BE49-F238E27FC236}">
                <a16:creationId xmlns:a16="http://schemas.microsoft.com/office/drawing/2014/main" id="{C9FAFABC-943F-477E-A996-3D3884AF87C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11</a:t>
            </a:r>
          </a:p>
        </p:txBody>
      </p:sp>
      <p:sp>
        <p:nvSpPr>
          <p:cNvPr id="2" name="Title-2-3">
            <a:extLst xmlns:a="http://schemas.openxmlformats.org/drawingml/2006/main">
              <a:ext uri="{FF2B5EF4-FFF2-40B4-BE49-F238E27FC236}">
                <a16:creationId xmlns:a16="http://schemas.microsoft.com/office/drawing/2014/main" id="{05919C4F-A438-420F-BF33-8F76E72348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Expected impact: faster decisions, clearer learning.</a:t>
            </a:r>
          </a:p>
        </p:txBody>
      </p:sp>
      <p:sp>
        <p:nvSpPr>
          <p:cNvPr id="3" name="Content-Placeholder-9-4">
            <a:extLst xmlns:a="http://schemas.openxmlformats.org/drawingml/2006/main">
              <a:ext uri="{FF2B5EF4-FFF2-40B4-BE49-F238E27FC236}">
                <a16:creationId xmlns:a16="http://schemas.microsoft.com/office/drawing/2014/main" id="{901617FF-52A9-452F-9AD2-067D3DC92279}"/>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TIME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hours from stream ingest to an approved test</a:t>
            </a:r>
          </a:p>
        </p:txBody>
      </p:sp>
      <p:sp>
        <p:nvSpPr>
          <p:cNvPr id="4" name="Content-Placeholder-10-5">
            <a:extLst xmlns:a="http://schemas.openxmlformats.org/drawingml/2006/main">
              <a:ext uri="{FF2B5EF4-FFF2-40B4-BE49-F238E27FC236}">
                <a16:creationId xmlns:a16="http://schemas.microsoft.com/office/drawing/2014/main" id="{F8330DD6-4095-43BD-B226-BA142E323CF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CADENCE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approved experiments completed per month</a:t>
            </a:r>
          </a:p>
        </p:txBody>
      </p:sp>
      <p:sp>
        <p:nvSpPr>
          <p:cNvPr id="5" name="Content-Placeholder-9-6">
            <a:extLst xmlns:a="http://schemas.openxmlformats.org/drawingml/2006/main">
              <a:ext uri="{FF2B5EF4-FFF2-40B4-BE49-F238E27FC236}">
                <a16:creationId xmlns:a16="http://schemas.microsoft.com/office/drawing/2014/main" id="{C07AC2BC-FFBD-47D7-9832-35CC252450D1}"/>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RETURN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regular-viewer rate and repeat live visits</a:t>
            </a:r>
          </a:p>
        </p:txBody>
      </p:sp>
      <p:sp>
        <p:nvSpPr>
          <p:cNvPr id="6" name="Content-Placeholder-10-7">
            <a:extLst xmlns:a="http://schemas.openxmlformats.org/drawingml/2006/main">
              <a:ext uri="{FF2B5EF4-FFF2-40B4-BE49-F238E27FC236}">
                <a16:creationId xmlns:a16="http://schemas.microsoft.com/office/drawing/2014/main" id="{1DD80551-BCA1-45EA-8BB5-1AA1E7704E9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TRACE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recommendations linked to evidence and prior results</a:t>
            </a:r>
          </a:p>
        </p:txBody>
      </p:sp>
      <p:sp>
        <p:nvSpPr>
          <p:cNvPr id="7" name="afterplay-accent-rule">
            <a:extLst xmlns:a="http://schemas.openxmlformats.org/drawingml/2006/main">
              <a:ext uri="{FF2B5EF4-FFF2-40B4-BE49-F238E27FC236}">
                <a16:creationId xmlns:a16="http://schemas.microsoft.com/office/drawing/2014/main" id="{7F54DEF8-5AB4-49AB-A22C-23A7EFD45B3D}"/>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8" name="evidence-source-footer">
            <a:extLst xmlns:a="http://schemas.openxmlformats.org/drawingml/2006/main">
              <a:ext uri="{FF2B5EF4-FFF2-40B4-BE49-F238E27FC236}">
                <a16:creationId xmlns:a16="http://schemas.microsoft.com/office/drawing/2014/main" id="{D4349321-A81B-46BD-98A0-BD863A2E060D}"/>
              </a:ext>
            </a:extLst>
          </p:cNvPr>
          <p:cNvSpPr>
            <a:spLocks xmlns:a="http://schemas.openxmlformats.org/drawingml/2006/main" noGrp="1"/>
          </p:cNvSpPr>
          <p:nvPr/>
        </p:nvSpPr>
        <p:spPr>
          <a:xfrm xmlns:a="http://schemas.openxmlformats.org/drawingml/2006/main">
            <a:off x="393668" y="58674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5C6368"/>
                </a:solidFill>
              </a:defRPr>
            </a:pPr>
            <a:r>
              <a:rPr sz="975" b="0">
                <a:solidFill>
                  <a:srgbClr val="5C6368"/>
                </a:solidFill>
              </a:rPr>
              <a:t>Future success measures. Baselines and targets come from creator data.</a:t>
            </a:r>
          </a:p>
        </p:txBody>
      </p:sp>
      <p:sp>
        <p:nvSpPr>
          <p:cNvPr id="9" name="afterplay-coral-mark">
            <a:extLst xmlns:a="http://schemas.openxmlformats.org/drawingml/2006/main">
              <a:ext uri="{FF2B5EF4-FFF2-40B4-BE49-F238E27FC236}">
                <a16:creationId xmlns:a16="http://schemas.microsoft.com/office/drawing/2014/main" id="{3CA96C7C-586F-41F8-994C-E50FC6E00FC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444F8E6D-195D-4AAB-BCBC-24E36E038D54}"/>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0273834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D31929E9-57ED-4464-83EC-4C1343E8B65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12</a:t>
            </a:r>
          </a:p>
        </p:txBody>
      </p:sp>
      <p:sp>
        <p:nvSpPr>
          <p:cNvPr id="2" name="Title-10-3">
            <a:extLst xmlns:a="http://schemas.openxmlformats.org/drawingml/2006/main">
              <a:ext uri="{FF2B5EF4-FFF2-40B4-BE49-F238E27FC236}">
                <a16:creationId xmlns:a16="http://schemas.microsoft.com/office/drawing/2014/main" id="{C8B5F39B-5930-4097-B95A-B8907D1F6CE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The working prototype already covers the full loop.</a:t>
            </a:r>
          </a:p>
        </p:txBody>
      </p:sp>
      <p:cxnSp>
        <p:nvCxnSpPr>
          <p:cNvPr id="30"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B88570F-2AD6-41D1-8406-171EC41EB5F0}"/>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BD5556A-F633-493C-BAAD-7108C504B5F3}"/>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DB2CD4E4-5AA2-4CFC-BA40-9EDE03A8D2A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F14BB2A-647F-40A9-A496-F6BC9AC47DB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BEFORE</a:t>
            </a:r>
          </a:p>
        </p:txBody>
      </p:sp>
      <p:sp>
        <p:nvSpPr>
          <p:cNvPr id="8" name="Content-Placeholder-15-9">
            <a:extLst xmlns:a="http://schemas.openxmlformats.org/drawingml/2006/main">
              <a:ext uri="{FF2B5EF4-FFF2-40B4-BE49-F238E27FC236}">
                <a16:creationId xmlns:a16="http://schemas.microsoft.com/office/drawing/2014/main" id="{BB1C28AC-921A-4508-AADD-C6328ED7FFCD}"/>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DURING</a:t>
            </a:r>
          </a:p>
        </p:txBody>
      </p:sp>
      <p:sp>
        <p:nvSpPr>
          <p:cNvPr id="9" name="Content-Placeholder-15-10">
            <a:extLst xmlns:a="http://schemas.openxmlformats.org/drawingml/2006/main">
              <a:ext uri="{FF2B5EF4-FFF2-40B4-BE49-F238E27FC236}">
                <a16:creationId xmlns:a16="http://schemas.microsoft.com/office/drawing/2014/main" id="{8AC5B0F3-0892-4CDC-B9E4-128C2430ABD0}"/>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AFTER</a:t>
            </a:r>
          </a:p>
        </p:txBody>
      </p:sp>
      <p:sp>
        <p:nvSpPr>
          <p:cNvPr id="10" name="Text-Placeholder-16-11">
            <a:extLst xmlns:a="http://schemas.openxmlformats.org/drawingml/2006/main">
              <a:ext uri="{FF2B5EF4-FFF2-40B4-BE49-F238E27FC236}">
                <a16:creationId xmlns:a16="http://schemas.microsoft.com/office/drawing/2014/main" id="{BC115C14-42D6-4A31-A9D7-724F702FF06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Riff joins live</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sees gameplay, hears the creator, reads chat, and speaks when the moment earns it.</a:t>
            </a:r>
          </a:p>
        </p:txBody>
      </p:sp>
      <p:sp>
        <p:nvSpPr>
          <p:cNvPr id="11" name="Text-Placeholder-16-12">
            <a:extLst xmlns:a="http://schemas.openxmlformats.org/drawingml/2006/main">
              <a:ext uri="{FF2B5EF4-FFF2-40B4-BE49-F238E27FC236}">
                <a16:creationId xmlns:a16="http://schemas.microsoft.com/office/drawing/2014/main" id="{E266697C-FDCF-48A3-900B-4136978F9411}"/>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Plan with context</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Saved accounts, live platform data, creator history, and one approved experiment.</a:t>
            </a:r>
          </a:p>
        </p:txBody>
      </p:sp>
      <p:sp>
        <p:nvSpPr>
          <p:cNvPr id="12" name="Text-Placeholder-16-13">
            <a:extLst xmlns:a="http://schemas.openxmlformats.org/drawingml/2006/main">
              <a:ext uri="{FF2B5EF4-FFF2-40B4-BE49-F238E27FC236}">
                <a16:creationId xmlns:a16="http://schemas.microsoft.com/office/drawing/2014/main" id="{541A28F2-872C-4705-BE10-842CD471E94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Close the loop</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Ingest, clipping, memory, approval, results, and the next experiment run end to end.</a:t>
            </a:r>
          </a:p>
        </p:txBody>
      </p:sp>
      <p:sp>
        <p:nvSpPr>
          <p:cNvPr id="13" name="afterplay-accent-rule">
            <a:extLst xmlns:a="http://schemas.openxmlformats.org/drawingml/2006/main">
              <a:ext uri="{FF2B5EF4-FFF2-40B4-BE49-F238E27FC236}">
                <a16:creationId xmlns:a16="http://schemas.microsoft.com/office/drawing/2014/main" id="{9874E3E9-C99C-49CD-A7F2-BF59407EFC46}"/>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7B8199DD-DDF6-40CF-AD1A-DDF71FF14A6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2164A727-8CD8-40D8-8D07-D9902E50CD95}"/>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6490684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0E669386-A750-4C2C-ACD9-A0842B03186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2000"/>
              </a:lnSpc>
              <a:spcBef>
                <a:spcPts val="0"/>
              </a:spcBef>
              <a:spcAft>
                <a:spcPts val="0"/>
              </a:spcAft>
              <a:buNone/>
              <a:defRPr sz="6000">
                <a:solidFill>
                  <a:srgbClr val="000000"/>
                </a:solidFill>
                <a:latin typeface="Helvetica Neue"/>
                <a:ea typeface="Helvetica Neue"/>
                <a:cs typeface="Helvetica Neue"/>
              </a:defRPr>
            </a:pPr>
            <a:r>
              <a:rPr sz="4950" b="1">
                <a:solidFill>
                  <a:srgbClr val="0B0D0E"/>
                </a:solidFill>
                <a:latin typeface="Helvetica Neue"/>
                <a:ea typeface="Helvetica Neue"/>
                <a:cs typeface="Helvetica Neue"/>
              </a:rPr>
              <a:t>Afterplay helps gaming creators learn what makes viewers come back.</a:t>
            </a:r>
          </a:p>
        </p:txBody>
      </p:sp>
      <p:sp>
        <p:nvSpPr>
          <p:cNvPr id="2" name="Subtitle-4-2">
            <a:extLst xmlns:a="http://schemas.openxmlformats.org/drawingml/2006/main">
              <a:ext uri="{FF2B5EF4-FFF2-40B4-BE49-F238E27FC236}">
                <a16:creationId xmlns:a16="http://schemas.microsoft.com/office/drawing/2014/main" id="{67337A5C-322D-4A91-8334-88B51B9B0287}"/>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Remember the channel.</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Run the next test.</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0">
                <a:solidFill>
                  <a:srgbClr val="5C6368"/>
                </a:solidFill>
                <a:latin typeface="Helvetica Neue"/>
                <a:ea typeface="Helvetica Neue"/>
                <a:cs typeface="Helvetica Neue"/>
              </a:rPr>
              <a:t>Learn from the result.</a:t>
            </a:r>
          </a:p>
        </p:txBody>
      </p:sp>
      <p:sp>
        <p:nvSpPr>
          <p:cNvPr id="3" name="Subtitle-4-3">
            <a:extLst xmlns:a="http://schemas.openxmlformats.org/drawingml/2006/main">
              <a:ext uri="{FF2B5EF4-FFF2-40B4-BE49-F238E27FC236}">
                <a16:creationId xmlns:a16="http://schemas.microsoft.com/office/drawing/2014/main" id="{4A6C18FA-9809-4F7E-A6BD-687E52AA8EE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800" b="1">
                <a:solidFill>
                  <a:srgbClr val="B53E31"/>
                </a:solidFill>
                <a:latin typeface="Helvetica Neue"/>
                <a:ea typeface="Helvetica Neue"/>
                <a:cs typeface="Helvetica Neue"/>
              </a:rPr>
              <a:t>AFTERPLAY</a:t>
            </a:r>
          </a:p>
        </p:txBody>
      </p:sp>
      <p:sp>
        <p:nvSpPr>
          <p:cNvPr id="4" name="closing-accent">
            <a:extLst xmlns:a="http://schemas.openxmlformats.org/drawingml/2006/main">
              <a:ext uri="{FF2B5EF4-FFF2-40B4-BE49-F238E27FC236}">
                <a16:creationId xmlns:a16="http://schemas.microsoft.com/office/drawing/2014/main" id="{A23FD773-4381-44A0-9F29-B8F82D081CEC}"/>
              </a:ext>
            </a:extLst>
          </p:cNvPr>
          <p:cNvSpPr>
            <a:spLocks xmlns:a="http://schemas.openxmlformats.org/drawingml/2006/main" noGrp="1"/>
          </p:cNvSpPr>
          <p:nvPr/>
        </p:nvSpPr>
        <p:spPr>
          <a:xfrm xmlns:a="http://schemas.openxmlformats.org/drawingml/2006/main">
            <a:off x="10572750" y="0"/>
            <a:ext cx="1619250" cy="685800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Tree>
    <p:extLst>
      <p:ext uri="{BB962C8B-B14F-4D97-AF65-F5344CB8AC3E}">
        <p14:creationId xmlns:p14="http://schemas.microsoft.com/office/powerpoint/2010/main" val="613066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2026-08-09T16:02:09.4690000Z</dcterms:created>
  <dcterms:modified xsi:type="dcterms:W3CDTF">2026-08-09T16:02:09.4690000Z</dcterms:modified>
</coreProperties>
</file>